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Calibri (MS) Bold" charset="1" panose="020F0702030404030204"/>
      <p:regular r:id="rId20"/>
    </p:embeddedFont>
    <p:embeddedFont>
      <p:font typeface="Cambria Bold" charset="1" panose="02040803050406030204"/>
      <p:regular r:id="rId21"/>
    </p:embeddedFont>
    <p:embeddedFont>
      <p:font typeface="Calibri (MS) Italics" charset="1" panose="020F05020202040A0204"/>
      <p:regular r:id="rId22"/>
    </p:embeddedFont>
    <p:embeddedFont>
      <p:font typeface="Calibri (MS)" charset="1" panose="020F0502020204030204"/>
      <p:regular r:id="rId23"/>
    </p:embeddedFont>
    <p:embeddedFont>
      <p:font typeface="Calibri (MS) Bold Italics" charset="1" panose="020F07020304040A0204"/>
      <p:regular r:id="rId24"/>
    </p:embeddedFont>
    <p:embeddedFont>
      <p:font typeface="Courier New Bold" charset="1" panose="02070609020205020404"/>
      <p:regular r:id="rId25"/>
    </p:embeddedFont>
    <p:embeddedFont>
      <p:font typeface="Courier New" charset="1" panose="02070309020205020404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7.png" Type="http://schemas.openxmlformats.org/officeDocument/2006/relationships/image"/><Relationship Id="rId4" Target="../media/image8.png" Type="http://schemas.openxmlformats.org/officeDocument/2006/relationships/image"/><Relationship Id="rId5" Target="../media/image9.png" Type="http://schemas.openxmlformats.org/officeDocument/2006/relationships/image"/><Relationship Id="rId6" Target="../media/image10.png" Type="http://schemas.openxmlformats.org/officeDocument/2006/relationships/image"/><Relationship Id="rId7" Target="../media/image1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.png" Type="http://schemas.openxmlformats.org/officeDocument/2006/relationships/image"/><Relationship Id="rId11" Target="../media/image15.png" Type="http://schemas.openxmlformats.org/officeDocument/2006/relationships/image"/><Relationship Id="rId12" Target="../media/image16.png" Type="http://schemas.openxmlformats.org/officeDocument/2006/relationships/image"/><Relationship Id="rId13" Target="../media/image17.pn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9.png" Type="http://schemas.openxmlformats.org/officeDocument/2006/relationships/image"/><Relationship Id="rId5" Target="../media/image12.png" Type="http://schemas.openxmlformats.org/officeDocument/2006/relationships/image"/><Relationship Id="rId6" Target="../media/image10.png" Type="http://schemas.openxmlformats.org/officeDocument/2006/relationships/image"/><Relationship Id="rId7" Target="../media/image8.png" Type="http://schemas.openxmlformats.org/officeDocument/2006/relationships/image"/><Relationship Id="rId8" Target="../media/image13.png" Type="http://schemas.openxmlformats.org/officeDocument/2006/relationships/image"/><Relationship Id="rId9" Target="../media/image1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png" Type="http://schemas.openxmlformats.org/officeDocument/2006/relationships/image"/><Relationship Id="rId4" Target="../media/image18.png" Type="http://schemas.openxmlformats.org/officeDocument/2006/relationships/image"/><Relationship Id="rId5" Target="../media/image3.png" Type="http://schemas.openxmlformats.org/officeDocument/2006/relationships/image"/><Relationship Id="rId6" Target="../media/image15.png" Type="http://schemas.openxmlformats.org/officeDocument/2006/relationships/image"/><Relationship Id="rId7" Target="../media/image6.png" Type="http://schemas.openxmlformats.org/officeDocument/2006/relationships/image"/><Relationship Id="rId8" Target="../media/image19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.png" Type="http://schemas.openxmlformats.org/officeDocument/2006/relationships/image"/><Relationship Id="rId11" Target="../media/image15.png" Type="http://schemas.openxmlformats.org/officeDocument/2006/relationships/image"/><Relationship Id="rId12" Target="../media/image16.png" Type="http://schemas.openxmlformats.org/officeDocument/2006/relationships/image"/><Relationship Id="rId13" Target="../media/image17.pn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9.png" Type="http://schemas.openxmlformats.org/officeDocument/2006/relationships/image"/><Relationship Id="rId5" Target="../media/image12.png" Type="http://schemas.openxmlformats.org/officeDocument/2006/relationships/image"/><Relationship Id="rId6" Target="../media/image10.png" Type="http://schemas.openxmlformats.org/officeDocument/2006/relationships/image"/><Relationship Id="rId7" Target="../media/image8.png" Type="http://schemas.openxmlformats.org/officeDocument/2006/relationships/image"/><Relationship Id="rId8" Target="../media/image13.png" Type="http://schemas.openxmlformats.org/officeDocument/2006/relationships/image"/><Relationship Id="rId9" Target="../media/image1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Relationship Id="rId4" Target="../media/image20.png" Type="http://schemas.openxmlformats.org/officeDocument/2006/relationships/image"/><Relationship Id="rId5" Target="../media/image10.png" Type="http://schemas.openxmlformats.org/officeDocument/2006/relationships/image"/><Relationship Id="rId6" Target="../media/image17.png" Type="http://schemas.openxmlformats.org/officeDocument/2006/relationships/image"/><Relationship Id="rId7" Target="../media/image21.png" Type="http://schemas.openxmlformats.org/officeDocument/2006/relationships/image"/><Relationship Id="rId8" Target="../media/image2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6.png" Type="http://schemas.openxmlformats.org/officeDocument/2006/relationships/image"/><Relationship Id="rId4" Target="../media/image23.png" Type="http://schemas.openxmlformats.org/officeDocument/2006/relationships/image"/><Relationship Id="rId5" Target="../media/image24.png" Type="http://schemas.openxmlformats.org/officeDocument/2006/relationships/image"/><Relationship Id="rId6" Target="../media/image25.png" Type="http://schemas.openxmlformats.org/officeDocument/2006/relationships/image"/><Relationship Id="rId7" Target="../media/image26.png" Type="http://schemas.openxmlformats.org/officeDocument/2006/relationships/image"/><Relationship Id="rId8" Target="../media/image4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7.png" Type="http://schemas.openxmlformats.org/officeDocument/2006/relationships/image"/><Relationship Id="rId4" Target="../media/image28.png" Type="http://schemas.openxmlformats.org/officeDocument/2006/relationships/image"/><Relationship Id="rId5" Target="../media/image29.png" Type="http://schemas.openxmlformats.org/officeDocument/2006/relationships/image"/><Relationship Id="rId6" Target="../media/image30.png" Type="http://schemas.openxmlformats.org/officeDocument/2006/relationships/image"/><Relationship Id="rId7" Target="../media/image16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3.png" Type="http://schemas.openxmlformats.org/officeDocument/2006/relationships/image"/><Relationship Id="rId11" Target="../media/image22.png" Type="http://schemas.openxmlformats.org/officeDocument/2006/relationships/image"/><Relationship Id="rId12" Target="../media/image6.png" Type="http://schemas.openxmlformats.org/officeDocument/2006/relationships/image"/><Relationship Id="rId13" Target="../media/image4.png" Type="http://schemas.openxmlformats.org/officeDocument/2006/relationships/image"/><Relationship Id="rId14" Target="../media/image15.png" Type="http://schemas.openxmlformats.org/officeDocument/2006/relationships/image"/><Relationship Id="rId2" Target="../media/image1.jpeg" Type="http://schemas.openxmlformats.org/officeDocument/2006/relationships/image"/><Relationship Id="rId3" Target="../media/image21.png" Type="http://schemas.openxmlformats.org/officeDocument/2006/relationships/image"/><Relationship Id="rId4" Target="../media/image3.png" Type="http://schemas.openxmlformats.org/officeDocument/2006/relationships/image"/><Relationship Id="rId5" Target="../media/image31.png" Type="http://schemas.openxmlformats.org/officeDocument/2006/relationships/image"/><Relationship Id="rId6" Target="../media/image20.png" Type="http://schemas.openxmlformats.org/officeDocument/2006/relationships/image"/><Relationship Id="rId7" Target="../media/image10.png" Type="http://schemas.openxmlformats.org/officeDocument/2006/relationships/image"/><Relationship Id="rId8" Target="../media/image32.png" Type="http://schemas.openxmlformats.org/officeDocument/2006/relationships/image"/><Relationship Id="rId9" Target="../media/image17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7.png" Type="http://schemas.openxmlformats.org/officeDocument/2006/relationships/image"/><Relationship Id="rId4" Target="../media/image22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4.png" Type="http://schemas.openxmlformats.org/officeDocument/2006/relationships/image"/><Relationship Id="rId11" Target="../media/image5.png" Type="http://schemas.openxmlformats.org/officeDocument/2006/relationships/image"/><Relationship Id="rId12" Target="../media/image25.png" Type="http://schemas.openxmlformats.org/officeDocument/2006/relationships/image"/><Relationship Id="rId13" Target="../media/image40.png" Type="http://schemas.openxmlformats.org/officeDocument/2006/relationships/image"/><Relationship Id="rId14" Target="../media/image41.png" Type="http://schemas.openxmlformats.org/officeDocument/2006/relationships/image"/><Relationship Id="rId15" Target="../media/image3.png" Type="http://schemas.openxmlformats.org/officeDocument/2006/relationships/image"/><Relationship Id="rId16" Target="../media/image42.png" Type="http://schemas.openxmlformats.org/officeDocument/2006/relationships/image"/><Relationship Id="rId2" Target="../media/image1.jpeg" Type="http://schemas.openxmlformats.org/officeDocument/2006/relationships/image"/><Relationship Id="rId3" Target="../media/image34.png" Type="http://schemas.openxmlformats.org/officeDocument/2006/relationships/image"/><Relationship Id="rId4" Target="../media/image35.png" Type="http://schemas.openxmlformats.org/officeDocument/2006/relationships/image"/><Relationship Id="rId5" Target="../media/image36.png" Type="http://schemas.openxmlformats.org/officeDocument/2006/relationships/image"/><Relationship Id="rId6" Target="../media/image37.png" Type="http://schemas.openxmlformats.org/officeDocument/2006/relationships/image"/><Relationship Id="rId7" Target="../media/image21.png" Type="http://schemas.openxmlformats.org/officeDocument/2006/relationships/image"/><Relationship Id="rId8" Target="../media/image38.png" Type="http://schemas.openxmlformats.org/officeDocument/2006/relationships/image"/><Relationship Id="rId9" Target="../media/image39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1.png" Type="http://schemas.openxmlformats.org/officeDocument/2006/relationships/image"/><Relationship Id="rId4" Target="../media/image33.png" Type="http://schemas.openxmlformats.org/officeDocument/2006/relationships/image"/><Relationship Id="rId5" Target="../media/image4.png" Type="http://schemas.openxmlformats.org/officeDocument/2006/relationships/image"/><Relationship Id="rId6" Target="../media/image6.png" Type="http://schemas.openxmlformats.org/officeDocument/2006/relationships/image"/><Relationship Id="rId7" Target="../media/image15.png" Type="http://schemas.openxmlformats.org/officeDocument/2006/relationships/image"/><Relationship Id="rId8" Target="../media/image17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167360" y="-3154680"/>
            <a:ext cx="8915400" cy="8915400"/>
            <a:chOff x="0" y="0"/>
            <a:chExt cx="11887200" cy="11887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887200" cy="11887200"/>
            </a:xfrm>
            <a:custGeom>
              <a:avLst/>
              <a:gdLst/>
              <a:ahLst/>
              <a:cxnLst/>
              <a:rect r="r" b="b" t="t" l="l"/>
              <a:pathLst>
                <a:path h="11887200" w="11887200">
                  <a:moveTo>
                    <a:pt x="0" y="5943600"/>
                  </a:moveTo>
                  <a:cubicBezTo>
                    <a:pt x="0" y="2661031"/>
                    <a:pt x="2661031" y="0"/>
                    <a:pt x="5943600" y="0"/>
                  </a:cubicBezTo>
                  <a:cubicBezTo>
                    <a:pt x="9226169" y="0"/>
                    <a:pt x="11887200" y="2661031"/>
                    <a:pt x="11887200" y="5943600"/>
                  </a:cubicBezTo>
                  <a:cubicBezTo>
                    <a:pt x="11887200" y="9226169"/>
                    <a:pt x="9226169" y="11887200"/>
                    <a:pt x="5943600" y="11887200"/>
                  </a:cubicBezTo>
                  <a:cubicBezTo>
                    <a:pt x="2661031" y="11887200"/>
                    <a:pt x="0" y="9226169"/>
                    <a:pt x="0" y="5943600"/>
                  </a:cubicBezTo>
                  <a:close/>
                </a:path>
              </a:pathLst>
            </a:custGeom>
            <a:solidFill>
              <a:srgbClr val="16325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499080" y="-1097280"/>
            <a:ext cx="4937760" cy="4937760"/>
            <a:chOff x="0" y="0"/>
            <a:chExt cx="6583680" cy="65836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583680" cy="6583680"/>
            </a:xfrm>
            <a:custGeom>
              <a:avLst/>
              <a:gdLst/>
              <a:ahLst/>
              <a:cxnLst/>
              <a:rect r="r" b="b" t="t" l="l"/>
              <a:pathLst>
                <a:path h="6583680" w="6583680">
                  <a:moveTo>
                    <a:pt x="0" y="3291840"/>
                  </a:moveTo>
                  <a:cubicBezTo>
                    <a:pt x="0" y="1473835"/>
                    <a:pt x="1473835" y="0"/>
                    <a:pt x="3291840" y="0"/>
                  </a:cubicBezTo>
                  <a:cubicBezTo>
                    <a:pt x="5109845" y="0"/>
                    <a:pt x="6583680" y="1473835"/>
                    <a:pt x="6583680" y="3291840"/>
                  </a:cubicBezTo>
                  <a:cubicBezTo>
                    <a:pt x="6583680" y="5109845"/>
                    <a:pt x="5109845" y="6583680"/>
                    <a:pt x="3291840" y="6583680"/>
                  </a:cubicBezTo>
                  <a:cubicBezTo>
                    <a:pt x="1473835" y="6583680"/>
                    <a:pt x="0" y="5109845"/>
                    <a:pt x="0" y="3291840"/>
                  </a:cubicBezTo>
                  <a:close/>
                </a:path>
              </a:pathLst>
            </a:custGeom>
            <a:solidFill>
              <a:srgbClr val="0E7490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60120" y="1371600"/>
            <a:ext cx="13030200" cy="548640"/>
            <a:chOff x="0" y="0"/>
            <a:chExt cx="17373600" cy="7315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7373600" cy="731520"/>
            </a:xfrm>
            <a:custGeom>
              <a:avLst/>
              <a:gdLst/>
              <a:ahLst/>
              <a:cxnLst/>
              <a:rect r="r" b="b" t="t" l="l"/>
              <a:pathLst>
                <a:path h="731520" w="17373600">
                  <a:moveTo>
                    <a:pt x="0" y="0"/>
                  </a:moveTo>
                  <a:lnTo>
                    <a:pt x="17373600" y="0"/>
                  </a:lnTo>
                  <a:lnTo>
                    <a:pt x="17373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12769" r="0" b="-412769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173736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 spc="299">
                  <a:solidFill>
                    <a:srgbClr val="22D3E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AI + IoT BASED AUTOMATED ATTENDANCE &amp; ACCESS-CONTROL SOLUTION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891540" y="2125980"/>
            <a:ext cx="13167360" cy="2606040"/>
            <a:chOff x="0" y="0"/>
            <a:chExt cx="17556480" cy="34747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7556480" cy="3474720"/>
            </a:xfrm>
            <a:custGeom>
              <a:avLst/>
              <a:gdLst/>
              <a:ahLst/>
              <a:cxnLst/>
              <a:rect r="r" b="b" t="t" l="l"/>
              <a:pathLst>
                <a:path h="3474720" w="17556480">
                  <a:moveTo>
                    <a:pt x="0" y="0"/>
                  </a:moveTo>
                  <a:lnTo>
                    <a:pt x="17556480" y="0"/>
                  </a:lnTo>
                  <a:lnTo>
                    <a:pt x="17556480" y="3474720"/>
                  </a:lnTo>
                  <a:lnTo>
                    <a:pt x="0" y="3474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8450" r="0" b="-4845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47625"/>
              <a:ext cx="17556480" cy="3427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6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Smart Face Attendance and</a:t>
              </a:r>
            </a:p>
            <a:p>
              <a:pPr algn="l">
                <a:lnSpc>
                  <a:spcPts val="7200"/>
                </a:lnSpc>
              </a:pPr>
              <a:r>
                <a:rPr lang="en-US" sz="66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Access Gate System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60120" y="4732020"/>
            <a:ext cx="12893040" cy="685800"/>
            <a:chOff x="0" y="0"/>
            <a:chExt cx="17190720" cy="9144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7190720" cy="914400"/>
            </a:xfrm>
            <a:custGeom>
              <a:avLst/>
              <a:gdLst/>
              <a:ahLst/>
              <a:cxnLst/>
              <a:rect r="r" b="b" t="t" l="l"/>
              <a:pathLst>
                <a:path h="914400" w="17190720">
                  <a:moveTo>
                    <a:pt x="0" y="0"/>
                  </a:moveTo>
                  <a:lnTo>
                    <a:pt x="17190720" y="0"/>
                  </a:lnTo>
                  <a:lnTo>
                    <a:pt x="171907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6318" r="0" b="-316318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1719072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 i="true">
                  <a:solidFill>
                    <a:srgbClr val="A9BBD1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Using Face Recognition and Silicon Labs SiWG917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87552" y="5623560"/>
            <a:ext cx="3566160" cy="61722"/>
            <a:chOff x="0" y="0"/>
            <a:chExt cx="4754880" cy="8229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754880" cy="82296"/>
            </a:xfrm>
            <a:custGeom>
              <a:avLst/>
              <a:gdLst/>
              <a:ahLst/>
              <a:cxnLst/>
              <a:rect r="r" b="b" t="t" l="l"/>
              <a:pathLst>
                <a:path h="82296" w="4754880">
                  <a:moveTo>
                    <a:pt x="0" y="13716"/>
                  </a:moveTo>
                  <a:cubicBezTo>
                    <a:pt x="0" y="6096"/>
                    <a:pt x="6096" y="0"/>
                    <a:pt x="13716" y="0"/>
                  </a:cubicBezTo>
                  <a:lnTo>
                    <a:pt x="4741164" y="0"/>
                  </a:lnTo>
                  <a:cubicBezTo>
                    <a:pt x="4748784" y="0"/>
                    <a:pt x="4754880" y="6096"/>
                    <a:pt x="4754880" y="13716"/>
                  </a:cubicBezTo>
                  <a:lnTo>
                    <a:pt x="4754880" y="68580"/>
                  </a:lnTo>
                  <a:cubicBezTo>
                    <a:pt x="4754880" y="76200"/>
                    <a:pt x="4748784" y="82296"/>
                    <a:pt x="4741164" y="82296"/>
                  </a:cubicBezTo>
                  <a:lnTo>
                    <a:pt x="13716" y="82296"/>
                  </a:lnTo>
                  <a:cubicBezTo>
                    <a:pt x="6096" y="82296"/>
                    <a:pt x="0" y="76200"/>
                    <a:pt x="0" y="68580"/>
                  </a:cubicBezTo>
                  <a:close/>
                </a:path>
              </a:pathLst>
            </a:custGeom>
            <a:solidFill>
              <a:srgbClr val="22D3EE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987552" y="6103620"/>
            <a:ext cx="11658600" cy="411480"/>
            <a:chOff x="0" y="0"/>
            <a:chExt cx="15544800" cy="5486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5544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5544800">
                  <a:moveTo>
                    <a:pt x="0" y="0"/>
                  </a:moveTo>
                  <a:lnTo>
                    <a:pt x="15544800" y="0"/>
                  </a:lnTo>
                  <a:lnTo>
                    <a:pt x="15544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02076" r="0" b="-502076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15544800" cy="5962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NAGALLA DURGA PRASAD</a:t>
              </a:r>
              <a:r>
                <a:rPr lang="en-US" sz="1950">
                  <a:solidFill>
                    <a:srgbClr val="A9BBD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24H41A04A9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87552" y="6597396"/>
            <a:ext cx="11658600" cy="411480"/>
            <a:chOff x="0" y="0"/>
            <a:chExt cx="15544800" cy="5486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5544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5544800">
                  <a:moveTo>
                    <a:pt x="0" y="0"/>
                  </a:moveTo>
                  <a:lnTo>
                    <a:pt x="15544800" y="0"/>
                  </a:lnTo>
                  <a:lnTo>
                    <a:pt x="15544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02076" r="0" b="-502076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15544800" cy="5962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ROWTHU JAYASREE</a:t>
              </a:r>
              <a:r>
                <a:rPr lang="en-US" sz="1950">
                  <a:solidFill>
                    <a:srgbClr val="A9BBD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24H41A04C0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87552" y="7091172"/>
            <a:ext cx="11658600" cy="411480"/>
            <a:chOff x="0" y="0"/>
            <a:chExt cx="15544800" cy="5486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5544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5544800">
                  <a:moveTo>
                    <a:pt x="0" y="0"/>
                  </a:moveTo>
                  <a:lnTo>
                    <a:pt x="15544800" y="0"/>
                  </a:lnTo>
                  <a:lnTo>
                    <a:pt x="15544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02076" r="0" b="-502076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15544800" cy="5962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VAKALAPALLI MEGHNA SRI ADITHYA LAKSHMI</a:t>
              </a:r>
              <a:r>
                <a:rPr lang="en-US" sz="1950">
                  <a:solidFill>
                    <a:srgbClr val="A9BBD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24H41A04C8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60120" y="8435340"/>
            <a:ext cx="13167360" cy="438912"/>
            <a:chOff x="0" y="0"/>
            <a:chExt cx="17556480" cy="58521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7556480" cy="585216"/>
            </a:xfrm>
            <a:custGeom>
              <a:avLst/>
              <a:gdLst/>
              <a:ahLst/>
              <a:cxnLst/>
              <a:rect r="r" b="b" t="t" l="l"/>
              <a:pathLst>
                <a:path h="585216" w="17556480">
                  <a:moveTo>
                    <a:pt x="0" y="0"/>
                  </a:moveTo>
                  <a:lnTo>
                    <a:pt x="17556480" y="0"/>
                  </a:lnTo>
                  <a:lnTo>
                    <a:pt x="1755648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1755648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BONAM VENKATA CHALAMAYYA INSTITUTE OF TECHNOLOGY AND SCIENCES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960120" y="8915400"/>
            <a:ext cx="13167360" cy="411480"/>
            <a:chOff x="0" y="0"/>
            <a:chExt cx="17556480" cy="54864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7556480" cy="548640"/>
            </a:xfrm>
            <a:custGeom>
              <a:avLst/>
              <a:gdLst/>
              <a:ahLst/>
              <a:cxnLst/>
              <a:rect r="r" b="b" t="t" l="l"/>
              <a:pathLst>
                <a:path h="548640" w="17556480">
                  <a:moveTo>
                    <a:pt x="0" y="0"/>
                  </a:moveTo>
                  <a:lnTo>
                    <a:pt x="17556480" y="0"/>
                  </a:lnTo>
                  <a:lnTo>
                    <a:pt x="175564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73521" r="0" b="-573521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1755648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A9BBD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Department of Electronics and Communication Engineering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4470380" y="1577340"/>
            <a:ext cx="1440180" cy="1440180"/>
            <a:chOff x="0" y="0"/>
            <a:chExt cx="1920240" cy="192024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920240" cy="1920240"/>
            </a:xfrm>
            <a:custGeom>
              <a:avLst/>
              <a:gdLst/>
              <a:ahLst/>
              <a:cxnLst/>
              <a:rect r="r" b="b" t="t" l="l"/>
              <a:pathLst>
                <a:path h="1920240" w="1920240">
                  <a:moveTo>
                    <a:pt x="0" y="960120"/>
                  </a:moveTo>
                  <a:cubicBezTo>
                    <a:pt x="0" y="429895"/>
                    <a:pt x="429895" y="0"/>
                    <a:pt x="960120" y="0"/>
                  </a:cubicBezTo>
                  <a:cubicBezTo>
                    <a:pt x="1490345" y="0"/>
                    <a:pt x="1920240" y="429895"/>
                    <a:pt x="1920240" y="960120"/>
                  </a:cubicBezTo>
                  <a:cubicBezTo>
                    <a:pt x="1920240" y="1490345"/>
                    <a:pt x="1490345" y="1920240"/>
                    <a:pt x="960120" y="1920240"/>
                  </a:cubicBezTo>
                  <a:cubicBezTo>
                    <a:pt x="429895" y="1920240"/>
                    <a:pt x="0" y="1490345"/>
                    <a:pt x="0" y="960120"/>
                  </a:cubicBezTo>
                  <a:close/>
                </a:path>
              </a:pathLst>
            </a:custGeom>
            <a:solidFill>
              <a:srgbClr val="22D3EE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4844827" y="1951787"/>
            <a:ext cx="691286" cy="691286"/>
            <a:chOff x="0" y="0"/>
            <a:chExt cx="921715" cy="921715"/>
          </a:xfrm>
        </p:grpSpPr>
        <p:sp>
          <p:nvSpPr>
            <p:cNvPr name="Freeform 35" id="35" descr="/home/claude/ppt/icons/face_navy.png"/>
            <p:cNvSpPr/>
            <p:nvPr/>
          </p:nvSpPr>
          <p:spPr>
            <a:xfrm flipH="false" flipV="false" rot="0">
              <a:off x="0" y="0"/>
              <a:ext cx="921766" cy="921766"/>
            </a:xfrm>
            <a:custGeom>
              <a:avLst/>
              <a:gdLst/>
              <a:ahLst/>
              <a:cxnLst/>
              <a:rect r="r" b="b" t="t" l="l"/>
              <a:pathLst>
                <a:path h="921766" w="921766">
                  <a:moveTo>
                    <a:pt x="0" y="0"/>
                  </a:moveTo>
                  <a:lnTo>
                    <a:pt x="921766" y="0"/>
                  </a:lnTo>
                  <a:lnTo>
                    <a:pt x="921766" y="921766"/>
                  </a:lnTo>
                  <a:lnTo>
                    <a:pt x="0" y="9217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5" b="5"/>
              </a:stretch>
            </a:blip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6527780" y="2811780"/>
            <a:ext cx="1440180" cy="1440180"/>
            <a:chOff x="0" y="0"/>
            <a:chExt cx="1920240" cy="192024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920240" cy="1920240"/>
            </a:xfrm>
            <a:custGeom>
              <a:avLst/>
              <a:gdLst/>
              <a:ahLst/>
              <a:cxnLst/>
              <a:rect r="r" b="b" t="t" l="l"/>
              <a:pathLst>
                <a:path h="1920240" w="1920240">
                  <a:moveTo>
                    <a:pt x="0" y="960120"/>
                  </a:moveTo>
                  <a:cubicBezTo>
                    <a:pt x="0" y="429895"/>
                    <a:pt x="429895" y="0"/>
                    <a:pt x="960120" y="0"/>
                  </a:cubicBezTo>
                  <a:cubicBezTo>
                    <a:pt x="1490345" y="0"/>
                    <a:pt x="1920240" y="429895"/>
                    <a:pt x="1920240" y="960120"/>
                  </a:cubicBezTo>
                  <a:cubicBezTo>
                    <a:pt x="1920240" y="1490345"/>
                    <a:pt x="1490345" y="1920240"/>
                    <a:pt x="960120" y="1920240"/>
                  </a:cubicBezTo>
                  <a:cubicBezTo>
                    <a:pt x="429895" y="1920240"/>
                    <a:pt x="0" y="1490345"/>
                    <a:pt x="0" y="960120"/>
                  </a:cubicBezTo>
                  <a:close/>
                </a:path>
              </a:pathLst>
            </a:custGeom>
            <a:solidFill>
              <a:srgbClr val="22D3EE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6902227" y="3186227"/>
            <a:ext cx="691286" cy="691286"/>
            <a:chOff x="0" y="0"/>
            <a:chExt cx="921715" cy="921715"/>
          </a:xfrm>
        </p:grpSpPr>
        <p:sp>
          <p:nvSpPr>
            <p:cNvPr name="Freeform 39" id="39" descr="/home/claude/ppt/icons/camera_navy.png"/>
            <p:cNvSpPr/>
            <p:nvPr/>
          </p:nvSpPr>
          <p:spPr>
            <a:xfrm flipH="false" flipV="false" rot="0">
              <a:off x="0" y="0"/>
              <a:ext cx="921766" cy="921766"/>
            </a:xfrm>
            <a:custGeom>
              <a:avLst/>
              <a:gdLst/>
              <a:ahLst/>
              <a:cxnLst/>
              <a:rect r="r" b="b" t="t" l="l"/>
              <a:pathLst>
                <a:path h="921766" w="921766">
                  <a:moveTo>
                    <a:pt x="0" y="0"/>
                  </a:moveTo>
                  <a:lnTo>
                    <a:pt x="921766" y="0"/>
                  </a:lnTo>
                  <a:lnTo>
                    <a:pt x="921766" y="921766"/>
                  </a:lnTo>
                  <a:lnTo>
                    <a:pt x="0" y="9217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5" b="5"/>
              </a:stretch>
            </a:blip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4196060" y="4320540"/>
            <a:ext cx="1440180" cy="1440180"/>
            <a:chOff x="0" y="0"/>
            <a:chExt cx="1920240" cy="192024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920240" cy="1920240"/>
            </a:xfrm>
            <a:custGeom>
              <a:avLst/>
              <a:gdLst/>
              <a:ahLst/>
              <a:cxnLst/>
              <a:rect r="r" b="b" t="t" l="l"/>
              <a:pathLst>
                <a:path h="1920240" w="1920240">
                  <a:moveTo>
                    <a:pt x="0" y="960120"/>
                  </a:moveTo>
                  <a:cubicBezTo>
                    <a:pt x="0" y="429895"/>
                    <a:pt x="429895" y="0"/>
                    <a:pt x="960120" y="0"/>
                  </a:cubicBezTo>
                  <a:cubicBezTo>
                    <a:pt x="1490345" y="0"/>
                    <a:pt x="1920240" y="429895"/>
                    <a:pt x="1920240" y="960120"/>
                  </a:cubicBezTo>
                  <a:cubicBezTo>
                    <a:pt x="1920240" y="1490345"/>
                    <a:pt x="1490345" y="1920240"/>
                    <a:pt x="960120" y="1920240"/>
                  </a:cubicBezTo>
                  <a:cubicBezTo>
                    <a:pt x="429895" y="1920240"/>
                    <a:pt x="0" y="1490345"/>
                    <a:pt x="0" y="960120"/>
                  </a:cubicBezTo>
                  <a:close/>
                </a:path>
              </a:pathLst>
            </a:custGeom>
            <a:solidFill>
              <a:srgbClr val="22D3EE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4570507" y="4694987"/>
            <a:ext cx="691286" cy="691286"/>
            <a:chOff x="0" y="0"/>
            <a:chExt cx="921715" cy="921715"/>
          </a:xfrm>
        </p:grpSpPr>
        <p:sp>
          <p:nvSpPr>
            <p:cNvPr name="Freeform 43" id="43" descr="/home/claude/ppt/icons/microchip_navy.png"/>
            <p:cNvSpPr/>
            <p:nvPr/>
          </p:nvSpPr>
          <p:spPr>
            <a:xfrm flipH="false" flipV="false" rot="0">
              <a:off x="0" y="0"/>
              <a:ext cx="921766" cy="921766"/>
            </a:xfrm>
            <a:custGeom>
              <a:avLst/>
              <a:gdLst/>
              <a:ahLst/>
              <a:cxnLst/>
              <a:rect r="r" b="b" t="t" l="l"/>
              <a:pathLst>
                <a:path h="921766" w="921766">
                  <a:moveTo>
                    <a:pt x="0" y="0"/>
                  </a:moveTo>
                  <a:lnTo>
                    <a:pt x="921766" y="0"/>
                  </a:lnTo>
                  <a:lnTo>
                    <a:pt x="921766" y="921766"/>
                  </a:lnTo>
                  <a:lnTo>
                    <a:pt x="0" y="9217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5" b="5"/>
              </a:stretch>
            </a:blip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6527780" y="5554980"/>
            <a:ext cx="1440180" cy="1440180"/>
            <a:chOff x="0" y="0"/>
            <a:chExt cx="1920240" cy="192024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920240" cy="1920240"/>
            </a:xfrm>
            <a:custGeom>
              <a:avLst/>
              <a:gdLst/>
              <a:ahLst/>
              <a:cxnLst/>
              <a:rect r="r" b="b" t="t" l="l"/>
              <a:pathLst>
                <a:path h="1920240" w="1920240">
                  <a:moveTo>
                    <a:pt x="0" y="960120"/>
                  </a:moveTo>
                  <a:cubicBezTo>
                    <a:pt x="0" y="429895"/>
                    <a:pt x="429895" y="0"/>
                    <a:pt x="960120" y="0"/>
                  </a:cubicBezTo>
                  <a:cubicBezTo>
                    <a:pt x="1490345" y="0"/>
                    <a:pt x="1920240" y="429895"/>
                    <a:pt x="1920240" y="960120"/>
                  </a:cubicBezTo>
                  <a:cubicBezTo>
                    <a:pt x="1920240" y="1490345"/>
                    <a:pt x="1490345" y="1920240"/>
                    <a:pt x="960120" y="1920240"/>
                  </a:cubicBezTo>
                  <a:cubicBezTo>
                    <a:pt x="429895" y="1920240"/>
                    <a:pt x="0" y="1490345"/>
                    <a:pt x="0" y="960120"/>
                  </a:cubicBezTo>
                  <a:close/>
                </a:path>
              </a:pathLst>
            </a:custGeom>
            <a:solidFill>
              <a:srgbClr val="22D3EE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6902227" y="5929427"/>
            <a:ext cx="691286" cy="691286"/>
            <a:chOff x="0" y="0"/>
            <a:chExt cx="921715" cy="921715"/>
          </a:xfrm>
        </p:grpSpPr>
        <p:sp>
          <p:nvSpPr>
            <p:cNvPr name="Freeform 47" id="47" descr="/home/claude/ppt/icons/door_navy.png"/>
            <p:cNvSpPr/>
            <p:nvPr/>
          </p:nvSpPr>
          <p:spPr>
            <a:xfrm flipH="false" flipV="false" rot="0">
              <a:off x="0" y="0"/>
              <a:ext cx="921766" cy="921766"/>
            </a:xfrm>
            <a:custGeom>
              <a:avLst/>
              <a:gdLst/>
              <a:ahLst/>
              <a:cxnLst/>
              <a:rect r="r" b="b" t="t" l="l"/>
              <a:pathLst>
                <a:path h="921766" w="921766">
                  <a:moveTo>
                    <a:pt x="0" y="0"/>
                  </a:moveTo>
                  <a:lnTo>
                    <a:pt x="921766" y="0"/>
                  </a:lnTo>
                  <a:lnTo>
                    <a:pt x="921766" y="921766"/>
                  </a:lnTo>
                  <a:lnTo>
                    <a:pt x="0" y="9217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5" b="5"/>
              </a:stretch>
            </a:blip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14950440" y="7063740"/>
            <a:ext cx="1440180" cy="1440180"/>
            <a:chOff x="0" y="0"/>
            <a:chExt cx="1920240" cy="192024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920240" cy="1920240"/>
            </a:xfrm>
            <a:custGeom>
              <a:avLst/>
              <a:gdLst/>
              <a:ahLst/>
              <a:cxnLst/>
              <a:rect r="r" b="b" t="t" l="l"/>
              <a:pathLst>
                <a:path h="1920240" w="1920240">
                  <a:moveTo>
                    <a:pt x="0" y="960120"/>
                  </a:moveTo>
                  <a:cubicBezTo>
                    <a:pt x="0" y="429895"/>
                    <a:pt x="429895" y="0"/>
                    <a:pt x="960120" y="0"/>
                  </a:cubicBezTo>
                  <a:cubicBezTo>
                    <a:pt x="1490345" y="0"/>
                    <a:pt x="1920240" y="429895"/>
                    <a:pt x="1920240" y="960120"/>
                  </a:cubicBezTo>
                  <a:cubicBezTo>
                    <a:pt x="1920240" y="1490345"/>
                    <a:pt x="1490345" y="1920240"/>
                    <a:pt x="960120" y="1920240"/>
                  </a:cubicBezTo>
                  <a:cubicBezTo>
                    <a:pt x="429895" y="1920240"/>
                    <a:pt x="0" y="1490345"/>
                    <a:pt x="0" y="960120"/>
                  </a:cubicBezTo>
                  <a:close/>
                </a:path>
              </a:pathLst>
            </a:custGeom>
            <a:solidFill>
              <a:srgbClr val="22D3EE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15324887" y="7438187"/>
            <a:ext cx="691286" cy="691286"/>
            <a:chOff x="0" y="0"/>
            <a:chExt cx="921715" cy="921715"/>
          </a:xfrm>
        </p:grpSpPr>
        <p:sp>
          <p:nvSpPr>
            <p:cNvPr name="Freeform 51" id="51" descr="/home/claude/ppt/icons/wifi_navy.png"/>
            <p:cNvSpPr/>
            <p:nvPr/>
          </p:nvSpPr>
          <p:spPr>
            <a:xfrm flipH="false" flipV="false" rot="0">
              <a:off x="0" y="0"/>
              <a:ext cx="921766" cy="921766"/>
            </a:xfrm>
            <a:custGeom>
              <a:avLst/>
              <a:gdLst/>
              <a:ahLst/>
              <a:cxnLst/>
              <a:rect r="r" b="b" t="t" l="l"/>
              <a:pathLst>
                <a:path h="921766" w="921766">
                  <a:moveTo>
                    <a:pt x="0" y="0"/>
                  </a:moveTo>
                  <a:lnTo>
                    <a:pt x="921766" y="0"/>
                  </a:lnTo>
                  <a:lnTo>
                    <a:pt x="921766" y="921766"/>
                  </a:lnTo>
                  <a:lnTo>
                    <a:pt x="0" y="9217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5" b="5"/>
              </a:stretch>
            </a:blip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685800" y="9738360"/>
            <a:ext cx="9601200" cy="411480"/>
            <a:chOff x="0" y="0"/>
            <a:chExt cx="12801600" cy="54864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2801600" cy="548640"/>
            </a:xfrm>
            <a:custGeom>
              <a:avLst/>
              <a:gdLst/>
              <a:ahLst/>
              <a:cxnLst/>
              <a:rect r="r" b="b" t="t" l="l"/>
              <a:pathLst>
                <a:path h="548640" w="12801600">
                  <a:moveTo>
                    <a:pt x="0" y="0"/>
                  </a:moveTo>
                  <a:lnTo>
                    <a:pt x="12801600" y="0"/>
                  </a:lnTo>
                  <a:lnTo>
                    <a:pt x="128016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04650" r="0" b="-404650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19050"/>
              <a:ext cx="1280160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sz="1200" spc="150">
                  <a:solidFill>
                    <a:srgbClr val="5B739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SMART FACE ATTENDANCE &amp; ACCESS GATE SYSTEM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16915943" y="9738360"/>
            <a:ext cx="685800" cy="411480"/>
            <a:chOff x="0" y="0"/>
            <a:chExt cx="914400" cy="54864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5B739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01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85800"/>
            <a:ext cx="10972800" cy="480060"/>
            <a:chOff x="0" y="0"/>
            <a:chExt cx="146304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640080"/>
            </a:xfrm>
            <a:custGeom>
              <a:avLst/>
              <a:gdLst/>
              <a:ahLst/>
              <a:cxnLst/>
              <a:rect r="r" b="b" t="t" l="l"/>
              <a:pathLst>
                <a:path h="64008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95372" r="0" b="-39537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46304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300">
                  <a:solidFill>
                    <a:srgbClr val="22D3E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INTRODUCTION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1165860"/>
            <a:ext cx="15773400" cy="960120"/>
            <a:chOff x="0" y="0"/>
            <a:chExt cx="21031200" cy="12801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0312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0111" r="0" b="-270111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1031200" cy="1299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0B1E3D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Why Automated Attendance?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2263140"/>
            <a:ext cx="9052560" cy="1165860"/>
            <a:chOff x="0" y="0"/>
            <a:chExt cx="12070080" cy="15544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070080" cy="1554480"/>
            </a:xfrm>
            <a:custGeom>
              <a:avLst/>
              <a:gdLst/>
              <a:ahLst/>
              <a:cxnLst/>
              <a:rect r="r" b="b" t="t" l="l"/>
              <a:pathLst>
                <a:path h="1554480" w="12070080">
                  <a:moveTo>
                    <a:pt x="0" y="0"/>
                  </a:moveTo>
                  <a:lnTo>
                    <a:pt x="12070080" y="0"/>
                  </a:lnTo>
                  <a:lnTo>
                    <a:pt x="1207008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295" r="0" b="-101295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04775"/>
              <a:ext cx="12070080" cy="1659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25"/>
                </a:lnSpc>
              </a:pPr>
              <a:r>
                <a:rPr lang="en-US" sz="1950">
                  <a:solidFill>
                    <a:srgbClr val="50607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Attendance management is a routine but critical activity in educational institutions. Traditional methods still depend on manual processes that are slow and easy to manipulate.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22960" y="3634740"/>
            <a:ext cx="754380" cy="754380"/>
            <a:chOff x="0" y="0"/>
            <a:chExt cx="1005840" cy="10058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019099" y="3830879"/>
            <a:ext cx="362102" cy="362102"/>
            <a:chOff x="0" y="0"/>
            <a:chExt cx="482803" cy="482803"/>
          </a:xfrm>
        </p:grpSpPr>
        <p:sp>
          <p:nvSpPr>
            <p:cNvPr name="Freeform 14" id="14" descr="/home/claude/ppt/icons/users_white.png"/>
            <p:cNvSpPr/>
            <p:nvPr/>
          </p:nvSpPr>
          <p:spPr>
            <a:xfrm flipH="false" flipV="false" rot="0">
              <a:off x="0" y="0"/>
              <a:ext cx="482854" cy="482854"/>
            </a:xfrm>
            <a:custGeom>
              <a:avLst/>
              <a:gdLst/>
              <a:ahLst/>
              <a:cxnLst/>
              <a:rect r="r" b="b" t="t" l="l"/>
              <a:pathLst>
                <a:path h="482854" w="482854">
                  <a:moveTo>
                    <a:pt x="0" y="0"/>
                  </a:moveTo>
                  <a:lnTo>
                    <a:pt x="482854" y="0"/>
                  </a:lnTo>
                  <a:lnTo>
                    <a:pt x="482854" y="482854"/>
                  </a:lnTo>
                  <a:lnTo>
                    <a:pt x="0" y="4828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10" b="1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851660" y="3593592"/>
            <a:ext cx="7818120" cy="438912"/>
            <a:chOff x="0" y="0"/>
            <a:chExt cx="10424160" cy="58521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424160" cy="585216"/>
            </a:xfrm>
            <a:custGeom>
              <a:avLst/>
              <a:gdLst/>
              <a:ahLst/>
              <a:cxnLst/>
              <a:rect r="r" b="b" t="t" l="l"/>
              <a:pathLst>
                <a:path h="585216" w="10424160">
                  <a:moveTo>
                    <a:pt x="0" y="0"/>
                  </a:moveTo>
                  <a:lnTo>
                    <a:pt x="10424160" y="0"/>
                  </a:lnTo>
                  <a:lnTo>
                    <a:pt x="1042416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97077" r="0" b="-297077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042416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 b="true">
                  <a:solidFill>
                    <a:srgbClr val="0B1E3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Manual Roll Call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851660" y="4046220"/>
            <a:ext cx="7818120" cy="685800"/>
            <a:chOff x="0" y="0"/>
            <a:chExt cx="10424160" cy="9144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424160" cy="914400"/>
            </a:xfrm>
            <a:custGeom>
              <a:avLst/>
              <a:gdLst/>
              <a:ahLst/>
              <a:cxnLst/>
              <a:rect r="r" b="b" t="t" l="l"/>
              <a:pathLst>
                <a:path h="914400" w="10424160">
                  <a:moveTo>
                    <a:pt x="0" y="0"/>
                  </a:moveTo>
                  <a:lnTo>
                    <a:pt x="10424160" y="0"/>
                  </a:lnTo>
                  <a:lnTo>
                    <a:pt x="1042416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2129" r="0" b="-172129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57150"/>
              <a:ext cx="10424160" cy="971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77"/>
                </a:lnSpc>
              </a:pPr>
              <a:r>
                <a:rPr lang="en-US" sz="1650">
                  <a:solidFill>
                    <a:srgbClr val="50607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Traditional attendance relies on calling names, signatures or ID cards.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822960" y="5006340"/>
            <a:ext cx="754380" cy="754380"/>
            <a:chOff x="0" y="0"/>
            <a:chExt cx="1005840" cy="100584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019099" y="5202479"/>
            <a:ext cx="362102" cy="362102"/>
            <a:chOff x="0" y="0"/>
            <a:chExt cx="482803" cy="482803"/>
          </a:xfrm>
        </p:grpSpPr>
        <p:sp>
          <p:nvSpPr>
            <p:cNvPr name="Freeform 24" id="24" descr="/home/claude/ppt/icons/clock_white.png"/>
            <p:cNvSpPr/>
            <p:nvPr/>
          </p:nvSpPr>
          <p:spPr>
            <a:xfrm flipH="false" flipV="false" rot="0">
              <a:off x="0" y="0"/>
              <a:ext cx="482854" cy="482854"/>
            </a:xfrm>
            <a:custGeom>
              <a:avLst/>
              <a:gdLst/>
              <a:ahLst/>
              <a:cxnLst/>
              <a:rect r="r" b="b" t="t" l="l"/>
              <a:pathLst>
                <a:path h="482854" w="482854">
                  <a:moveTo>
                    <a:pt x="0" y="0"/>
                  </a:moveTo>
                  <a:lnTo>
                    <a:pt x="482854" y="0"/>
                  </a:lnTo>
                  <a:lnTo>
                    <a:pt x="482854" y="482854"/>
                  </a:lnTo>
                  <a:lnTo>
                    <a:pt x="0" y="4828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10" b="10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851660" y="4965192"/>
            <a:ext cx="7818120" cy="438912"/>
            <a:chOff x="0" y="0"/>
            <a:chExt cx="10424160" cy="585216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424160" cy="585216"/>
            </a:xfrm>
            <a:custGeom>
              <a:avLst/>
              <a:gdLst/>
              <a:ahLst/>
              <a:cxnLst/>
              <a:rect r="r" b="b" t="t" l="l"/>
              <a:pathLst>
                <a:path h="585216" w="10424160">
                  <a:moveTo>
                    <a:pt x="0" y="0"/>
                  </a:moveTo>
                  <a:lnTo>
                    <a:pt x="10424160" y="0"/>
                  </a:lnTo>
                  <a:lnTo>
                    <a:pt x="1042416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97077" r="0" b="-297077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1042416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 b="true">
                  <a:solidFill>
                    <a:srgbClr val="0B1E3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Time Consuming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851660" y="5417820"/>
            <a:ext cx="7818120" cy="685800"/>
            <a:chOff x="0" y="0"/>
            <a:chExt cx="10424160" cy="9144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424160" cy="914400"/>
            </a:xfrm>
            <a:custGeom>
              <a:avLst/>
              <a:gdLst/>
              <a:ahLst/>
              <a:cxnLst/>
              <a:rect r="r" b="b" t="t" l="l"/>
              <a:pathLst>
                <a:path h="914400" w="10424160">
                  <a:moveTo>
                    <a:pt x="0" y="0"/>
                  </a:moveTo>
                  <a:lnTo>
                    <a:pt x="10424160" y="0"/>
                  </a:lnTo>
                  <a:lnTo>
                    <a:pt x="1042416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2129" r="0" b="-172129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57150"/>
              <a:ext cx="10424160" cy="971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77"/>
                </a:lnSpc>
              </a:pPr>
              <a:r>
                <a:rPr lang="en-US" sz="1650">
                  <a:solidFill>
                    <a:srgbClr val="50607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Manual marking consumes valuable classroom / working time.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822960" y="6377940"/>
            <a:ext cx="754380" cy="754380"/>
            <a:chOff x="0" y="0"/>
            <a:chExt cx="1005840" cy="100584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019099" y="6574079"/>
            <a:ext cx="362102" cy="362102"/>
            <a:chOff x="0" y="0"/>
            <a:chExt cx="482803" cy="482803"/>
          </a:xfrm>
        </p:grpSpPr>
        <p:sp>
          <p:nvSpPr>
            <p:cNvPr name="Freeform 34" id="34" descr="/home/claude/ppt/icons/ban_white.png"/>
            <p:cNvSpPr/>
            <p:nvPr/>
          </p:nvSpPr>
          <p:spPr>
            <a:xfrm flipH="false" flipV="false" rot="0">
              <a:off x="0" y="0"/>
              <a:ext cx="482854" cy="482854"/>
            </a:xfrm>
            <a:custGeom>
              <a:avLst/>
              <a:gdLst/>
              <a:ahLst/>
              <a:cxnLst/>
              <a:rect r="r" b="b" t="t" l="l"/>
              <a:pathLst>
                <a:path h="482854" w="482854">
                  <a:moveTo>
                    <a:pt x="0" y="0"/>
                  </a:moveTo>
                  <a:lnTo>
                    <a:pt x="482854" y="0"/>
                  </a:lnTo>
                  <a:lnTo>
                    <a:pt x="482854" y="482854"/>
                  </a:lnTo>
                  <a:lnTo>
                    <a:pt x="0" y="4828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10" b="10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851660" y="6336792"/>
            <a:ext cx="7818120" cy="438912"/>
            <a:chOff x="0" y="0"/>
            <a:chExt cx="10424160" cy="58521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424160" cy="585216"/>
            </a:xfrm>
            <a:custGeom>
              <a:avLst/>
              <a:gdLst/>
              <a:ahLst/>
              <a:cxnLst/>
              <a:rect r="r" b="b" t="t" l="l"/>
              <a:pathLst>
                <a:path h="585216" w="10424160">
                  <a:moveTo>
                    <a:pt x="0" y="0"/>
                  </a:moveTo>
                  <a:lnTo>
                    <a:pt x="10424160" y="0"/>
                  </a:lnTo>
                  <a:lnTo>
                    <a:pt x="1042416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97077" r="0" b="-297077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1042416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 b="true">
                  <a:solidFill>
                    <a:srgbClr val="0B1E3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Prone to Errors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851660" y="6789420"/>
            <a:ext cx="7818120" cy="685800"/>
            <a:chOff x="0" y="0"/>
            <a:chExt cx="10424160" cy="9144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0424160" cy="914400"/>
            </a:xfrm>
            <a:custGeom>
              <a:avLst/>
              <a:gdLst/>
              <a:ahLst/>
              <a:cxnLst/>
              <a:rect r="r" b="b" t="t" l="l"/>
              <a:pathLst>
                <a:path h="914400" w="10424160">
                  <a:moveTo>
                    <a:pt x="0" y="0"/>
                  </a:moveTo>
                  <a:lnTo>
                    <a:pt x="10424160" y="0"/>
                  </a:lnTo>
                  <a:lnTo>
                    <a:pt x="1042416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2129" r="0" b="-172129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57150"/>
              <a:ext cx="10424160" cy="971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77"/>
                </a:lnSpc>
              </a:pPr>
              <a:r>
                <a:rPr lang="en-US" sz="1650">
                  <a:solidFill>
                    <a:srgbClr val="50607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Manual recording is vulnerable to human error and inconsistency.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822960" y="7749540"/>
            <a:ext cx="754380" cy="754380"/>
            <a:chOff x="0" y="0"/>
            <a:chExt cx="1005840" cy="100584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1019099" y="7945679"/>
            <a:ext cx="362102" cy="362102"/>
            <a:chOff x="0" y="0"/>
            <a:chExt cx="482803" cy="482803"/>
          </a:xfrm>
        </p:grpSpPr>
        <p:sp>
          <p:nvSpPr>
            <p:cNvPr name="Freeform 44" id="44" descr="/home/claude/ppt/icons/fingerprint_white.png"/>
            <p:cNvSpPr/>
            <p:nvPr/>
          </p:nvSpPr>
          <p:spPr>
            <a:xfrm flipH="false" flipV="false" rot="0">
              <a:off x="0" y="0"/>
              <a:ext cx="482854" cy="482854"/>
            </a:xfrm>
            <a:custGeom>
              <a:avLst/>
              <a:gdLst/>
              <a:ahLst/>
              <a:cxnLst/>
              <a:rect r="r" b="b" t="t" l="l"/>
              <a:pathLst>
                <a:path h="482854" w="482854">
                  <a:moveTo>
                    <a:pt x="0" y="0"/>
                  </a:moveTo>
                  <a:lnTo>
                    <a:pt x="482854" y="0"/>
                  </a:lnTo>
                  <a:lnTo>
                    <a:pt x="482854" y="482854"/>
                  </a:lnTo>
                  <a:lnTo>
                    <a:pt x="0" y="4828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10" b="10"/>
              </a:stretch>
            </a:blip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851660" y="7708392"/>
            <a:ext cx="7818120" cy="438912"/>
            <a:chOff x="0" y="0"/>
            <a:chExt cx="10424160" cy="585216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0424160" cy="585216"/>
            </a:xfrm>
            <a:custGeom>
              <a:avLst/>
              <a:gdLst/>
              <a:ahLst/>
              <a:cxnLst/>
              <a:rect r="r" b="b" t="t" l="l"/>
              <a:pathLst>
                <a:path h="585216" w="10424160">
                  <a:moveTo>
                    <a:pt x="0" y="0"/>
                  </a:moveTo>
                  <a:lnTo>
                    <a:pt x="10424160" y="0"/>
                  </a:lnTo>
                  <a:lnTo>
                    <a:pt x="1042416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97077" r="0" b="-297077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38100"/>
              <a:ext cx="1042416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 b="true">
                  <a:solidFill>
                    <a:srgbClr val="0B1E3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Proxy Attendance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851660" y="8161020"/>
            <a:ext cx="7818120" cy="685800"/>
            <a:chOff x="0" y="0"/>
            <a:chExt cx="10424160" cy="9144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0424160" cy="914400"/>
            </a:xfrm>
            <a:custGeom>
              <a:avLst/>
              <a:gdLst/>
              <a:ahLst/>
              <a:cxnLst/>
              <a:rect r="r" b="b" t="t" l="l"/>
              <a:pathLst>
                <a:path h="914400" w="10424160">
                  <a:moveTo>
                    <a:pt x="0" y="0"/>
                  </a:moveTo>
                  <a:lnTo>
                    <a:pt x="10424160" y="0"/>
                  </a:lnTo>
                  <a:lnTo>
                    <a:pt x="1042416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2129" r="0" b="-172129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57150"/>
              <a:ext cx="10424160" cy="971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77"/>
                </a:lnSpc>
              </a:pPr>
              <a:r>
                <a:rPr lang="en-US" sz="1650">
                  <a:solidFill>
                    <a:srgbClr val="50607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Signature and roll-call methods are open to proxy attendance.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0561320" y="2194560"/>
            <a:ext cx="6858000" cy="7063740"/>
            <a:chOff x="0" y="0"/>
            <a:chExt cx="9144000" cy="941832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9144000" cy="9418320"/>
            </a:xfrm>
            <a:custGeom>
              <a:avLst/>
              <a:gdLst/>
              <a:ahLst/>
              <a:cxnLst/>
              <a:rect r="r" b="b" t="t" l="l"/>
              <a:pathLst>
                <a:path h="9418320" w="914400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8924544" y="0"/>
                  </a:lnTo>
                  <a:cubicBezTo>
                    <a:pt x="9045702" y="0"/>
                    <a:pt x="9144000" y="98298"/>
                    <a:pt x="9144000" y="219456"/>
                  </a:cubicBezTo>
                  <a:lnTo>
                    <a:pt x="9144000" y="9198864"/>
                  </a:lnTo>
                  <a:cubicBezTo>
                    <a:pt x="9144000" y="9320022"/>
                    <a:pt x="9045702" y="9418320"/>
                    <a:pt x="8924544" y="9418320"/>
                  </a:cubicBezTo>
                  <a:lnTo>
                    <a:pt x="219456" y="9418320"/>
                  </a:lnTo>
                  <a:cubicBezTo>
                    <a:pt x="98298" y="9418320"/>
                    <a:pt x="0" y="9320022"/>
                    <a:pt x="0" y="9198864"/>
                  </a:cubicBezTo>
                  <a:close/>
                </a:path>
              </a:pathLst>
            </a:custGeom>
            <a:solidFill>
              <a:srgbClr val="0B1E3D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13304520" y="2674620"/>
            <a:ext cx="1371600" cy="1371600"/>
            <a:chOff x="0" y="0"/>
            <a:chExt cx="1828800" cy="182880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8288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828800">
                  <a:moveTo>
                    <a:pt x="0" y="914400"/>
                  </a:moveTo>
                  <a:cubicBezTo>
                    <a:pt x="0" y="409448"/>
                    <a:pt x="409448" y="0"/>
                    <a:pt x="914400" y="0"/>
                  </a:cubicBezTo>
                  <a:cubicBezTo>
                    <a:pt x="1419352" y="0"/>
                    <a:pt x="1828800" y="409448"/>
                    <a:pt x="1828800" y="914400"/>
                  </a:cubicBezTo>
                  <a:cubicBezTo>
                    <a:pt x="1828800" y="1419352"/>
                    <a:pt x="1419352" y="1828800"/>
                    <a:pt x="914400" y="1828800"/>
                  </a:cubicBezTo>
                  <a:cubicBezTo>
                    <a:pt x="409448" y="1828800"/>
                    <a:pt x="0" y="1419352"/>
                    <a:pt x="0" y="914400"/>
                  </a:cubicBezTo>
                  <a:close/>
                </a:path>
              </a:pathLst>
            </a:custGeom>
            <a:solidFill>
              <a:srgbClr val="22D3EE"/>
            </a:solid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13661136" y="3031236"/>
            <a:ext cx="658368" cy="658368"/>
            <a:chOff x="0" y="0"/>
            <a:chExt cx="877824" cy="877824"/>
          </a:xfrm>
        </p:grpSpPr>
        <p:sp>
          <p:nvSpPr>
            <p:cNvPr name="Freeform 56" id="56" descr="/home/claude/ppt/icons/brain_navy.png"/>
            <p:cNvSpPr/>
            <p:nvPr/>
          </p:nvSpPr>
          <p:spPr>
            <a:xfrm flipH="false" flipV="false" rot="0">
              <a:off x="0" y="0"/>
              <a:ext cx="877824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">
                  <a:moveTo>
                    <a:pt x="0" y="0"/>
                  </a:moveTo>
                  <a:lnTo>
                    <a:pt x="877824" y="0"/>
                  </a:lnTo>
                  <a:lnTo>
                    <a:pt x="877824" y="877824"/>
                  </a:lnTo>
                  <a:lnTo>
                    <a:pt x="0" y="8778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10972800" y="4320540"/>
            <a:ext cx="6035040" cy="411480"/>
            <a:chOff x="0" y="0"/>
            <a:chExt cx="8046720" cy="54864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8046720" cy="548640"/>
            </a:xfrm>
            <a:custGeom>
              <a:avLst/>
              <a:gdLst/>
              <a:ahLst/>
              <a:cxnLst/>
              <a:rect r="r" b="b" t="t" l="l"/>
              <a:pathLst>
                <a:path h="548640" w="8046720">
                  <a:moveTo>
                    <a:pt x="0" y="0"/>
                  </a:moveTo>
                  <a:lnTo>
                    <a:pt x="8046720" y="0"/>
                  </a:lnTo>
                  <a:lnTo>
                    <a:pt x="80467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35780" r="0" b="-235780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28575"/>
              <a:ext cx="804672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b="true" sz="1650" spc="299">
                  <a:solidFill>
                    <a:srgbClr val="22D3E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THE SOLUTION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10972800" y="4732020"/>
            <a:ext cx="6035040" cy="1165860"/>
            <a:chOff x="0" y="0"/>
            <a:chExt cx="8046720" cy="155448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8046720" cy="1554480"/>
            </a:xfrm>
            <a:custGeom>
              <a:avLst/>
              <a:gdLst/>
              <a:ahLst/>
              <a:cxnLst/>
              <a:rect r="r" b="b" t="t" l="l"/>
              <a:pathLst>
                <a:path h="1554480" w="8046720">
                  <a:moveTo>
                    <a:pt x="0" y="0"/>
                  </a:moveTo>
                  <a:lnTo>
                    <a:pt x="8046720" y="0"/>
                  </a:lnTo>
                  <a:lnTo>
                    <a:pt x="804672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0863" r="0" b="-50863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9525"/>
              <a:ext cx="8046720" cy="15640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9"/>
                </a:lnSpc>
              </a:pPr>
              <a:r>
                <a:rPr lang="en-US" sz="285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Face Recognition Based</a:t>
              </a:r>
            </a:p>
            <a:p>
              <a:pPr algn="ctr">
                <a:lnSpc>
                  <a:spcPts val="3419"/>
                </a:lnSpc>
              </a:pPr>
              <a:r>
                <a:rPr lang="en-US" sz="285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Automated Attendance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11178540" y="6103620"/>
            <a:ext cx="5623560" cy="2743200"/>
            <a:chOff x="0" y="0"/>
            <a:chExt cx="7498080" cy="365760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7498080" cy="3657600"/>
            </a:xfrm>
            <a:custGeom>
              <a:avLst/>
              <a:gdLst/>
              <a:ahLst/>
              <a:cxnLst/>
              <a:rect r="r" b="b" t="t" l="l"/>
              <a:pathLst>
                <a:path h="3657600" w="7498080">
                  <a:moveTo>
                    <a:pt x="0" y="0"/>
                  </a:moveTo>
                  <a:lnTo>
                    <a:pt x="7498080" y="0"/>
                  </a:lnTo>
                  <a:lnTo>
                    <a:pt x="7498080" y="3657600"/>
                  </a:lnTo>
                  <a:lnTo>
                    <a:pt x="0" y="3657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2587" t="0" r="-12587" b="0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95250"/>
              <a:ext cx="7498080" cy="3752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91"/>
                </a:lnSpc>
              </a:pPr>
              <a:r>
                <a:rPr lang="en-US" sz="1725">
                  <a:solidFill>
                    <a:srgbClr val="A9BBD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The proposed system introduces face-recognition technology into the attendance process, combining an AI software section with an IoT hardware section for automated, accurate and access-aware attendance.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685800" y="9738360"/>
            <a:ext cx="9601200" cy="411480"/>
            <a:chOff x="0" y="0"/>
            <a:chExt cx="12801600" cy="54864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2801600" cy="548640"/>
            </a:xfrm>
            <a:custGeom>
              <a:avLst/>
              <a:gdLst/>
              <a:ahLst/>
              <a:cxnLst/>
              <a:rect r="r" b="b" t="t" l="l"/>
              <a:pathLst>
                <a:path h="548640" w="12801600">
                  <a:moveTo>
                    <a:pt x="0" y="0"/>
                  </a:moveTo>
                  <a:lnTo>
                    <a:pt x="12801600" y="0"/>
                  </a:lnTo>
                  <a:lnTo>
                    <a:pt x="128016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04650" r="0" b="-404650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19050"/>
              <a:ext cx="1280160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sz="1200" spc="150">
                  <a:solidFill>
                    <a:srgbClr val="9FB0C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SMART FACE ATTENDANCE &amp; ACCESS GATE SYSTEM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16915943" y="9738360"/>
            <a:ext cx="685800" cy="411480"/>
            <a:chOff x="0" y="0"/>
            <a:chExt cx="914400" cy="54864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9FB0C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02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85800"/>
            <a:ext cx="10972800" cy="480060"/>
            <a:chOff x="0" y="0"/>
            <a:chExt cx="146304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640080"/>
            </a:xfrm>
            <a:custGeom>
              <a:avLst/>
              <a:gdLst/>
              <a:ahLst/>
              <a:cxnLst/>
              <a:rect r="r" b="b" t="t" l="l"/>
              <a:pathLst>
                <a:path h="64008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95372" r="0" b="-39537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46304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300">
                  <a:solidFill>
                    <a:srgbClr val="22D3E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OBJECTIVES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1165860"/>
            <a:ext cx="15773400" cy="960120"/>
            <a:chOff x="0" y="0"/>
            <a:chExt cx="21031200" cy="12801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0312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0111" r="0" b="-270111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1031200" cy="1299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0B1E3D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What the System Aims to Achieve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40867" y="2527935"/>
            <a:ext cx="3918852" cy="1843278"/>
            <a:chOff x="0" y="0"/>
            <a:chExt cx="5225136" cy="245770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225161" cy="2457704"/>
            </a:xfrm>
            <a:custGeom>
              <a:avLst/>
              <a:gdLst/>
              <a:ahLst/>
              <a:cxnLst/>
              <a:rect r="r" b="b" t="t" l="l"/>
              <a:pathLst>
                <a:path h="2457704" w="5225161">
                  <a:moveTo>
                    <a:pt x="0" y="184785"/>
                  </a:moveTo>
                  <a:cubicBezTo>
                    <a:pt x="0" y="82677"/>
                    <a:pt x="82677" y="0"/>
                    <a:pt x="184785" y="0"/>
                  </a:cubicBezTo>
                  <a:lnTo>
                    <a:pt x="5040376" y="0"/>
                  </a:lnTo>
                  <a:cubicBezTo>
                    <a:pt x="5142484" y="0"/>
                    <a:pt x="5225161" y="82677"/>
                    <a:pt x="5225161" y="184785"/>
                  </a:cubicBezTo>
                  <a:lnTo>
                    <a:pt x="5225161" y="2272919"/>
                  </a:lnTo>
                  <a:cubicBezTo>
                    <a:pt x="5225161" y="2375027"/>
                    <a:pt x="5142484" y="2457704"/>
                    <a:pt x="5040376" y="2457704"/>
                  </a:cubicBezTo>
                  <a:lnTo>
                    <a:pt x="184785" y="2457704"/>
                  </a:lnTo>
                  <a:cubicBezTo>
                    <a:pt x="82677" y="2457704"/>
                    <a:pt x="0" y="2375027"/>
                    <a:pt x="0" y="2272919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CE5F0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2361381" y="2756916"/>
            <a:ext cx="877824" cy="877824"/>
            <a:chOff x="0" y="0"/>
            <a:chExt cx="1170432" cy="117043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70432" cy="1170432"/>
            </a:xfrm>
            <a:custGeom>
              <a:avLst/>
              <a:gdLst/>
              <a:ahLst/>
              <a:cxnLst/>
              <a:rect r="r" b="b" t="t" l="l"/>
              <a:pathLst>
                <a:path h="1170432" w="1170432">
                  <a:moveTo>
                    <a:pt x="0" y="585216"/>
                  </a:moveTo>
                  <a:cubicBezTo>
                    <a:pt x="0" y="262001"/>
                    <a:pt x="262001" y="0"/>
                    <a:pt x="585216" y="0"/>
                  </a:cubicBezTo>
                  <a:cubicBezTo>
                    <a:pt x="908431" y="0"/>
                    <a:pt x="1170432" y="262001"/>
                    <a:pt x="1170432" y="585216"/>
                  </a:cubicBezTo>
                  <a:cubicBezTo>
                    <a:pt x="1170432" y="908431"/>
                    <a:pt x="908431" y="1170432"/>
                    <a:pt x="585216" y="1170432"/>
                  </a:cubicBezTo>
                  <a:cubicBezTo>
                    <a:pt x="262001" y="1170432"/>
                    <a:pt x="0" y="908431"/>
                    <a:pt x="0" y="585216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589619" y="2985154"/>
            <a:ext cx="421357" cy="421357"/>
            <a:chOff x="0" y="0"/>
            <a:chExt cx="561810" cy="561810"/>
          </a:xfrm>
        </p:grpSpPr>
        <p:sp>
          <p:nvSpPr>
            <p:cNvPr name="Freeform 13" id="13" descr="/home/claude/ppt/icons/face_white.png"/>
            <p:cNvSpPr/>
            <p:nvPr/>
          </p:nvSpPr>
          <p:spPr>
            <a:xfrm flipH="false" flipV="false" rot="0">
              <a:off x="0" y="0"/>
              <a:ext cx="561848" cy="561848"/>
            </a:xfrm>
            <a:custGeom>
              <a:avLst/>
              <a:gdLst/>
              <a:ahLst/>
              <a:cxnLst/>
              <a:rect r="r" b="b" t="t" l="l"/>
              <a:pathLst>
                <a:path h="561848" w="561848">
                  <a:moveTo>
                    <a:pt x="0" y="0"/>
                  </a:moveTo>
                  <a:lnTo>
                    <a:pt x="561848" y="0"/>
                  </a:lnTo>
                  <a:lnTo>
                    <a:pt x="561848" y="561848"/>
                  </a:lnTo>
                  <a:lnTo>
                    <a:pt x="0" y="5618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6" b="6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051560" y="3806952"/>
            <a:ext cx="3497466" cy="399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79"/>
              </a:lnSpc>
            </a:pPr>
            <a:r>
              <a:rPr lang="en-US" sz="1575" b="true">
                <a:solidFill>
                  <a:srgbClr val="0B1E3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Automated Face-Recognition Attendance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5069853" y="2527935"/>
            <a:ext cx="3918852" cy="1843278"/>
            <a:chOff x="0" y="0"/>
            <a:chExt cx="5225136" cy="245770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225161" cy="2457704"/>
            </a:xfrm>
            <a:custGeom>
              <a:avLst/>
              <a:gdLst/>
              <a:ahLst/>
              <a:cxnLst/>
              <a:rect r="r" b="b" t="t" l="l"/>
              <a:pathLst>
                <a:path h="2457704" w="5225161">
                  <a:moveTo>
                    <a:pt x="0" y="184785"/>
                  </a:moveTo>
                  <a:cubicBezTo>
                    <a:pt x="0" y="82677"/>
                    <a:pt x="82677" y="0"/>
                    <a:pt x="184785" y="0"/>
                  </a:cubicBezTo>
                  <a:lnTo>
                    <a:pt x="5040376" y="0"/>
                  </a:lnTo>
                  <a:cubicBezTo>
                    <a:pt x="5142484" y="0"/>
                    <a:pt x="5225161" y="82677"/>
                    <a:pt x="5225161" y="184785"/>
                  </a:cubicBezTo>
                  <a:lnTo>
                    <a:pt x="5225161" y="2272919"/>
                  </a:lnTo>
                  <a:cubicBezTo>
                    <a:pt x="5225161" y="2375027"/>
                    <a:pt x="5142484" y="2457704"/>
                    <a:pt x="5040376" y="2457704"/>
                  </a:cubicBezTo>
                  <a:lnTo>
                    <a:pt x="184785" y="2457704"/>
                  </a:lnTo>
                  <a:cubicBezTo>
                    <a:pt x="82677" y="2457704"/>
                    <a:pt x="0" y="2375027"/>
                    <a:pt x="0" y="2272919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CE5F0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6590367" y="2756916"/>
            <a:ext cx="877824" cy="877824"/>
            <a:chOff x="0" y="0"/>
            <a:chExt cx="1170432" cy="117043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170432" cy="1170432"/>
            </a:xfrm>
            <a:custGeom>
              <a:avLst/>
              <a:gdLst/>
              <a:ahLst/>
              <a:cxnLst/>
              <a:rect r="r" b="b" t="t" l="l"/>
              <a:pathLst>
                <a:path h="1170432" w="1170432">
                  <a:moveTo>
                    <a:pt x="0" y="585216"/>
                  </a:moveTo>
                  <a:cubicBezTo>
                    <a:pt x="0" y="262001"/>
                    <a:pt x="262001" y="0"/>
                    <a:pt x="585216" y="0"/>
                  </a:cubicBezTo>
                  <a:cubicBezTo>
                    <a:pt x="908431" y="0"/>
                    <a:pt x="1170432" y="262001"/>
                    <a:pt x="1170432" y="585216"/>
                  </a:cubicBezTo>
                  <a:cubicBezTo>
                    <a:pt x="1170432" y="908431"/>
                    <a:pt x="908431" y="1170432"/>
                    <a:pt x="585216" y="1170432"/>
                  </a:cubicBezTo>
                  <a:cubicBezTo>
                    <a:pt x="262001" y="1170432"/>
                    <a:pt x="0" y="908431"/>
                    <a:pt x="0" y="585216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6818605" y="2985154"/>
            <a:ext cx="421357" cy="421357"/>
            <a:chOff x="0" y="0"/>
            <a:chExt cx="561810" cy="561810"/>
          </a:xfrm>
        </p:grpSpPr>
        <p:sp>
          <p:nvSpPr>
            <p:cNvPr name="Freeform 20" id="20" descr="/home/claude/ppt/icons/ban_white.png"/>
            <p:cNvSpPr/>
            <p:nvPr/>
          </p:nvSpPr>
          <p:spPr>
            <a:xfrm flipH="false" flipV="false" rot="0">
              <a:off x="0" y="0"/>
              <a:ext cx="561848" cy="561848"/>
            </a:xfrm>
            <a:custGeom>
              <a:avLst/>
              <a:gdLst/>
              <a:ahLst/>
              <a:cxnLst/>
              <a:rect r="r" b="b" t="t" l="l"/>
              <a:pathLst>
                <a:path h="561848" w="561848">
                  <a:moveTo>
                    <a:pt x="0" y="0"/>
                  </a:moveTo>
                  <a:lnTo>
                    <a:pt x="561848" y="0"/>
                  </a:lnTo>
                  <a:lnTo>
                    <a:pt x="561848" y="561848"/>
                  </a:lnTo>
                  <a:lnTo>
                    <a:pt x="0" y="5618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6" b="6"/>
              </a:stretch>
            </a:blip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5280546" y="3806952"/>
            <a:ext cx="3497466" cy="399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79"/>
              </a:lnSpc>
            </a:pPr>
            <a:r>
              <a:rPr lang="en-US" sz="1575" b="true">
                <a:solidFill>
                  <a:srgbClr val="0B1E3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Eliminate Manual Attendance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9298838" y="2527935"/>
            <a:ext cx="3918852" cy="1843278"/>
            <a:chOff x="0" y="0"/>
            <a:chExt cx="5225136" cy="245770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225161" cy="2457704"/>
            </a:xfrm>
            <a:custGeom>
              <a:avLst/>
              <a:gdLst/>
              <a:ahLst/>
              <a:cxnLst/>
              <a:rect r="r" b="b" t="t" l="l"/>
              <a:pathLst>
                <a:path h="2457704" w="5225161">
                  <a:moveTo>
                    <a:pt x="0" y="184785"/>
                  </a:moveTo>
                  <a:cubicBezTo>
                    <a:pt x="0" y="82677"/>
                    <a:pt x="82677" y="0"/>
                    <a:pt x="184785" y="0"/>
                  </a:cubicBezTo>
                  <a:lnTo>
                    <a:pt x="5040376" y="0"/>
                  </a:lnTo>
                  <a:cubicBezTo>
                    <a:pt x="5142484" y="0"/>
                    <a:pt x="5225161" y="82677"/>
                    <a:pt x="5225161" y="184785"/>
                  </a:cubicBezTo>
                  <a:lnTo>
                    <a:pt x="5225161" y="2272919"/>
                  </a:lnTo>
                  <a:cubicBezTo>
                    <a:pt x="5225161" y="2375027"/>
                    <a:pt x="5142484" y="2457704"/>
                    <a:pt x="5040376" y="2457704"/>
                  </a:cubicBezTo>
                  <a:lnTo>
                    <a:pt x="184785" y="2457704"/>
                  </a:lnTo>
                  <a:cubicBezTo>
                    <a:pt x="82677" y="2457704"/>
                    <a:pt x="0" y="2375027"/>
                    <a:pt x="0" y="2272919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CE5F0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10819352" y="2756916"/>
            <a:ext cx="877824" cy="877824"/>
            <a:chOff x="0" y="0"/>
            <a:chExt cx="1170432" cy="1170432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170432" cy="1170432"/>
            </a:xfrm>
            <a:custGeom>
              <a:avLst/>
              <a:gdLst/>
              <a:ahLst/>
              <a:cxnLst/>
              <a:rect r="r" b="b" t="t" l="l"/>
              <a:pathLst>
                <a:path h="1170432" w="1170432">
                  <a:moveTo>
                    <a:pt x="0" y="585216"/>
                  </a:moveTo>
                  <a:cubicBezTo>
                    <a:pt x="0" y="262001"/>
                    <a:pt x="262001" y="0"/>
                    <a:pt x="585216" y="0"/>
                  </a:cubicBezTo>
                  <a:cubicBezTo>
                    <a:pt x="908431" y="0"/>
                    <a:pt x="1170432" y="262001"/>
                    <a:pt x="1170432" y="585216"/>
                  </a:cubicBezTo>
                  <a:cubicBezTo>
                    <a:pt x="1170432" y="908431"/>
                    <a:pt x="908431" y="1170432"/>
                    <a:pt x="585216" y="1170432"/>
                  </a:cubicBezTo>
                  <a:cubicBezTo>
                    <a:pt x="262001" y="1170432"/>
                    <a:pt x="0" y="908431"/>
                    <a:pt x="0" y="585216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1047590" y="2985154"/>
            <a:ext cx="421357" cy="421357"/>
            <a:chOff x="0" y="0"/>
            <a:chExt cx="561810" cy="561810"/>
          </a:xfrm>
        </p:grpSpPr>
        <p:sp>
          <p:nvSpPr>
            <p:cNvPr name="Freeform 27" id="27" descr="/home/claude/ppt/icons/userplus_white.png"/>
            <p:cNvSpPr/>
            <p:nvPr/>
          </p:nvSpPr>
          <p:spPr>
            <a:xfrm flipH="false" flipV="false" rot="0">
              <a:off x="0" y="0"/>
              <a:ext cx="561848" cy="561848"/>
            </a:xfrm>
            <a:custGeom>
              <a:avLst/>
              <a:gdLst/>
              <a:ahLst/>
              <a:cxnLst/>
              <a:rect r="r" b="b" t="t" l="l"/>
              <a:pathLst>
                <a:path h="561848" w="561848">
                  <a:moveTo>
                    <a:pt x="0" y="0"/>
                  </a:moveTo>
                  <a:lnTo>
                    <a:pt x="561848" y="0"/>
                  </a:lnTo>
                  <a:lnTo>
                    <a:pt x="561848" y="561848"/>
                  </a:lnTo>
                  <a:lnTo>
                    <a:pt x="0" y="5618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6" b="6"/>
              </a:stretch>
            </a:blip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9509531" y="3806952"/>
            <a:ext cx="3497466" cy="399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79"/>
              </a:lnSpc>
            </a:pPr>
            <a:r>
              <a:rPr lang="en-US" sz="1575" b="true">
                <a:solidFill>
                  <a:srgbClr val="0B1E3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Student Registration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13527824" y="2527935"/>
            <a:ext cx="3918852" cy="1843278"/>
            <a:chOff x="0" y="0"/>
            <a:chExt cx="5225136" cy="2457704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225161" cy="2457704"/>
            </a:xfrm>
            <a:custGeom>
              <a:avLst/>
              <a:gdLst/>
              <a:ahLst/>
              <a:cxnLst/>
              <a:rect r="r" b="b" t="t" l="l"/>
              <a:pathLst>
                <a:path h="2457704" w="5225161">
                  <a:moveTo>
                    <a:pt x="0" y="184785"/>
                  </a:moveTo>
                  <a:cubicBezTo>
                    <a:pt x="0" y="82677"/>
                    <a:pt x="82677" y="0"/>
                    <a:pt x="184785" y="0"/>
                  </a:cubicBezTo>
                  <a:lnTo>
                    <a:pt x="5040376" y="0"/>
                  </a:lnTo>
                  <a:cubicBezTo>
                    <a:pt x="5142484" y="0"/>
                    <a:pt x="5225161" y="82677"/>
                    <a:pt x="5225161" y="184785"/>
                  </a:cubicBezTo>
                  <a:lnTo>
                    <a:pt x="5225161" y="2272919"/>
                  </a:lnTo>
                  <a:cubicBezTo>
                    <a:pt x="5225161" y="2375027"/>
                    <a:pt x="5142484" y="2457704"/>
                    <a:pt x="5040376" y="2457704"/>
                  </a:cubicBezTo>
                  <a:lnTo>
                    <a:pt x="184785" y="2457704"/>
                  </a:lnTo>
                  <a:cubicBezTo>
                    <a:pt x="82677" y="2457704"/>
                    <a:pt x="0" y="2375027"/>
                    <a:pt x="0" y="2272919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CE5F0"/>
              </a:solidFill>
              <a:prstDash val="solid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15048338" y="2756916"/>
            <a:ext cx="877824" cy="877824"/>
            <a:chOff x="0" y="0"/>
            <a:chExt cx="1170432" cy="1170432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170432" cy="1170432"/>
            </a:xfrm>
            <a:custGeom>
              <a:avLst/>
              <a:gdLst/>
              <a:ahLst/>
              <a:cxnLst/>
              <a:rect r="r" b="b" t="t" l="l"/>
              <a:pathLst>
                <a:path h="1170432" w="1170432">
                  <a:moveTo>
                    <a:pt x="0" y="585216"/>
                  </a:moveTo>
                  <a:cubicBezTo>
                    <a:pt x="0" y="262001"/>
                    <a:pt x="262001" y="0"/>
                    <a:pt x="585216" y="0"/>
                  </a:cubicBezTo>
                  <a:cubicBezTo>
                    <a:pt x="908431" y="0"/>
                    <a:pt x="1170432" y="262001"/>
                    <a:pt x="1170432" y="585216"/>
                  </a:cubicBezTo>
                  <a:cubicBezTo>
                    <a:pt x="1170432" y="908431"/>
                    <a:pt x="908431" y="1170432"/>
                    <a:pt x="585216" y="1170432"/>
                  </a:cubicBezTo>
                  <a:cubicBezTo>
                    <a:pt x="262001" y="1170432"/>
                    <a:pt x="0" y="908431"/>
                    <a:pt x="0" y="585216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5276576" y="2985154"/>
            <a:ext cx="421357" cy="421357"/>
            <a:chOff x="0" y="0"/>
            <a:chExt cx="561810" cy="561810"/>
          </a:xfrm>
        </p:grpSpPr>
        <p:sp>
          <p:nvSpPr>
            <p:cNvPr name="Freeform 34" id="34" descr="/home/claude/ppt/icons/fingerprint_white.png"/>
            <p:cNvSpPr/>
            <p:nvPr/>
          </p:nvSpPr>
          <p:spPr>
            <a:xfrm flipH="false" flipV="false" rot="0">
              <a:off x="0" y="0"/>
              <a:ext cx="561848" cy="561848"/>
            </a:xfrm>
            <a:custGeom>
              <a:avLst/>
              <a:gdLst/>
              <a:ahLst/>
              <a:cxnLst/>
              <a:rect r="r" b="b" t="t" l="l"/>
              <a:pathLst>
                <a:path h="561848" w="561848">
                  <a:moveTo>
                    <a:pt x="0" y="0"/>
                  </a:moveTo>
                  <a:lnTo>
                    <a:pt x="561848" y="0"/>
                  </a:lnTo>
                  <a:lnTo>
                    <a:pt x="561848" y="561848"/>
                  </a:lnTo>
                  <a:lnTo>
                    <a:pt x="0" y="5618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6" b="6"/>
              </a:stretch>
            </a:blipFill>
          </p:spPr>
        </p:sp>
      </p:grpSp>
      <p:sp>
        <p:nvSpPr>
          <p:cNvPr name="TextBox 35" id="35"/>
          <p:cNvSpPr txBox="true"/>
          <p:nvPr/>
        </p:nvSpPr>
        <p:spPr>
          <a:xfrm rot="0">
            <a:off x="13738517" y="3806952"/>
            <a:ext cx="3497466" cy="399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79"/>
              </a:lnSpc>
            </a:pPr>
            <a:r>
              <a:rPr lang="en-US" sz="1575" b="true">
                <a:solidFill>
                  <a:srgbClr val="0B1E3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Facial Embedding-Based Identification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840867" y="4653915"/>
            <a:ext cx="3918852" cy="1843278"/>
            <a:chOff x="0" y="0"/>
            <a:chExt cx="5225136" cy="2457704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5225161" cy="2457704"/>
            </a:xfrm>
            <a:custGeom>
              <a:avLst/>
              <a:gdLst/>
              <a:ahLst/>
              <a:cxnLst/>
              <a:rect r="r" b="b" t="t" l="l"/>
              <a:pathLst>
                <a:path h="2457704" w="5225161">
                  <a:moveTo>
                    <a:pt x="0" y="184785"/>
                  </a:moveTo>
                  <a:cubicBezTo>
                    <a:pt x="0" y="82677"/>
                    <a:pt x="82677" y="0"/>
                    <a:pt x="184785" y="0"/>
                  </a:cubicBezTo>
                  <a:lnTo>
                    <a:pt x="5040376" y="0"/>
                  </a:lnTo>
                  <a:cubicBezTo>
                    <a:pt x="5142484" y="0"/>
                    <a:pt x="5225161" y="82677"/>
                    <a:pt x="5225161" y="184785"/>
                  </a:cubicBezTo>
                  <a:lnTo>
                    <a:pt x="5225161" y="2272919"/>
                  </a:lnTo>
                  <a:cubicBezTo>
                    <a:pt x="5225161" y="2375027"/>
                    <a:pt x="5142484" y="2457704"/>
                    <a:pt x="5040376" y="2457704"/>
                  </a:cubicBezTo>
                  <a:lnTo>
                    <a:pt x="184785" y="2457704"/>
                  </a:lnTo>
                  <a:cubicBezTo>
                    <a:pt x="82677" y="2457704"/>
                    <a:pt x="0" y="2375027"/>
                    <a:pt x="0" y="2272919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CE5F0"/>
              </a:solidFill>
              <a:prstDash val="solid"/>
              <a:miter/>
            </a:ln>
          </p:spPr>
        </p:sp>
      </p:grpSp>
      <p:grpSp>
        <p:nvGrpSpPr>
          <p:cNvPr name="Group 38" id="38"/>
          <p:cNvGrpSpPr/>
          <p:nvPr/>
        </p:nvGrpSpPr>
        <p:grpSpPr>
          <a:xfrm rot="0">
            <a:off x="2361381" y="4882896"/>
            <a:ext cx="877824" cy="877824"/>
            <a:chOff x="0" y="0"/>
            <a:chExt cx="1170432" cy="1170432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170432" cy="1170432"/>
            </a:xfrm>
            <a:custGeom>
              <a:avLst/>
              <a:gdLst/>
              <a:ahLst/>
              <a:cxnLst/>
              <a:rect r="r" b="b" t="t" l="l"/>
              <a:pathLst>
                <a:path h="1170432" w="1170432">
                  <a:moveTo>
                    <a:pt x="0" y="585216"/>
                  </a:moveTo>
                  <a:cubicBezTo>
                    <a:pt x="0" y="262001"/>
                    <a:pt x="262001" y="0"/>
                    <a:pt x="585216" y="0"/>
                  </a:cubicBezTo>
                  <a:cubicBezTo>
                    <a:pt x="908431" y="0"/>
                    <a:pt x="1170432" y="262001"/>
                    <a:pt x="1170432" y="585216"/>
                  </a:cubicBezTo>
                  <a:cubicBezTo>
                    <a:pt x="1170432" y="908431"/>
                    <a:pt x="908431" y="1170432"/>
                    <a:pt x="585216" y="1170432"/>
                  </a:cubicBezTo>
                  <a:cubicBezTo>
                    <a:pt x="262001" y="1170432"/>
                    <a:pt x="0" y="908431"/>
                    <a:pt x="0" y="585216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2589619" y="5111134"/>
            <a:ext cx="421357" cy="421357"/>
            <a:chOff x="0" y="0"/>
            <a:chExt cx="561810" cy="561810"/>
          </a:xfrm>
        </p:grpSpPr>
        <p:sp>
          <p:nvSpPr>
            <p:cNvPr name="Freeform 41" id="41" descr="/home/claude/ppt/icons/clock_white.png"/>
            <p:cNvSpPr/>
            <p:nvPr/>
          </p:nvSpPr>
          <p:spPr>
            <a:xfrm flipH="false" flipV="false" rot="0">
              <a:off x="0" y="0"/>
              <a:ext cx="561848" cy="561848"/>
            </a:xfrm>
            <a:custGeom>
              <a:avLst/>
              <a:gdLst/>
              <a:ahLst/>
              <a:cxnLst/>
              <a:rect r="r" b="b" t="t" l="l"/>
              <a:pathLst>
                <a:path h="561848" w="561848">
                  <a:moveTo>
                    <a:pt x="0" y="0"/>
                  </a:moveTo>
                  <a:lnTo>
                    <a:pt x="561848" y="0"/>
                  </a:lnTo>
                  <a:lnTo>
                    <a:pt x="561848" y="561848"/>
                  </a:lnTo>
                  <a:lnTo>
                    <a:pt x="0" y="5618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6" b="6"/>
              </a:stretch>
            </a:blipFill>
          </p:spPr>
        </p:sp>
      </p:grpSp>
      <p:sp>
        <p:nvSpPr>
          <p:cNvPr name="TextBox 42" id="42"/>
          <p:cNvSpPr txBox="true"/>
          <p:nvPr/>
        </p:nvSpPr>
        <p:spPr>
          <a:xfrm rot="0">
            <a:off x="1051560" y="5932932"/>
            <a:ext cx="3497466" cy="399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79"/>
              </a:lnSpc>
            </a:pPr>
            <a:r>
              <a:rPr lang="en-US" sz="1575" b="true">
                <a:solidFill>
                  <a:srgbClr val="0B1E3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Date, Time, Status &amp; Confidence Logging</a:t>
            </a:r>
          </a:p>
        </p:txBody>
      </p:sp>
      <p:grpSp>
        <p:nvGrpSpPr>
          <p:cNvPr name="Group 43" id="43"/>
          <p:cNvGrpSpPr/>
          <p:nvPr/>
        </p:nvGrpSpPr>
        <p:grpSpPr>
          <a:xfrm rot="0">
            <a:off x="5069853" y="4653915"/>
            <a:ext cx="3918852" cy="1843278"/>
            <a:chOff x="0" y="0"/>
            <a:chExt cx="5225136" cy="2457704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5225161" cy="2457704"/>
            </a:xfrm>
            <a:custGeom>
              <a:avLst/>
              <a:gdLst/>
              <a:ahLst/>
              <a:cxnLst/>
              <a:rect r="r" b="b" t="t" l="l"/>
              <a:pathLst>
                <a:path h="2457704" w="5225161">
                  <a:moveTo>
                    <a:pt x="0" y="184785"/>
                  </a:moveTo>
                  <a:cubicBezTo>
                    <a:pt x="0" y="82677"/>
                    <a:pt x="82677" y="0"/>
                    <a:pt x="184785" y="0"/>
                  </a:cubicBezTo>
                  <a:lnTo>
                    <a:pt x="5040376" y="0"/>
                  </a:lnTo>
                  <a:cubicBezTo>
                    <a:pt x="5142484" y="0"/>
                    <a:pt x="5225161" y="82677"/>
                    <a:pt x="5225161" y="184785"/>
                  </a:cubicBezTo>
                  <a:lnTo>
                    <a:pt x="5225161" y="2272919"/>
                  </a:lnTo>
                  <a:cubicBezTo>
                    <a:pt x="5225161" y="2375027"/>
                    <a:pt x="5142484" y="2457704"/>
                    <a:pt x="5040376" y="2457704"/>
                  </a:cubicBezTo>
                  <a:lnTo>
                    <a:pt x="184785" y="2457704"/>
                  </a:lnTo>
                  <a:cubicBezTo>
                    <a:pt x="82677" y="2457704"/>
                    <a:pt x="0" y="2375027"/>
                    <a:pt x="0" y="2272919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CE5F0"/>
              </a:solidFill>
              <a:prstDash val="solid"/>
              <a:miter/>
            </a:ln>
          </p:spPr>
        </p:sp>
      </p:grpSp>
      <p:grpSp>
        <p:nvGrpSpPr>
          <p:cNvPr name="Group 45" id="45"/>
          <p:cNvGrpSpPr/>
          <p:nvPr/>
        </p:nvGrpSpPr>
        <p:grpSpPr>
          <a:xfrm rot="0">
            <a:off x="6590367" y="4882896"/>
            <a:ext cx="877824" cy="877824"/>
            <a:chOff x="0" y="0"/>
            <a:chExt cx="1170432" cy="1170432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170432" cy="1170432"/>
            </a:xfrm>
            <a:custGeom>
              <a:avLst/>
              <a:gdLst/>
              <a:ahLst/>
              <a:cxnLst/>
              <a:rect r="r" b="b" t="t" l="l"/>
              <a:pathLst>
                <a:path h="1170432" w="1170432">
                  <a:moveTo>
                    <a:pt x="0" y="585216"/>
                  </a:moveTo>
                  <a:cubicBezTo>
                    <a:pt x="0" y="262001"/>
                    <a:pt x="262001" y="0"/>
                    <a:pt x="585216" y="0"/>
                  </a:cubicBezTo>
                  <a:cubicBezTo>
                    <a:pt x="908431" y="0"/>
                    <a:pt x="1170432" y="262001"/>
                    <a:pt x="1170432" y="585216"/>
                  </a:cubicBezTo>
                  <a:cubicBezTo>
                    <a:pt x="1170432" y="908431"/>
                    <a:pt x="908431" y="1170432"/>
                    <a:pt x="585216" y="1170432"/>
                  </a:cubicBezTo>
                  <a:cubicBezTo>
                    <a:pt x="262001" y="1170432"/>
                    <a:pt x="0" y="908431"/>
                    <a:pt x="0" y="585216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6818605" y="5111134"/>
            <a:ext cx="421357" cy="421357"/>
            <a:chOff x="0" y="0"/>
            <a:chExt cx="561810" cy="561810"/>
          </a:xfrm>
        </p:grpSpPr>
        <p:sp>
          <p:nvSpPr>
            <p:cNvPr name="Freeform 48" id="48" descr="/home/claude/ppt/icons/calendar_white.png"/>
            <p:cNvSpPr/>
            <p:nvPr/>
          </p:nvSpPr>
          <p:spPr>
            <a:xfrm flipH="false" flipV="false" rot="0">
              <a:off x="0" y="0"/>
              <a:ext cx="561848" cy="561848"/>
            </a:xfrm>
            <a:custGeom>
              <a:avLst/>
              <a:gdLst/>
              <a:ahLst/>
              <a:cxnLst/>
              <a:rect r="r" b="b" t="t" l="l"/>
              <a:pathLst>
                <a:path h="561848" w="561848">
                  <a:moveTo>
                    <a:pt x="0" y="0"/>
                  </a:moveTo>
                  <a:lnTo>
                    <a:pt x="561848" y="0"/>
                  </a:lnTo>
                  <a:lnTo>
                    <a:pt x="561848" y="561848"/>
                  </a:lnTo>
                  <a:lnTo>
                    <a:pt x="0" y="5618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6" b="6"/>
              </a:stretch>
            </a:blipFill>
          </p:spPr>
        </p:sp>
      </p:grpSp>
      <p:sp>
        <p:nvSpPr>
          <p:cNvPr name="TextBox 49" id="49"/>
          <p:cNvSpPr txBox="true"/>
          <p:nvPr/>
        </p:nvSpPr>
        <p:spPr>
          <a:xfrm rot="0">
            <a:off x="5280546" y="5932932"/>
            <a:ext cx="3497466" cy="399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79"/>
              </a:lnSpc>
            </a:pPr>
            <a:r>
              <a:rPr lang="en-US" sz="1575" b="true">
                <a:solidFill>
                  <a:srgbClr val="0B1E3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One Attendance Record / Student / Day</a:t>
            </a:r>
          </a:p>
        </p:txBody>
      </p:sp>
      <p:grpSp>
        <p:nvGrpSpPr>
          <p:cNvPr name="Group 50" id="50"/>
          <p:cNvGrpSpPr/>
          <p:nvPr/>
        </p:nvGrpSpPr>
        <p:grpSpPr>
          <a:xfrm rot="0">
            <a:off x="9298838" y="4653915"/>
            <a:ext cx="3918852" cy="1843278"/>
            <a:chOff x="0" y="0"/>
            <a:chExt cx="5225136" cy="2457704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5225161" cy="2457704"/>
            </a:xfrm>
            <a:custGeom>
              <a:avLst/>
              <a:gdLst/>
              <a:ahLst/>
              <a:cxnLst/>
              <a:rect r="r" b="b" t="t" l="l"/>
              <a:pathLst>
                <a:path h="2457704" w="5225161">
                  <a:moveTo>
                    <a:pt x="0" y="184785"/>
                  </a:moveTo>
                  <a:cubicBezTo>
                    <a:pt x="0" y="82677"/>
                    <a:pt x="82677" y="0"/>
                    <a:pt x="184785" y="0"/>
                  </a:cubicBezTo>
                  <a:lnTo>
                    <a:pt x="5040376" y="0"/>
                  </a:lnTo>
                  <a:cubicBezTo>
                    <a:pt x="5142484" y="0"/>
                    <a:pt x="5225161" y="82677"/>
                    <a:pt x="5225161" y="184785"/>
                  </a:cubicBezTo>
                  <a:lnTo>
                    <a:pt x="5225161" y="2272919"/>
                  </a:lnTo>
                  <a:cubicBezTo>
                    <a:pt x="5225161" y="2375027"/>
                    <a:pt x="5142484" y="2457704"/>
                    <a:pt x="5040376" y="2457704"/>
                  </a:cubicBezTo>
                  <a:lnTo>
                    <a:pt x="184785" y="2457704"/>
                  </a:lnTo>
                  <a:cubicBezTo>
                    <a:pt x="82677" y="2457704"/>
                    <a:pt x="0" y="2375027"/>
                    <a:pt x="0" y="2272919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CE5F0"/>
              </a:solidFill>
              <a:prstDash val="solid"/>
              <a:miter/>
            </a:ln>
          </p:spPr>
        </p:sp>
      </p:grpSp>
      <p:grpSp>
        <p:nvGrpSpPr>
          <p:cNvPr name="Group 52" id="52"/>
          <p:cNvGrpSpPr/>
          <p:nvPr/>
        </p:nvGrpSpPr>
        <p:grpSpPr>
          <a:xfrm rot="0">
            <a:off x="10819352" y="4882896"/>
            <a:ext cx="877824" cy="877824"/>
            <a:chOff x="0" y="0"/>
            <a:chExt cx="1170432" cy="1170432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170432" cy="1170432"/>
            </a:xfrm>
            <a:custGeom>
              <a:avLst/>
              <a:gdLst/>
              <a:ahLst/>
              <a:cxnLst/>
              <a:rect r="r" b="b" t="t" l="l"/>
              <a:pathLst>
                <a:path h="1170432" w="1170432">
                  <a:moveTo>
                    <a:pt x="0" y="585216"/>
                  </a:moveTo>
                  <a:cubicBezTo>
                    <a:pt x="0" y="262001"/>
                    <a:pt x="262001" y="0"/>
                    <a:pt x="585216" y="0"/>
                  </a:cubicBezTo>
                  <a:cubicBezTo>
                    <a:pt x="908431" y="0"/>
                    <a:pt x="1170432" y="262001"/>
                    <a:pt x="1170432" y="585216"/>
                  </a:cubicBezTo>
                  <a:cubicBezTo>
                    <a:pt x="1170432" y="908431"/>
                    <a:pt x="908431" y="1170432"/>
                    <a:pt x="585216" y="1170432"/>
                  </a:cubicBezTo>
                  <a:cubicBezTo>
                    <a:pt x="262001" y="1170432"/>
                    <a:pt x="0" y="908431"/>
                    <a:pt x="0" y="585216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11047590" y="5111134"/>
            <a:ext cx="421357" cy="421357"/>
            <a:chOff x="0" y="0"/>
            <a:chExt cx="561810" cy="561810"/>
          </a:xfrm>
        </p:grpSpPr>
        <p:sp>
          <p:nvSpPr>
            <p:cNvPr name="Freeform 55" id="55" descr="/home/claude/ppt/icons/desktop_white.png"/>
            <p:cNvSpPr/>
            <p:nvPr/>
          </p:nvSpPr>
          <p:spPr>
            <a:xfrm flipH="false" flipV="false" rot="0">
              <a:off x="0" y="0"/>
              <a:ext cx="561848" cy="561848"/>
            </a:xfrm>
            <a:custGeom>
              <a:avLst/>
              <a:gdLst/>
              <a:ahLst/>
              <a:cxnLst/>
              <a:rect r="r" b="b" t="t" l="l"/>
              <a:pathLst>
                <a:path h="561848" w="561848">
                  <a:moveTo>
                    <a:pt x="0" y="0"/>
                  </a:moveTo>
                  <a:lnTo>
                    <a:pt x="561848" y="0"/>
                  </a:lnTo>
                  <a:lnTo>
                    <a:pt x="561848" y="561848"/>
                  </a:lnTo>
                  <a:lnTo>
                    <a:pt x="0" y="5618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6" b="6"/>
              </a:stretch>
            </a:blipFill>
          </p:spPr>
        </p:sp>
      </p:grpSp>
      <p:sp>
        <p:nvSpPr>
          <p:cNvPr name="TextBox 56" id="56"/>
          <p:cNvSpPr txBox="true"/>
          <p:nvPr/>
        </p:nvSpPr>
        <p:spPr>
          <a:xfrm rot="0">
            <a:off x="9509531" y="5932932"/>
            <a:ext cx="3497466" cy="399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79"/>
              </a:lnSpc>
            </a:pPr>
            <a:r>
              <a:rPr lang="en-US" sz="1575" b="true">
                <a:solidFill>
                  <a:srgbClr val="0B1E3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Web-Based Dashboard</a:t>
            </a:r>
          </a:p>
        </p:txBody>
      </p:sp>
      <p:grpSp>
        <p:nvGrpSpPr>
          <p:cNvPr name="Group 57" id="57"/>
          <p:cNvGrpSpPr/>
          <p:nvPr/>
        </p:nvGrpSpPr>
        <p:grpSpPr>
          <a:xfrm rot="0">
            <a:off x="13527824" y="4653915"/>
            <a:ext cx="3918852" cy="1843278"/>
            <a:chOff x="0" y="0"/>
            <a:chExt cx="5225136" cy="2457704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5225161" cy="2457704"/>
            </a:xfrm>
            <a:custGeom>
              <a:avLst/>
              <a:gdLst/>
              <a:ahLst/>
              <a:cxnLst/>
              <a:rect r="r" b="b" t="t" l="l"/>
              <a:pathLst>
                <a:path h="2457704" w="5225161">
                  <a:moveTo>
                    <a:pt x="0" y="184785"/>
                  </a:moveTo>
                  <a:cubicBezTo>
                    <a:pt x="0" y="82677"/>
                    <a:pt x="82677" y="0"/>
                    <a:pt x="184785" y="0"/>
                  </a:cubicBezTo>
                  <a:lnTo>
                    <a:pt x="5040376" y="0"/>
                  </a:lnTo>
                  <a:cubicBezTo>
                    <a:pt x="5142484" y="0"/>
                    <a:pt x="5225161" y="82677"/>
                    <a:pt x="5225161" y="184785"/>
                  </a:cubicBezTo>
                  <a:lnTo>
                    <a:pt x="5225161" y="2272919"/>
                  </a:lnTo>
                  <a:cubicBezTo>
                    <a:pt x="5225161" y="2375027"/>
                    <a:pt x="5142484" y="2457704"/>
                    <a:pt x="5040376" y="2457704"/>
                  </a:cubicBezTo>
                  <a:lnTo>
                    <a:pt x="184785" y="2457704"/>
                  </a:lnTo>
                  <a:cubicBezTo>
                    <a:pt x="82677" y="2457704"/>
                    <a:pt x="0" y="2375027"/>
                    <a:pt x="0" y="2272919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CE5F0"/>
              </a:solidFill>
              <a:prstDash val="solid"/>
              <a:miter/>
            </a:ln>
          </p:spPr>
        </p:sp>
      </p:grpSp>
      <p:grpSp>
        <p:nvGrpSpPr>
          <p:cNvPr name="Group 59" id="59"/>
          <p:cNvGrpSpPr/>
          <p:nvPr/>
        </p:nvGrpSpPr>
        <p:grpSpPr>
          <a:xfrm rot="0">
            <a:off x="15048338" y="4882896"/>
            <a:ext cx="877824" cy="877824"/>
            <a:chOff x="0" y="0"/>
            <a:chExt cx="1170432" cy="1170432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170432" cy="1170432"/>
            </a:xfrm>
            <a:custGeom>
              <a:avLst/>
              <a:gdLst/>
              <a:ahLst/>
              <a:cxnLst/>
              <a:rect r="r" b="b" t="t" l="l"/>
              <a:pathLst>
                <a:path h="1170432" w="1170432">
                  <a:moveTo>
                    <a:pt x="0" y="585216"/>
                  </a:moveTo>
                  <a:cubicBezTo>
                    <a:pt x="0" y="262001"/>
                    <a:pt x="262001" y="0"/>
                    <a:pt x="585216" y="0"/>
                  </a:cubicBezTo>
                  <a:cubicBezTo>
                    <a:pt x="908431" y="0"/>
                    <a:pt x="1170432" y="262001"/>
                    <a:pt x="1170432" y="585216"/>
                  </a:cubicBezTo>
                  <a:cubicBezTo>
                    <a:pt x="1170432" y="908431"/>
                    <a:pt x="908431" y="1170432"/>
                    <a:pt x="585216" y="1170432"/>
                  </a:cubicBezTo>
                  <a:cubicBezTo>
                    <a:pt x="262001" y="1170432"/>
                    <a:pt x="0" y="908431"/>
                    <a:pt x="0" y="585216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15276576" y="5111134"/>
            <a:ext cx="421357" cy="421357"/>
            <a:chOff x="0" y="0"/>
            <a:chExt cx="561810" cy="561810"/>
          </a:xfrm>
        </p:grpSpPr>
        <p:sp>
          <p:nvSpPr>
            <p:cNvPr name="Freeform 62" id="62" descr="/home/claude/ppt/icons/microchip_white.png"/>
            <p:cNvSpPr/>
            <p:nvPr/>
          </p:nvSpPr>
          <p:spPr>
            <a:xfrm flipH="false" flipV="false" rot="0">
              <a:off x="0" y="0"/>
              <a:ext cx="561848" cy="561848"/>
            </a:xfrm>
            <a:custGeom>
              <a:avLst/>
              <a:gdLst/>
              <a:ahLst/>
              <a:cxnLst/>
              <a:rect r="r" b="b" t="t" l="l"/>
              <a:pathLst>
                <a:path h="561848" w="561848">
                  <a:moveTo>
                    <a:pt x="0" y="0"/>
                  </a:moveTo>
                  <a:lnTo>
                    <a:pt x="561848" y="0"/>
                  </a:lnTo>
                  <a:lnTo>
                    <a:pt x="561848" y="561848"/>
                  </a:lnTo>
                  <a:lnTo>
                    <a:pt x="0" y="5618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6" b="6"/>
              </a:stretch>
            </a:blipFill>
          </p:spPr>
        </p:sp>
      </p:grpSp>
      <p:sp>
        <p:nvSpPr>
          <p:cNvPr name="TextBox 63" id="63"/>
          <p:cNvSpPr txBox="true"/>
          <p:nvPr/>
        </p:nvSpPr>
        <p:spPr>
          <a:xfrm rot="0">
            <a:off x="13738517" y="5932932"/>
            <a:ext cx="3497466" cy="399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79"/>
              </a:lnSpc>
            </a:pPr>
            <a:r>
              <a:rPr lang="en-US" sz="1575" b="true">
                <a:solidFill>
                  <a:srgbClr val="0B1E3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IoT Integration with SiWG917</a:t>
            </a:r>
          </a:p>
        </p:txBody>
      </p:sp>
      <p:grpSp>
        <p:nvGrpSpPr>
          <p:cNvPr name="Group 64" id="64"/>
          <p:cNvGrpSpPr/>
          <p:nvPr/>
        </p:nvGrpSpPr>
        <p:grpSpPr>
          <a:xfrm rot="0">
            <a:off x="840867" y="6779895"/>
            <a:ext cx="3918852" cy="1843278"/>
            <a:chOff x="0" y="0"/>
            <a:chExt cx="5225136" cy="2457704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5225161" cy="2457704"/>
            </a:xfrm>
            <a:custGeom>
              <a:avLst/>
              <a:gdLst/>
              <a:ahLst/>
              <a:cxnLst/>
              <a:rect r="r" b="b" t="t" l="l"/>
              <a:pathLst>
                <a:path h="2457704" w="5225161">
                  <a:moveTo>
                    <a:pt x="0" y="184785"/>
                  </a:moveTo>
                  <a:cubicBezTo>
                    <a:pt x="0" y="82677"/>
                    <a:pt x="82677" y="0"/>
                    <a:pt x="184785" y="0"/>
                  </a:cubicBezTo>
                  <a:lnTo>
                    <a:pt x="5040376" y="0"/>
                  </a:lnTo>
                  <a:cubicBezTo>
                    <a:pt x="5142484" y="0"/>
                    <a:pt x="5225161" y="82677"/>
                    <a:pt x="5225161" y="184785"/>
                  </a:cubicBezTo>
                  <a:lnTo>
                    <a:pt x="5225161" y="2272919"/>
                  </a:lnTo>
                  <a:cubicBezTo>
                    <a:pt x="5225161" y="2375027"/>
                    <a:pt x="5142484" y="2457704"/>
                    <a:pt x="5040376" y="2457704"/>
                  </a:cubicBezTo>
                  <a:lnTo>
                    <a:pt x="184785" y="2457704"/>
                  </a:lnTo>
                  <a:cubicBezTo>
                    <a:pt x="82677" y="2457704"/>
                    <a:pt x="0" y="2375027"/>
                    <a:pt x="0" y="2272919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CE5F0"/>
              </a:solidFill>
              <a:prstDash val="solid"/>
              <a:miter/>
            </a:ln>
          </p:spPr>
        </p:sp>
      </p:grpSp>
      <p:grpSp>
        <p:nvGrpSpPr>
          <p:cNvPr name="Group 66" id="66"/>
          <p:cNvGrpSpPr/>
          <p:nvPr/>
        </p:nvGrpSpPr>
        <p:grpSpPr>
          <a:xfrm rot="0">
            <a:off x="2361381" y="7008876"/>
            <a:ext cx="877824" cy="877824"/>
            <a:chOff x="0" y="0"/>
            <a:chExt cx="1170432" cy="1170432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170432" cy="1170432"/>
            </a:xfrm>
            <a:custGeom>
              <a:avLst/>
              <a:gdLst/>
              <a:ahLst/>
              <a:cxnLst/>
              <a:rect r="r" b="b" t="t" l="l"/>
              <a:pathLst>
                <a:path h="1170432" w="1170432">
                  <a:moveTo>
                    <a:pt x="0" y="585216"/>
                  </a:moveTo>
                  <a:cubicBezTo>
                    <a:pt x="0" y="262001"/>
                    <a:pt x="262001" y="0"/>
                    <a:pt x="585216" y="0"/>
                  </a:cubicBezTo>
                  <a:cubicBezTo>
                    <a:pt x="908431" y="0"/>
                    <a:pt x="1170432" y="262001"/>
                    <a:pt x="1170432" y="585216"/>
                  </a:cubicBezTo>
                  <a:cubicBezTo>
                    <a:pt x="1170432" y="908431"/>
                    <a:pt x="908431" y="1170432"/>
                    <a:pt x="585216" y="1170432"/>
                  </a:cubicBezTo>
                  <a:cubicBezTo>
                    <a:pt x="262001" y="1170432"/>
                    <a:pt x="0" y="908431"/>
                    <a:pt x="0" y="585216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2589619" y="7237114"/>
            <a:ext cx="421357" cy="421357"/>
            <a:chOff x="0" y="0"/>
            <a:chExt cx="561810" cy="561810"/>
          </a:xfrm>
        </p:grpSpPr>
        <p:sp>
          <p:nvSpPr>
            <p:cNvPr name="Freeform 69" id="69" descr="/home/claude/ppt/icons/led_white.png"/>
            <p:cNvSpPr/>
            <p:nvPr/>
          </p:nvSpPr>
          <p:spPr>
            <a:xfrm flipH="false" flipV="false" rot="0">
              <a:off x="0" y="0"/>
              <a:ext cx="561848" cy="561848"/>
            </a:xfrm>
            <a:custGeom>
              <a:avLst/>
              <a:gdLst/>
              <a:ahLst/>
              <a:cxnLst/>
              <a:rect r="r" b="b" t="t" l="l"/>
              <a:pathLst>
                <a:path h="561848" w="561848">
                  <a:moveTo>
                    <a:pt x="0" y="0"/>
                  </a:moveTo>
                  <a:lnTo>
                    <a:pt x="561848" y="0"/>
                  </a:lnTo>
                  <a:lnTo>
                    <a:pt x="561848" y="561848"/>
                  </a:lnTo>
                  <a:lnTo>
                    <a:pt x="0" y="5618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6" b="6"/>
              </a:stretch>
            </a:blipFill>
          </p:spPr>
        </p:sp>
      </p:grpSp>
      <p:sp>
        <p:nvSpPr>
          <p:cNvPr name="TextBox 70" id="70"/>
          <p:cNvSpPr txBox="true"/>
          <p:nvPr/>
        </p:nvSpPr>
        <p:spPr>
          <a:xfrm rot="0">
            <a:off x="1051560" y="8058912"/>
            <a:ext cx="3497466" cy="399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79"/>
              </a:lnSpc>
            </a:pPr>
            <a:r>
              <a:rPr lang="en-US" sz="1575" b="true">
                <a:solidFill>
                  <a:srgbClr val="0B1E3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RGB LED Status Indication</a:t>
            </a:r>
          </a:p>
        </p:txBody>
      </p:sp>
      <p:grpSp>
        <p:nvGrpSpPr>
          <p:cNvPr name="Group 71" id="71"/>
          <p:cNvGrpSpPr/>
          <p:nvPr/>
        </p:nvGrpSpPr>
        <p:grpSpPr>
          <a:xfrm rot="0">
            <a:off x="5069853" y="6779895"/>
            <a:ext cx="3918852" cy="1843278"/>
            <a:chOff x="0" y="0"/>
            <a:chExt cx="5225136" cy="2457704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5225161" cy="2457704"/>
            </a:xfrm>
            <a:custGeom>
              <a:avLst/>
              <a:gdLst/>
              <a:ahLst/>
              <a:cxnLst/>
              <a:rect r="r" b="b" t="t" l="l"/>
              <a:pathLst>
                <a:path h="2457704" w="5225161">
                  <a:moveTo>
                    <a:pt x="0" y="184785"/>
                  </a:moveTo>
                  <a:cubicBezTo>
                    <a:pt x="0" y="82677"/>
                    <a:pt x="82677" y="0"/>
                    <a:pt x="184785" y="0"/>
                  </a:cubicBezTo>
                  <a:lnTo>
                    <a:pt x="5040376" y="0"/>
                  </a:lnTo>
                  <a:cubicBezTo>
                    <a:pt x="5142484" y="0"/>
                    <a:pt x="5225161" y="82677"/>
                    <a:pt x="5225161" y="184785"/>
                  </a:cubicBezTo>
                  <a:lnTo>
                    <a:pt x="5225161" y="2272919"/>
                  </a:lnTo>
                  <a:cubicBezTo>
                    <a:pt x="5225161" y="2375027"/>
                    <a:pt x="5142484" y="2457704"/>
                    <a:pt x="5040376" y="2457704"/>
                  </a:cubicBezTo>
                  <a:lnTo>
                    <a:pt x="184785" y="2457704"/>
                  </a:lnTo>
                  <a:cubicBezTo>
                    <a:pt x="82677" y="2457704"/>
                    <a:pt x="0" y="2375027"/>
                    <a:pt x="0" y="2272919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CE5F0"/>
              </a:solidFill>
              <a:prstDash val="solid"/>
              <a:miter/>
            </a:ln>
          </p:spPr>
        </p:sp>
      </p:grpSp>
      <p:grpSp>
        <p:nvGrpSpPr>
          <p:cNvPr name="Group 73" id="73"/>
          <p:cNvGrpSpPr/>
          <p:nvPr/>
        </p:nvGrpSpPr>
        <p:grpSpPr>
          <a:xfrm rot="0">
            <a:off x="6590367" y="7008876"/>
            <a:ext cx="877824" cy="877824"/>
            <a:chOff x="0" y="0"/>
            <a:chExt cx="1170432" cy="1170432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1170432" cy="1170432"/>
            </a:xfrm>
            <a:custGeom>
              <a:avLst/>
              <a:gdLst/>
              <a:ahLst/>
              <a:cxnLst/>
              <a:rect r="r" b="b" t="t" l="l"/>
              <a:pathLst>
                <a:path h="1170432" w="1170432">
                  <a:moveTo>
                    <a:pt x="0" y="585216"/>
                  </a:moveTo>
                  <a:cubicBezTo>
                    <a:pt x="0" y="262001"/>
                    <a:pt x="262001" y="0"/>
                    <a:pt x="585216" y="0"/>
                  </a:cubicBezTo>
                  <a:cubicBezTo>
                    <a:pt x="908431" y="0"/>
                    <a:pt x="1170432" y="262001"/>
                    <a:pt x="1170432" y="585216"/>
                  </a:cubicBezTo>
                  <a:cubicBezTo>
                    <a:pt x="1170432" y="908431"/>
                    <a:pt x="908431" y="1170432"/>
                    <a:pt x="585216" y="1170432"/>
                  </a:cubicBezTo>
                  <a:cubicBezTo>
                    <a:pt x="262001" y="1170432"/>
                    <a:pt x="0" y="908431"/>
                    <a:pt x="0" y="585216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75" id="75"/>
          <p:cNvGrpSpPr/>
          <p:nvPr/>
        </p:nvGrpSpPr>
        <p:grpSpPr>
          <a:xfrm rot="0">
            <a:off x="6818605" y="7237114"/>
            <a:ext cx="421357" cy="421357"/>
            <a:chOff x="0" y="0"/>
            <a:chExt cx="561810" cy="561810"/>
          </a:xfrm>
        </p:grpSpPr>
        <p:sp>
          <p:nvSpPr>
            <p:cNvPr name="Freeform 76" id="76" descr="/home/claude/ppt/icons/filecsv_white.png"/>
            <p:cNvSpPr/>
            <p:nvPr/>
          </p:nvSpPr>
          <p:spPr>
            <a:xfrm flipH="false" flipV="false" rot="0">
              <a:off x="0" y="0"/>
              <a:ext cx="561848" cy="561848"/>
            </a:xfrm>
            <a:custGeom>
              <a:avLst/>
              <a:gdLst/>
              <a:ahLst/>
              <a:cxnLst/>
              <a:rect r="r" b="b" t="t" l="l"/>
              <a:pathLst>
                <a:path h="561848" w="561848">
                  <a:moveTo>
                    <a:pt x="0" y="0"/>
                  </a:moveTo>
                  <a:lnTo>
                    <a:pt x="561848" y="0"/>
                  </a:lnTo>
                  <a:lnTo>
                    <a:pt x="561848" y="561848"/>
                  </a:lnTo>
                  <a:lnTo>
                    <a:pt x="0" y="5618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6" b="6"/>
              </a:stretch>
            </a:blipFill>
          </p:spPr>
        </p:sp>
      </p:grpSp>
      <p:sp>
        <p:nvSpPr>
          <p:cNvPr name="TextBox 77" id="77"/>
          <p:cNvSpPr txBox="true"/>
          <p:nvPr/>
        </p:nvSpPr>
        <p:spPr>
          <a:xfrm rot="0">
            <a:off x="5280546" y="8058912"/>
            <a:ext cx="3497466" cy="399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79"/>
              </a:lnSpc>
            </a:pPr>
            <a:r>
              <a:rPr lang="en-US" sz="1575" b="true">
                <a:solidFill>
                  <a:srgbClr val="0B1E3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CSV Attendance Reports</a:t>
            </a:r>
          </a:p>
        </p:txBody>
      </p:sp>
      <p:grpSp>
        <p:nvGrpSpPr>
          <p:cNvPr name="Group 78" id="78"/>
          <p:cNvGrpSpPr/>
          <p:nvPr/>
        </p:nvGrpSpPr>
        <p:grpSpPr>
          <a:xfrm rot="0">
            <a:off x="9298838" y="6779895"/>
            <a:ext cx="3918852" cy="1843278"/>
            <a:chOff x="0" y="0"/>
            <a:chExt cx="5225136" cy="2457704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5225161" cy="2457704"/>
            </a:xfrm>
            <a:custGeom>
              <a:avLst/>
              <a:gdLst/>
              <a:ahLst/>
              <a:cxnLst/>
              <a:rect r="r" b="b" t="t" l="l"/>
              <a:pathLst>
                <a:path h="2457704" w="5225161">
                  <a:moveTo>
                    <a:pt x="0" y="184785"/>
                  </a:moveTo>
                  <a:cubicBezTo>
                    <a:pt x="0" y="82677"/>
                    <a:pt x="82677" y="0"/>
                    <a:pt x="184785" y="0"/>
                  </a:cubicBezTo>
                  <a:lnTo>
                    <a:pt x="5040376" y="0"/>
                  </a:lnTo>
                  <a:cubicBezTo>
                    <a:pt x="5142484" y="0"/>
                    <a:pt x="5225161" y="82677"/>
                    <a:pt x="5225161" y="184785"/>
                  </a:cubicBezTo>
                  <a:lnTo>
                    <a:pt x="5225161" y="2272919"/>
                  </a:lnTo>
                  <a:cubicBezTo>
                    <a:pt x="5225161" y="2375027"/>
                    <a:pt x="5142484" y="2457704"/>
                    <a:pt x="5040376" y="2457704"/>
                  </a:cubicBezTo>
                  <a:lnTo>
                    <a:pt x="184785" y="2457704"/>
                  </a:lnTo>
                  <a:cubicBezTo>
                    <a:pt x="82677" y="2457704"/>
                    <a:pt x="0" y="2375027"/>
                    <a:pt x="0" y="2272919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CE5F0"/>
              </a:solidFill>
              <a:prstDash val="solid"/>
              <a:miter/>
            </a:ln>
          </p:spPr>
        </p:sp>
      </p:grpSp>
      <p:grpSp>
        <p:nvGrpSpPr>
          <p:cNvPr name="Group 80" id="80"/>
          <p:cNvGrpSpPr/>
          <p:nvPr/>
        </p:nvGrpSpPr>
        <p:grpSpPr>
          <a:xfrm rot="0">
            <a:off x="10819352" y="7008876"/>
            <a:ext cx="877824" cy="877824"/>
            <a:chOff x="0" y="0"/>
            <a:chExt cx="1170432" cy="1170432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1170432" cy="1170432"/>
            </a:xfrm>
            <a:custGeom>
              <a:avLst/>
              <a:gdLst/>
              <a:ahLst/>
              <a:cxnLst/>
              <a:rect r="r" b="b" t="t" l="l"/>
              <a:pathLst>
                <a:path h="1170432" w="1170432">
                  <a:moveTo>
                    <a:pt x="0" y="585216"/>
                  </a:moveTo>
                  <a:cubicBezTo>
                    <a:pt x="0" y="262001"/>
                    <a:pt x="262001" y="0"/>
                    <a:pt x="585216" y="0"/>
                  </a:cubicBezTo>
                  <a:cubicBezTo>
                    <a:pt x="908431" y="0"/>
                    <a:pt x="1170432" y="262001"/>
                    <a:pt x="1170432" y="585216"/>
                  </a:cubicBezTo>
                  <a:cubicBezTo>
                    <a:pt x="1170432" y="908431"/>
                    <a:pt x="908431" y="1170432"/>
                    <a:pt x="585216" y="1170432"/>
                  </a:cubicBezTo>
                  <a:cubicBezTo>
                    <a:pt x="262001" y="1170432"/>
                    <a:pt x="0" y="908431"/>
                    <a:pt x="0" y="585216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82" id="82"/>
          <p:cNvGrpSpPr/>
          <p:nvPr/>
        </p:nvGrpSpPr>
        <p:grpSpPr>
          <a:xfrm rot="0">
            <a:off x="11047590" y="7237114"/>
            <a:ext cx="421357" cy="421357"/>
            <a:chOff x="0" y="0"/>
            <a:chExt cx="561810" cy="561810"/>
          </a:xfrm>
        </p:grpSpPr>
        <p:sp>
          <p:nvSpPr>
            <p:cNvPr name="Freeform 83" id="83" descr="/home/claude/ppt/icons/gauge_white.png"/>
            <p:cNvSpPr/>
            <p:nvPr/>
          </p:nvSpPr>
          <p:spPr>
            <a:xfrm flipH="false" flipV="false" rot="0">
              <a:off x="0" y="0"/>
              <a:ext cx="561848" cy="561848"/>
            </a:xfrm>
            <a:custGeom>
              <a:avLst/>
              <a:gdLst/>
              <a:ahLst/>
              <a:cxnLst/>
              <a:rect r="r" b="b" t="t" l="l"/>
              <a:pathLst>
                <a:path h="561848" w="561848">
                  <a:moveTo>
                    <a:pt x="0" y="0"/>
                  </a:moveTo>
                  <a:lnTo>
                    <a:pt x="561848" y="0"/>
                  </a:lnTo>
                  <a:lnTo>
                    <a:pt x="561848" y="561848"/>
                  </a:lnTo>
                  <a:lnTo>
                    <a:pt x="0" y="5618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6" b="6"/>
              </a:stretch>
            </a:blipFill>
          </p:spPr>
        </p:sp>
      </p:grpSp>
      <p:sp>
        <p:nvSpPr>
          <p:cNvPr name="TextBox 84" id="84"/>
          <p:cNvSpPr txBox="true"/>
          <p:nvPr/>
        </p:nvSpPr>
        <p:spPr>
          <a:xfrm rot="0">
            <a:off x="9509531" y="8058912"/>
            <a:ext cx="3497466" cy="399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79"/>
              </a:lnSpc>
            </a:pPr>
            <a:r>
              <a:rPr lang="en-US" sz="1575" b="true">
                <a:solidFill>
                  <a:srgbClr val="0B1E3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Low-Cost, Scalable Design</a:t>
            </a:r>
          </a:p>
        </p:txBody>
      </p:sp>
      <p:grpSp>
        <p:nvGrpSpPr>
          <p:cNvPr name="Group 85" id="85"/>
          <p:cNvGrpSpPr/>
          <p:nvPr/>
        </p:nvGrpSpPr>
        <p:grpSpPr>
          <a:xfrm rot="0">
            <a:off x="685800" y="9738360"/>
            <a:ext cx="9601200" cy="411480"/>
            <a:chOff x="0" y="0"/>
            <a:chExt cx="12801600" cy="54864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12801600" cy="548640"/>
            </a:xfrm>
            <a:custGeom>
              <a:avLst/>
              <a:gdLst/>
              <a:ahLst/>
              <a:cxnLst/>
              <a:rect r="r" b="b" t="t" l="l"/>
              <a:pathLst>
                <a:path h="548640" w="12801600">
                  <a:moveTo>
                    <a:pt x="0" y="0"/>
                  </a:moveTo>
                  <a:lnTo>
                    <a:pt x="12801600" y="0"/>
                  </a:lnTo>
                  <a:lnTo>
                    <a:pt x="128016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04650" r="0" b="-404650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-19050"/>
              <a:ext cx="1280160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sz="1200" spc="150">
                  <a:solidFill>
                    <a:srgbClr val="9FB0C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SMART FACE ATTENDANCE &amp; ACCESS GATE SYSTEM</a:t>
              </a: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16915943" y="9738360"/>
            <a:ext cx="685800" cy="411480"/>
            <a:chOff x="0" y="0"/>
            <a:chExt cx="914400" cy="548640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90" id="90"/>
            <p:cNvSpPr txBox="true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9FB0C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03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85800"/>
            <a:ext cx="10972800" cy="480060"/>
            <a:chOff x="0" y="0"/>
            <a:chExt cx="146304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640080"/>
            </a:xfrm>
            <a:custGeom>
              <a:avLst/>
              <a:gdLst/>
              <a:ahLst/>
              <a:cxnLst/>
              <a:rect r="r" b="b" t="t" l="l"/>
              <a:pathLst>
                <a:path h="64008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95372" r="0" b="-39537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46304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300">
                  <a:solidFill>
                    <a:srgbClr val="22D3E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SYSTEM OVERVIEW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1165860"/>
            <a:ext cx="15773400" cy="960120"/>
            <a:chOff x="0" y="0"/>
            <a:chExt cx="21031200" cy="12801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0312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0111" r="0" b="-270111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1031200" cy="1299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System Architecture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85800" y="2537460"/>
            <a:ext cx="2613584" cy="1303020"/>
            <a:chOff x="0" y="0"/>
            <a:chExt cx="3484778" cy="173736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484753" cy="1737360"/>
            </a:xfrm>
            <a:custGeom>
              <a:avLst/>
              <a:gdLst/>
              <a:ahLst/>
              <a:cxnLst/>
              <a:rect r="r" b="b" t="t" l="l"/>
              <a:pathLst>
                <a:path h="1737360" w="3484753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3338449" y="0"/>
                  </a:lnTo>
                  <a:cubicBezTo>
                    <a:pt x="3419221" y="0"/>
                    <a:pt x="3484753" y="65532"/>
                    <a:pt x="3484753" y="146304"/>
                  </a:cubicBezTo>
                  <a:lnTo>
                    <a:pt x="3484753" y="1591056"/>
                  </a:lnTo>
                  <a:cubicBezTo>
                    <a:pt x="3484753" y="1671828"/>
                    <a:pt x="3419221" y="1737360"/>
                    <a:pt x="3338449" y="1737360"/>
                  </a:cubicBezTo>
                  <a:lnTo>
                    <a:pt x="146304" y="1737360"/>
                  </a:lnTo>
                  <a:cubicBezTo>
                    <a:pt x="65532" y="1737360"/>
                    <a:pt x="0" y="1671828"/>
                    <a:pt x="0" y="1591056"/>
                  </a:cubicBezTo>
                  <a:close/>
                </a:path>
              </a:pathLst>
            </a:custGeom>
            <a:solidFill>
              <a:srgbClr val="1D3F70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740664" y="2537460"/>
            <a:ext cx="2503856" cy="1303020"/>
            <a:chOff x="0" y="0"/>
            <a:chExt cx="3338474" cy="173736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338474" cy="1737360"/>
            </a:xfrm>
            <a:custGeom>
              <a:avLst/>
              <a:gdLst/>
              <a:ahLst/>
              <a:cxnLst/>
              <a:rect r="r" b="b" t="t" l="l"/>
              <a:pathLst>
                <a:path h="1737360" w="3338474">
                  <a:moveTo>
                    <a:pt x="0" y="0"/>
                  </a:moveTo>
                  <a:lnTo>
                    <a:pt x="3338474" y="0"/>
                  </a:lnTo>
                  <a:lnTo>
                    <a:pt x="3338474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6769" t="0" r="-16769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28575"/>
              <a:ext cx="3338474" cy="17659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4"/>
                </a:lnSpc>
              </a:pPr>
              <a:r>
                <a:rPr lang="en-US" sz="157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Student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3313100" y="3106674"/>
            <a:ext cx="219456" cy="301752"/>
            <a:chOff x="0" y="0"/>
            <a:chExt cx="292608" cy="40233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92608" cy="402336"/>
            </a:xfrm>
            <a:custGeom>
              <a:avLst/>
              <a:gdLst/>
              <a:ahLst/>
              <a:cxnLst/>
              <a:rect r="r" b="b" t="t" l="l"/>
              <a:pathLst>
                <a:path h="402336" w="292608">
                  <a:moveTo>
                    <a:pt x="0" y="100584"/>
                  </a:moveTo>
                  <a:lnTo>
                    <a:pt x="146304" y="100584"/>
                  </a:lnTo>
                  <a:lnTo>
                    <a:pt x="146304" y="0"/>
                  </a:lnTo>
                  <a:lnTo>
                    <a:pt x="292608" y="201168"/>
                  </a:lnTo>
                  <a:lnTo>
                    <a:pt x="146304" y="402336"/>
                  </a:lnTo>
                  <a:lnTo>
                    <a:pt x="146304" y="301752"/>
                  </a:lnTo>
                  <a:lnTo>
                    <a:pt x="0" y="301752"/>
                  </a:lnTo>
                  <a:close/>
                </a:path>
              </a:pathLst>
            </a:custGeom>
            <a:solidFill>
              <a:srgbClr val="22D3EE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3546272" y="2537460"/>
            <a:ext cx="2613584" cy="1303020"/>
            <a:chOff x="0" y="0"/>
            <a:chExt cx="3484778" cy="173736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484753" cy="1737360"/>
            </a:xfrm>
            <a:custGeom>
              <a:avLst/>
              <a:gdLst/>
              <a:ahLst/>
              <a:cxnLst/>
              <a:rect r="r" b="b" t="t" l="l"/>
              <a:pathLst>
                <a:path h="1737360" w="3484753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3338449" y="0"/>
                  </a:lnTo>
                  <a:cubicBezTo>
                    <a:pt x="3419221" y="0"/>
                    <a:pt x="3484753" y="65532"/>
                    <a:pt x="3484753" y="146304"/>
                  </a:cubicBezTo>
                  <a:lnTo>
                    <a:pt x="3484753" y="1591056"/>
                  </a:lnTo>
                  <a:cubicBezTo>
                    <a:pt x="3484753" y="1671828"/>
                    <a:pt x="3419221" y="1737360"/>
                    <a:pt x="3338449" y="1737360"/>
                  </a:cubicBezTo>
                  <a:lnTo>
                    <a:pt x="146304" y="1737360"/>
                  </a:lnTo>
                  <a:cubicBezTo>
                    <a:pt x="65532" y="1737360"/>
                    <a:pt x="0" y="1671828"/>
                    <a:pt x="0" y="1591056"/>
                  </a:cubicBezTo>
                  <a:close/>
                </a:path>
              </a:pathLst>
            </a:custGeom>
            <a:solidFill>
              <a:srgbClr val="1D3F70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3601136" y="2537460"/>
            <a:ext cx="2503856" cy="1303020"/>
            <a:chOff x="0" y="0"/>
            <a:chExt cx="3338474" cy="173736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338474" cy="1737360"/>
            </a:xfrm>
            <a:custGeom>
              <a:avLst/>
              <a:gdLst/>
              <a:ahLst/>
              <a:cxnLst/>
              <a:rect r="r" b="b" t="t" l="l"/>
              <a:pathLst>
                <a:path h="1737360" w="3338474">
                  <a:moveTo>
                    <a:pt x="0" y="0"/>
                  </a:moveTo>
                  <a:lnTo>
                    <a:pt x="3338474" y="0"/>
                  </a:lnTo>
                  <a:lnTo>
                    <a:pt x="3338474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6769" t="0" r="-16769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28575"/>
              <a:ext cx="3338474" cy="17659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4"/>
                </a:lnSpc>
              </a:pPr>
              <a:r>
                <a:rPr lang="en-US" sz="157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Webcam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6173572" y="3106674"/>
            <a:ext cx="219456" cy="301752"/>
            <a:chOff x="0" y="0"/>
            <a:chExt cx="292608" cy="40233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92608" cy="402336"/>
            </a:xfrm>
            <a:custGeom>
              <a:avLst/>
              <a:gdLst/>
              <a:ahLst/>
              <a:cxnLst/>
              <a:rect r="r" b="b" t="t" l="l"/>
              <a:pathLst>
                <a:path h="402336" w="292608">
                  <a:moveTo>
                    <a:pt x="0" y="100584"/>
                  </a:moveTo>
                  <a:lnTo>
                    <a:pt x="146304" y="100584"/>
                  </a:lnTo>
                  <a:lnTo>
                    <a:pt x="146304" y="0"/>
                  </a:lnTo>
                  <a:lnTo>
                    <a:pt x="292608" y="201168"/>
                  </a:lnTo>
                  <a:lnTo>
                    <a:pt x="146304" y="402336"/>
                  </a:lnTo>
                  <a:lnTo>
                    <a:pt x="146304" y="301752"/>
                  </a:lnTo>
                  <a:lnTo>
                    <a:pt x="0" y="301752"/>
                  </a:lnTo>
                  <a:close/>
                </a:path>
              </a:pathLst>
            </a:custGeom>
            <a:solidFill>
              <a:srgbClr val="22D3EE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6406744" y="2537460"/>
            <a:ext cx="2613584" cy="1303020"/>
            <a:chOff x="0" y="0"/>
            <a:chExt cx="3484778" cy="173736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484753" cy="1737360"/>
            </a:xfrm>
            <a:custGeom>
              <a:avLst/>
              <a:gdLst/>
              <a:ahLst/>
              <a:cxnLst/>
              <a:rect r="r" b="b" t="t" l="l"/>
              <a:pathLst>
                <a:path h="1737360" w="3484753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3338449" y="0"/>
                  </a:lnTo>
                  <a:cubicBezTo>
                    <a:pt x="3419221" y="0"/>
                    <a:pt x="3484753" y="65532"/>
                    <a:pt x="3484753" y="146304"/>
                  </a:cubicBezTo>
                  <a:lnTo>
                    <a:pt x="3484753" y="1591056"/>
                  </a:lnTo>
                  <a:cubicBezTo>
                    <a:pt x="3484753" y="1671828"/>
                    <a:pt x="3419221" y="1737360"/>
                    <a:pt x="3338449" y="1737360"/>
                  </a:cubicBezTo>
                  <a:lnTo>
                    <a:pt x="146304" y="1737360"/>
                  </a:lnTo>
                  <a:cubicBezTo>
                    <a:pt x="65532" y="1737360"/>
                    <a:pt x="0" y="1671828"/>
                    <a:pt x="0" y="1591056"/>
                  </a:cubicBezTo>
                  <a:close/>
                </a:path>
              </a:pathLst>
            </a:custGeom>
            <a:solidFill>
              <a:srgbClr val="1D3F70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6461608" y="2537460"/>
            <a:ext cx="2503856" cy="1303020"/>
            <a:chOff x="0" y="0"/>
            <a:chExt cx="3338474" cy="173736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338474" cy="1737360"/>
            </a:xfrm>
            <a:custGeom>
              <a:avLst/>
              <a:gdLst/>
              <a:ahLst/>
              <a:cxnLst/>
              <a:rect r="r" b="b" t="t" l="l"/>
              <a:pathLst>
                <a:path h="1737360" w="3338474">
                  <a:moveTo>
                    <a:pt x="0" y="0"/>
                  </a:moveTo>
                  <a:lnTo>
                    <a:pt x="3338474" y="0"/>
                  </a:lnTo>
                  <a:lnTo>
                    <a:pt x="3338474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6769" t="0" r="-16769" b="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28575"/>
              <a:ext cx="3338474" cy="17659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4"/>
                </a:lnSpc>
              </a:pPr>
              <a:r>
                <a:rPr lang="en-US" sz="157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Python /</a:t>
              </a:r>
            </a:p>
            <a:p>
              <a:pPr algn="ctr">
                <a:lnSpc>
                  <a:spcPts val="1984"/>
                </a:lnSpc>
              </a:pPr>
              <a:r>
                <a:rPr lang="en-US" sz="157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FastAPI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034043" y="3106674"/>
            <a:ext cx="219456" cy="301752"/>
            <a:chOff x="0" y="0"/>
            <a:chExt cx="292608" cy="402336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92608" cy="402336"/>
            </a:xfrm>
            <a:custGeom>
              <a:avLst/>
              <a:gdLst/>
              <a:ahLst/>
              <a:cxnLst/>
              <a:rect r="r" b="b" t="t" l="l"/>
              <a:pathLst>
                <a:path h="402336" w="292608">
                  <a:moveTo>
                    <a:pt x="0" y="100584"/>
                  </a:moveTo>
                  <a:lnTo>
                    <a:pt x="146304" y="100584"/>
                  </a:lnTo>
                  <a:lnTo>
                    <a:pt x="146304" y="0"/>
                  </a:lnTo>
                  <a:lnTo>
                    <a:pt x="292608" y="201168"/>
                  </a:lnTo>
                  <a:lnTo>
                    <a:pt x="146304" y="402336"/>
                  </a:lnTo>
                  <a:lnTo>
                    <a:pt x="146304" y="301752"/>
                  </a:lnTo>
                  <a:lnTo>
                    <a:pt x="0" y="301752"/>
                  </a:lnTo>
                  <a:close/>
                </a:path>
              </a:pathLst>
            </a:custGeom>
            <a:solidFill>
              <a:srgbClr val="22D3EE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9267215" y="2537460"/>
            <a:ext cx="2613584" cy="1303020"/>
            <a:chOff x="0" y="0"/>
            <a:chExt cx="3484778" cy="173736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484753" cy="1737360"/>
            </a:xfrm>
            <a:custGeom>
              <a:avLst/>
              <a:gdLst/>
              <a:ahLst/>
              <a:cxnLst/>
              <a:rect r="r" b="b" t="t" l="l"/>
              <a:pathLst>
                <a:path h="1737360" w="3484753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3338449" y="0"/>
                  </a:lnTo>
                  <a:cubicBezTo>
                    <a:pt x="3419221" y="0"/>
                    <a:pt x="3484753" y="65532"/>
                    <a:pt x="3484753" y="146304"/>
                  </a:cubicBezTo>
                  <a:lnTo>
                    <a:pt x="3484753" y="1591056"/>
                  </a:lnTo>
                  <a:cubicBezTo>
                    <a:pt x="3484753" y="1671828"/>
                    <a:pt x="3419221" y="1737360"/>
                    <a:pt x="3338449" y="1737360"/>
                  </a:cubicBezTo>
                  <a:lnTo>
                    <a:pt x="146304" y="1737360"/>
                  </a:lnTo>
                  <a:cubicBezTo>
                    <a:pt x="65532" y="1737360"/>
                    <a:pt x="0" y="1671828"/>
                    <a:pt x="0" y="1591056"/>
                  </a:cubicBezTo>
                  <a:close/>
                </a:path>
              </a:pathLst>
            </a:custGeom>
            <a:solidFill>
              <a:srgbClr val="1D3F70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9322079" y="2537460"/>
            <a:ext cx="2503856" cy="1303020"/>
            <a:chOff x="0" y="0"/>
            <a:chExt cx="3338474" cy="173736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3338474" cy="1737360"/>
            </a:xfrm>
            <a:custGeom>
              <a:avLst/>
              <a:gdLst/>
              <a:ahLst/>
              <a:cxnLst/>
              <a:rect r="r" b="b" t="t" l="l"/>
              <a:pathLst>
                <a:path h="1737360" w="3338474">
                  <a:moveTo>
                    <a:pt x="0" y="0"/>
                  </a:moveTo>
                  <a:lnTo>
                    <a:pt x="3338474" y="0"/>
                  </a:lnTo>
                  <a:lnTo>
                    <a:pt x="3338474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6769" t="0" r="-16769" b="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28575"/>
              <a:ext cx="3338474" cy="17659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4"/>
                </a:lnSpc>
              </a:pPr>
              <a:r>
                <a:rPr lang="en-US" sz="157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OpenCV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1894515" y="3106674"/>
            <a:ext cx="219456" cy="301752"/>
            <a:chOff x="0" y="0"/>
            <a:chExt cx="292608" cy="402336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92608" cy="402336"/>
            </a:xfrm>
            <a:custGeom>
              <a:avLst/>
              <a:gdLst/>
              <a:ahLst/>
              <a:cxnLst/>
              <a:rect r="r" b="b" t="t" l="l"/>
              <a:pathLst>
                <a:path h="402336" w="292608">
                  <a:moveTo>
                    <a:pt x="0" y="100584"/>
                  </a:moveTo>
                  <a:lnTo>
                    <a:pt x="146304" y="100584"/>
                  </a:lnTo>
                  <a:lnTo>
                    <a:pt x="146304" y="0"/>
                  </a:lnTo>
                  <a:lnTo>
                    <a:pt x="292608" y="201168"/>
                  </a:lnTo>
                  <a:lnTo>
                    <a:pt x="146304" y="402336"/>
                  </a:lnTo>
                  <a:lnTo>
                    <a:pt x="146304" y="301752"/>
                  </a:lnTo>
                  <a:lnTo>
                    <a:pt x="0" y="301752"/>
                  </a:lnTo>
                  <a:close/>
                </a:path>
              </a:pathLst>
            </a:custGeom>
            <a:solidFill>
              <a:srgbClr val="22D3EE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2127687" y="2537460"/>
            <a:ext cx="2613584" cy="1303020"/>
            <a:chOff x="0" y="0"/>
            <a:chExt cx="3484778" cy="173736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3484753" cy="1737360"/>
            </a:xfrm>
            <a:custGeom>
              <a:avLst/>
              <a:gdLst/>
              <a:ahLst/>
              <a:cxnLst/>
              <a:rect r="r" b="b" t="t" l="l"/>
              <a:pathLst>
                <a:path h="1737360" w="3484753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3338449" y="0"/>
                  </a:lnTo>
                  <a:cubicBezTo>
                    <a:pt x="3419221" y="0"/>
                    <a:pt x="3484753" y="65532"/>
                    <a:pt x="3484753" y="146304"/>
                  </a:cubicBezTo>
                  <a:lnTo>
                    <a:pt x="3484753" y="1591056"/>
                  </a:lnTo>
                  <a:cubicBezTo>
                    <a:pt x="3484753" y="1671828"/>
                    <a:pt x="3419221" y="1737360"/>
                    <a:pt x="3338449" y="1737360"/>
                  </a:cubicBezTo>
                  <a:lnTo>
                    <a:pt x="146304" y="1737360"/>
                  </a:lnTo>
                  <a:cubicBezTo>
                    <a:pt x="65532" y="1737360"/>
                    <a:pt x="0" y="1671828"/>
                    <a:pt x="0" y="1591056"/>
                  </a:cubicBezTo>
                  <a:close/>
                </a:path>
              </a:pathLst>
            </a:custGeom>
            <a:solidFill>
              <a:srgbClr val="1D3F70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2182551" y="2537460"/>
            <a:ext cx="2503856" cy="1303020"/>
            <a:chOff x="0" y="0"/>
            <a:chExt cx="3338474" cy="173736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3338474" cy="1737360"/>
            </a:xfrm>
            <a:custGeom>
              <a:avLst/>
              <a:gdLst/>
              <a:ahLst/>
              <a:cxnLst/>
              <a:rect r="r" b="b" t="t" l="l"/>
              <a:pathLst>
                <a:path h="1737360" w="3338474">
                  <a:moveTo>
                    <a:pt x="0" y="0"/>
                  </a:moveTo>
                  <a:lnTo>
                    <a:pt x="3338474" y="0"/>
                  </a:lnTo>
                  <a:lnTo>
                    <a:pt x="3338474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6769" t="0" r="-16769" b="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28575"/>
              <a:ext cx="3338474" cy="17659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4"/>
                </a:lnSpc>
              </a:pPr>
              <a:r>
                <a:rPr lang="en-US" sz="157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InsightFace /</a:t>
              </a:r>
            </a:p>
            <a:p>
              <a:pPr algn="ctr">
                <a:lnSpc>
                  <a:spcPts val="1984"/>
                </a:lnSpc>
              </a:pPr>
              <a:r>
                <a:rPr lang="en-US" sz="157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ONNX Runtime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4754987" y="3106674"/>
            <a:ext cx="219456" cy="301752"/>
            <a:chOff x="0" y="0"/>
            <a:chExt cx="292608" cy="402336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292608" cy="402336"/>
            </a:xfrm>
            <a:custGeom>
              <a:avLst/>
              <a:gdLst/>
              <a:ahLst/>
              <a:cxnLst/>
              <a:rect r="r" b="b" t="t" l="l"/>
              <a:pathLst>
                <a:path h="402336" w="292608">
                  <a:moveTo>
                    <a:pt x="0" y="100584"/>
                  </a:moveTo>
                  <a:lnTo>
                    <a:pt x="146304" y="100584"/>
                  </a:lnTo>
                  <a:lnTo>
                    <a:pt x="146304" y="0"/>
                  </a:lnTo>
                  <a:lnTo>
                    <a:pt x="292608" y="201168"/>
                  </a:lnTo>
                  <a:lnTo>
                    <a:pt x="146304" y="402336"/>
                  </a:lnTo>
                  <a:lnTo>
                    <a:pt x="146304" y="301752"/>
                  </a:lnTo>
                  <a:lnTo>
                    <a:pt x="0" y="301752"/>
                  </a:lnTo>
                  <a:close/>
                </a:path>
              </a:pathLst>
            </a:custGeom>
            <a:solidFill>
              <a:srgbClr val="22D3EE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14988159" y="2537460"/>
            <a:ext cx="2613584" cy="1303020"/>
            <a:chOff x="0" y="0"/>
            <a:chExt cx="3484778" cy="173736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3484753" cy="1737360"/>
            </a:xfrm>
            <a:custGeom>
              <a:avLst/>
              <a:gdLst/>
              <a:ahLst/>
              <a:cxnLst/>
              <a:rect r="r" b="b" t="t" l="l"/>
              <a:pathLst>
                <a:path h="1737360" w="3484753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3338449" y="0"/>
                  </a:lnTo>
                  <a:cubicBezTo>
                    <a:pt x="3419221" y="0"/>
                    <a:pt x="3484753" y="65532"/>
                    <a:pt x="3484753" y="146304"/>
                  </a:cubicBezTo>
                  <a:lnTo>
                    <a:pt x="3484753" y="1591056"/>
                  </a:lnTo>
                  <a:cubicBezTo>
                    <a:pt x="3484753" y="1671828"/>
                    <a:pt x="3419221" y="1737360"/>
                    <a:pt x="3338449" y="1737360"/>
                  </a:cubicBezTo>
                  <a:lnTo>
                    <a:pt x="146304" y="1737360"/>
                  </a:lnTo>
                  <a:cubicBezTo>
                    <a:pt x="65532" y="1737360"/>
                    <a:pt x="0" y="1671828"/>
                    <a:pt x="0" y="1591056"/>
                  </a:cubicBezTo>
                  <a:close/>
                </a:path>
              </a:pathLst>
            </a:custGeom>
            <a:solidFill>
              <a:srgbClr val="1D3F70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5043023" y="2537460"/>
            <a:ext cx="2503856" cy="1303020"/>
            <a:chOff x="0" y="0"/>
            <a:chExt cx="3338474" cy="173736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3338474" cy="1737360"/>
            </a:xfrm>
            <a:custGeom>
              <a:avLst/>
              <a:gdLst/>
              <a:ahLst/>
              <a:cxnLst/>
              <a:rect r="r" b="b" t="t" l="l"/>
              <a:pathLst>
                <a:path h="1737360" w="3338474">
                  <a:moveTo>
                    <a:pt x="0" y="0"/>
                  </a:moveTo>
                  <a:lnTo>
                    <a:pt x="3338474" y="0"/>
                  </a:lnTo>
                  <a:lnTo>
                    <a:pt x="3338474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6769" t="0" r="-16769" b="0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28575"/>
              <a:ext cx="3338474" cy="17659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4"/>
                </a:lnSpc>
              </a:pPr>
              <a:r>
                <a:rPr lang="en-US" sz="157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Face</a:t>
              </a:r>
            </a:p>
            <a:p>
              <a:pPr algn="ctr">
                <a:lnSpc>
                  <a:spcPts val="1984"/>
                </a:lnSpc>
              </a:pPr>
              <a:r>
                <a:rPr lang="en-US" sz="157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Embedding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685800" y="4594860"/>
            <a:ext cx="2613584" cy="1303020"/>
            <a:chOff x="0" y="0"/>
            <a:chExt cx="3484778" cy="173736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3484753" cy="1737360"/>
            </a:xfrm>
            <a:custGeom>
              <a:avLst/>
              <a:gdLst/>
              <a:ahLst/>
              <a:cxnLst/>
              <a:rect r="r" b="b" t="t" l="l"/>
              <a:pathLst>
                <a:path h="1737360" w="3484753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3338449" y="0"/>
                  </a:lnTo>
                  <a:cubicBezTo>
                    <a:pt x="3419221" y="0"/>
                    <a:pt x="3484753" y="65532"/>
                    <a:pt x="3484753" y="146304"/>
                  </a:cubicBezTo>
                  <a:lnTo>
                    <a:pt x="3484753" y="1591056"/>
                  </a:lnTo>
                  <a:cubicBezTo>
                    <a:pt x="3484753" y="1671828"/>
                    <a:pt x="3419221" y="1737360"/>
                    <a:pt x="3338449" y="1737360"/>
                  </a:cubicBezTo>
                  <a:lnTo>
                    <a:pt x="146304" y="1737360"/>
                  </a:lnTo>
                  <a:cubicBezTo>
                    <a:pt x="65532" y="1737360"/>
                    <a:pt x="0" y="1671828"/>
                    <a:pt x="0" y="1591056"/>
                  </a:cubicBezTo>
                  <a:close/>
                </a:path>
              </a:pathLst>
            </a:custGeom>
            <a:solidFill>
              <a:srgbClr val="1D3F70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740664" y="4594860"/>
            <a:ext cx="2503856" cy="1303020"/>
            <a:chOff x="0" y="0"/>
            <a:chExt cx="3338474" cy="173736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3338474" cy="1737360"/>
            </a:xfrm>
            <a:custGeom>
              <a:avLst/>
              <a:gdLst/>
              <a:ahLst/>
              <a:cxnLst/>
              <a:rect r="r" b="b" t="t" l="l"/>
              <a:pathLst>
                <a:path h="1737360" w="3338474">
                  <a:moveTo>
                    <a:pt x="0" y="0"/>
                  </a:moveTo>
                  <a:lnTo>
                    <a:pt x="3338474" y="0"/>
                  </a:lnTo>
                  <a:lnTo>
                    <a:pt x="3338474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6769" t="0" r="-16769" b="0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28575"/>
              <a:ext cx="3338474" cy="17659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4"/>
                </a:lnSpc>
              </a:pPr>
              <a:r>
                <a:rPr lang="en-US" sz="157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Similarity</a:t>
              </a:r>
            </a:p>
            <a:p>
              <a:pPr algn="ctr">
                <a:lnSpc>
                  <a:spcPts val="1984"/>
                </a:lnSpc>
              </a:pPr>
              <a:r>
                <a:rPr lang="en-US" sz="157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Matching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3313100" y="5164074"/>
            <a:ext cx="219456" cy="301752"/>
            <a:chOff x="0" y="0"/>
            <a:chExt cx="292608" cy="402336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292608" cy="402336"/>
            </a:xfrm>
            <a:custGeom>
              <a:avLst/>
              <a:gdLst/>
              <a:ahLst/>
              <a:cxnLst/>
              <a:rect r="r" b="b" t="t" l="l"/>
              <a:pathLst>
                <a:path h="402336" w="292608">
                  <a:moveTo>
                    <a:pt x="0" y="100584"/>
                  </a:moveTo>
                  <a:lnTo>
                    <a:pt x="146304" y="100584"/>
                  </a:lnTo>
                  <a:lnTo>
                    <a:pt x="146304" y="0"/>
                  </a:lnTo>
                  <a:lnTo>
                    <a:pt x="292608" y="201168"/>
                  </a:lnTo>
                  <a:lnTo>
                    <a:pt x="146304" y="402336"/>
                  </a:lnTo>
                  <a:lnTo>
                    <a:pt x="146304" y="301752"/>
                  </a:lnTo>
                  <a:lnTo>
                    <a:pt x="0" y="301752"/>
                  </a:lnTo>
                  <a:close/>
                </a:path>
              </a:pathLst>
            </a:custGeom>
            <a:solidFill>
              <a:srgbClr val="22D3EE"/>
            </a:solid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3546272" y="4594860"/>
            <a:ext cx="2613584" cy="1303020"/>
            <a:chOff x="0" y="0"/>
            <a:chExt cx="3484778" cy="173736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3484753" cy="1737360"/>
            </a:xfrm>
            <a:custGeom>
              <a:avLst/>
              <a:gdLst/>
              <a:ahLst/>
              <a:cxnLst/>
              <a:rect r="r" b="b" t="t" l="l"/>
              <a:pathLst>
                <a:path h="1737360" w="3484753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3338449" y="0"/>
                  </a:lnTo>
                  <a:cubicBezTo>
                    <a:pt x="3419221" y="0"/>
                    <a:pt x="3484753" y="65532"/>
                    <a:pt x="3484753" y="146304"/>
                  </a:cubicBezTo>
                  <a:lnTo>
                    <a:pt x="3484753" y="1591056"/>
                  </a:lnTo>
                  <a:cubicBezTo>
                    <a:pt x="3484753" y="1671828"/>
                    <a:pt x="3419221" y="1737360"/>
                    <a:pt x="3338449" y="1737360"/>
                  </a:cubicBezTo>
                  <a:lnTo>
                    <a:pt x="146304" y="1737360"/>
                  </a:lnTo>
                  <a:cubicBezTo>
                    <a:pt x="65532" y="1737360"/>
                    <a:pt x="0" y="1671828"/>
                    <a:pt x="0" y="1591056"/>
                  </a:cubicBezTo>
                  <a:close/>
                </a:path>
              </a:pathLst>
            </a:custGeom>
            <a:solidFill>
              <a:srgbClr val="1D3F70"/>
            </a:solid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3601136" y="4594860"/>
            <a:ext cx="2503856" cy="1303020"/>
            <a:chOff x="0" y="0"/>
            <a:chExt cx="3338474" cy="173736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3338474" cy="1737360"/>
            </a:xfrm>
            <a:custGeom>
              <a:avLst/>
              <a:gdLst/>
              <a:ahLst/>
              <a:cxnLst/>
              <a:rect r="r" b="b" t="t" l="l"/>
              <a:pathLst>
                <a:path h="1737360" w="3338474">
                  <a:moveTo>
                    <a:pt x="0" y="0"/>
                  </a:moveTo>
                  <a:lnTo>
                    <a:pt x="3338474" y="0"/>
                  </a:lnTo>
                  <a:lnTo>
                    <a:pt x="3338474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6769" t="0" r="-16769" b="0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28575"/>
              <a:ext cx="3338474" cy="17659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4"/>
                </a:lnSpc>
              </a:pPr>
              <a:r>
                <a:rPr lang="en-US" sz="157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SQLite</a:t>
              </a:r>
            </a:p>
            <a:p>
              <a:pPr algn="ctr">
                <a:lnSpc>
                  <a:spcPts val="1984"/>
                </a:lnSpc>
              </a:pPr>
              <a:r>
                <a:rPr lang="en-US" sz="157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Database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6173572" y="5164074"/>
            <a:ext cx="219456" cy="301752"/>
            <a:chOff x="0" y="0"/>
            <a:chExt cx="292608" cy="402336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292608" cy="402336"/>
            </a:xfrm>
            <a:custGeom>
              <a:avLst/>
              <a:gdLst/>
              <a:ahLst/>
              <a:cxnLst/>
              <a:rect r="r" b="b" t="t" l="l"/>
              <a:pathLst>
                <a:path h="402336" w="292608">
                  <a:moveTo>
                    <a:pt x="0" y="100584"/>
                  </a:moveTo>
                  <a:lnTo>
                    <a:pt x="146304" y="100584"/>
                  </a:lnTo>
                  <a:lnTo>
                    <a:pt x="146304" y="0"/>
                  </a:lnTo>
                  <a:lnTo>
                    <a:pt x="292608" y="201168"/>
                  </a:lnTo>
                  <a:lnTo>
                    <a:pt x="146304" y="402336"/>
                  </a:lnTo>
                  <a:lnTo>
                    <a:pt x="146304" y="301752"/>
                  </a:lnTo>
                  <a:lnTo>
                    <a:pt x="0" y="301752"/>
                  </a:lnTo>
                  <a:close/>
                </a:path>
              </a:pathLst>
            </a:custGeom>
            <a:solidFill>
              <a:srgbClr val="22D3EE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6406744" y="4594860"/>
            <a:ext cx="2613584" cy="1303020"/>
            <a:chOff x="0" y="0"/>
            <a:chExt cx="3484778" cy="173736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3484753" cy="1737360"/>
            </a:xfrm>
            <a:custGeom>
              <a:avLst/>
              <a:gdLst/>
              <a:ahLst/>
              <a:cxnLst/>
              <a:rect r="r" b="b" t="t" l="l"/>
              <a:pathLst>
                <a:path h="1737360" w="3484753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3338449" y="0"/>
                  </a:lnTo>
                  <a:cubicBezTo>
                    <a:pt x="3419221" y="0"/>
                    <a:pt x="3484753" y="65532"/>
                    <a:pt x="3484753" y="146304"/>
                  </a:cubicBezTo>
                  <a:lnTo>
                    <a:pt x="3484753" y="1591056"/>
                  </a:lnTo>
                  <a:cubicBezTo>
                    <a:pt x="3484753" y="1671828"/>
                    <a:pt x="3419221" y="1737360"/>
                    <a:pt x="3338449" y="1737360"/>
                  </a:cubicBezTo>
                  <a:lnTo>
                    <a:pt x="146304" y="1737360"/>
                  </a:lnTo>
                  <a:cubicBezTo>
                    <a:pt x="65532" y="1737360"/>
                    <a:pt x="0" y="1671828"/>
                    <a:pt x="0" y="1591056"/>
                  </a:cubicBezTo>
                  <a:close/>
                </a:path>
              </a:pathLst>
            </a:custGeom>
            <a:solidFill>
              <a:srgbClr val="1D3F70"/>
            </a:solid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6461608" y="4594860"/>
            <a:ext cx="2503856" cy="1303020"/>
            <a:chOff x="0" y="0"/>
            <a:chExt cx="3338474" cy="173736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3338474" cy="1737360"/>
            </a:xfrm>
            <a:custGeom>
              <a:avLst/>
              <a:gdLst/>
              <a:ahLst/>
              <a:cxnLst/>
              <a:rect r="r" b="b" t="t" l="l"/>
              <a:pathLst>
                <a:path h="1737360" w="3338474">
                  <a:moveTo>
                    <a:pt x="0" y="0"/>
                  </a:moveTo>
                  <a:lnTo>
                    <a:pt x="3338474" y="0"/>
                  </a:lnTo>
                  <a:lnTo>
                    <a:pt x="3338474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6769" t="0" r="-16769" b="0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28575"/>
              <a:ext cx="3338474" cy="17659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4"/>
                </a:lnSpc>
              </a:pPr>
              <a:r>
                <a:rPr lang="en-US" sz="157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Attendance</a:t>
              </a:r>
            </a:p>
            <a:p>
              <a:pPr algn="ctr">
                <a:lnSpc>
                  <a:spcPts val="1984"/>
                </a:lnSpc>
              </a:pPr>
              <a:r>
                <a:rPr lang="en-US" sz="157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Confirmation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9034043" y="5164074"/>
            <a:ext cx="219456" cy="301752"/>
            <a:chOff x="0" y="0"/>
            <a:chExt cx="292608" cy="402336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292608" cy="402336"/>
            </a:xfrm>
            <a:custGeom>
              <a:avLst/>
              <a:gdLst/>
              <a:ahLst/>
              <a:cxnLst/>
              <a:rect r="r" b="b" t="t" l="l"/>
              <a:pathLst>
                <a:path h="402336" w="292608">
                  <a:moveTo>
                    <a:pt x="0" y="100584"/>
                  </a:moveTo>
                  <a:lnTo>
                    <a:pt x="146304" y="100584"/>
                  </a:lnTo>
                  <a:lnTo>
                    <a:pt x="146304" y="0"/>
                  </a:lnTo>
                  <a:lnTo>
                    <a:pt x="292608" y="201168"/>
                  </a:lnTo>
                  <a:lnTo>
                    <a:pt x="146304" y="402336"/>
                  </a:lnTo>
                  <a:lnTo>
                    <a:pt x="146304" y="301752"/>
                  </a:lnTo>
                  <a:lnTo>
                    <a:pt x="0" y="301752"/>
                  </a:lnTo>
                  <a:close/>
                </a:path>
              </a:pathLst>
            </a:custGeom>
            <a:solidFill>
              <a:srgbClr val="22D3EE"/>
            </a:solidFill>
          </p:spPr>
        </p:sp>
      </p:grpSp>
      <p:grpSp>
        <p:nvGrpSpPr>
          <p:cNvPr name="Group 69" id="69"/>
          <p:cNvGrpSpPr/>
          <p:nvPr/>
        </p:nvGrpSpPr>
        <p:grpSpPr>
          <a:xfrm rot="0">
            <a:off x="9267215" y="4594860"/>
            <a:ext cx="2613584" cy="1303020"/>
            <a:chOff x="0" y="0"/>
            <a:chExt cx="3484778" cy="173736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3484753" cy="1737360"/>
            </a:xfrm>
            <a:custGeom>
              <a:avLst/>
              <a:gdLst/>
              <a:ahLst/>
              <a:cxnLst/>
              <a:rect r="r" b="b" t="t" l="l"/>
              <a:pathLst>
                <a:path h="1737360" w="3484753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3338449" y="0"/>
                  </a:lnTo>
                  <a:cubicBezTo>
                    <a:pt x="3419221" y="0"/>
                    <a:pt x="3484753" y="65532"/>
                    <a:pt x="3484753" y="146304"/>
                  </a:cubicBezTo>
                  <a:lnTo>
                    <a:pt x="3484753" y="1591056"/>
                  </a:lnTo>
                  <a:cubicBezTo>
                    <a:pt x="3484753" y="1671828"/>
                    <a:pt x="3419221" y="1737360"/>
                    <a:pt x="3338449" y="1737360"/>
                  </a:cubicBezTo>
                  <a:lnTo>
                    <a:pt x="146304" y="1737360"/>
                  </a:lnTo>
                  <a:cubicBezTo>
                    <a:pt x="65532" y="1737360"/>
                    <a:pt x="0" y="1671828"/>
                    <a:pt x="0" y="1591056"/>
                  </a:cubicBezTo>
                  <a:close/>
                </a:path>
              </a:pathLst>
            </a:custGeom>
            <a:solidFill>
              <a:srgbClr val="0E7490"/>
            </a:solid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9322079" y="4594860"/>
            <a:ext cx="2503856" cy="1303020"/>
            <a:chOff x="0" y="0"/>
            <a:chExt cx="3338474" cy="173736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3338474" cy="1737360"/>
            </a:xfrm>
            <a:custGeom>
              <a:avLst/>
              <a:gdLst/>
              <a:ahLst/>
              <a:cxnLst/>
              <a:rect r="r" b="b" t="t" l="l"/>
              <a:pathLst>
                <a:path h="1737360" w="3338474">
                  <a:moveTo>
                    <a:pt x="0" y="0"/>
                  </a:moveTo>
                  <a:lnTo>
                    <a:pt x="3338474" y="0"/>
                  </a:lnTo>
                  <a:lnTo>
                    <a:pt x="3338474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6769" t="0" r="-16769" b="0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28575"/>
              <a:ext cx="3338474" cy="17659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4"/>
                </a:lnSpc>
              </a:pPr>
              <a:r>
                <a:rPr lang="en-US" sz="157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Wi-Fi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11894515" y="5164074"/>
            <a:ext cx="219456" cy="301752"/>
            <a:chOff x="0" y="0"/>
            <a:chExt cx="292608" cy="402336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292608" cy="402336"/>
            </a:xfrm>
            <a:custGeom>
              <a:avLst/>
              <a:gdLst/>
              <a:ahLst/>
              <a:cxnLst/>
              <a:rect r="r" b="b" t="t" l="l"/>
              <a:pathLst>
                <a:path h="402336" w="292608">
                  <a:moveTo>
                    <a:pt x="0" y="100584"/>
                  </a:moveTo>
                  <a:lnTo>
                    <a:pt x="146304" y="100584"/>
                  </a:lnTo>
                  <a:lnTo>
                    <a:pt x="146304" y="0"/>
                  </a:lnTo>
                  <a:lnTo>
                    <a:pt x="292608" y="201168"/>
                  </a:lnTo>
                  <a:lnTo>
                    <a:pt x="146304" y="402336"/>
                  </a:lnTo>
                  <a:lnTo>
                    <a:pt x="146304" y="301752"/>
                  </a:lnTo>
                  <a:lnTo>
                    <a:pt x="0" y="301752"/>
                  </a:lnTo>
                  <a:close/>
                </a:path>
              </a:pathLst>
            </a:custGeom>
            <a:solidFill>
              <a:srgbClr val="22D3EE"/>
            </a:solidFill>
          </p:spPr>
        </p:sp>
      </p:grpSp>
      <p:grpSp>
        <p:nvGrpSpPr>
          <p:cNvPr name="Group 76" id="76"/>
          <p:cNvGrpSpPr/>
          <p:nvPr/>
        </p:nvGrpSpPr>
        <p:grpSpPr>
          <a:xfrm rot="0">
            <a:off x="12127687" y="4594860"/>
            <a:ext cx="2613584" cy="1303020"/>
            <a:chOff x="0" y="0"/>
            <a:chExt cx="3484778" cy="173736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3484753" cy="1737360"/>
            </a:xfrm>
            <a:custGeom>
              <a:avLst/>
              <a:gdLst/>
              <a:ahLst/>
              <a:cxnLst/>
              <a:rect r="r" b="b" t="t" l="l"/>
              <a:pathLst>
                <a:path h="1737360" w="3484753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3338449" y="0"/>
                  </a:lnTo>
                  <a:cubicBezTo>
                    <a:pt x="3419221" y="0"/>
                    <a:pt x="3484753" y="65532"/>
                    <a:pt x="3484753" y="146304"/>
                  </a:cubicBezTo>
                  <a:lnTo>
                    <a:pt x="3484753" y="1591056"/>
                  </a:lnTo>
                  <a:cubicBezTo>
                    <a:pt x="3484753" y="1671828"/>
                    <a:pt x="3419221" y="1737360"/>
                    <a:pt x="3338449" y="1737360"/>
                  </a:cubicBezTo>
                  <a:lnTo>
                    <a:pt x="146304" y="1737360"/>
                  </a:lnTo>
                  <a:cubicBezTo>
                    <a:pt x="65532" y="1737360"/>
                    <a:pt x="0" y="1671828"/>
                    <a:pt x="0" y="1591056"/>
                  </a:cubicBezTo>
                  <a:close/>
                </a:path>
              </a:pathLst>
            </a:custGeom>
            <a:solidFill>
              <a:srgbClr val="0E7490"/>
            </a:solidFill>
          </p:spPr>
        </p:sp>
      </p:grpSp>
      <p:grpSp>
        <p:nvGrpSpPr>
          <p:cNvPr name="Group 78" id="78"/>
          <p:cNvGrpSpPr/>
          <p:nvPr/>
        </p:nvGrpSpPr>
        <p:grpSpPr>
          <a:xfrm rot="0">
            <a:off x="12182551" y="4594860"/>
            <a:ext cx="2503856" cy="1303020"/>
            <a:chOff x="0" y="0"/>
            <a:chExt cx="3338474" cy="173736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3338474" cy="1737360"/>
            </a:xfrm>
            <a:custGeom>
              <a:avLst/>
              <a:gdLst/>
              <a:ahLst/>
              <a:cxnLst/>
              <a:rect r="r" b="b" t="t" l="l"/>
              <a:pathLst>
                <a:path h="1737360" w="3338474">
                  <a:moveTo>
                    <a:pt x="0" y="0"/>
                  </a:moveTo>
                  <a:lnTo>
                    <a:pt x="3338474" y="0"/>
                  </a:lnTo>
                  <a:lnTo>
                    <a:pt x="3338474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6769" t="0" r="-16769" b="0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-28575"/>
              <a:ext cx="3338474" cy="17659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4"/>
                </a:lnSpc>
              </a:pPr>
              <a:r>
                <a:rPr lang="en-US" sz="157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SiWx917 /</a:t>
              </a:r>
            </a:p>
            <a:p>
              <a:pPr algn="ctr">
                <a:lnSpc>
                  <a:spcPts val="1984"/>
                </a:lnSpc>
              </a:pPr>
              <a:r>
                <a:rPr lang="en-US" sz="157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BRD2605A</a:t>
              </a: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14754987" y="5164074"/>
            <a:ext cx="219456" cy="301752"/>
            <a:chOff x="0" y="0"/>
            <a:chExt cx="292608" cy="402336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292608" cy="402336"/>
            </a:xfrm>
            <a:custGeom>
              <a:avLst/>
              <a:gdLst/>
              <a:ahLst/>
              <a:cxnLst/>
              <a:rect r="r" b="b" t="t" l="l"/>
              <a:pathLst>
                <a:path h="402336" w="292608">
                  <a:moveTo>
                    <a:pt x="0" y="100584"/>
                  </a:moveTo>
                  <a:lnTo>
                    <a:pt x="146304" y="100584"/>
                  </a:lnTo>
                  <a:lnTo>
                    <a:pt x="146304" y="0"/>
                  </a:lnTo>
                  <a:lnTo>
                    <a:pt x="292608" y="201168"/>
                  </a:lnTo>
                  <a:lnTo>
                    <a:pt x="146304" y="402336"/>
                  </a:lnTo>
                  <a:lnTo>
                    <a:pt x="146304" y="301752"/>
                  </a:lnTo>
                  <a:lnTo>
                    <a:pt x="0" y="301752"/>
                  </a:lnTo>
                  <a:close/>
                </a:path>
              </a:pathLst>
            </a:custGeom>
            <a:solidFill>
              <a:srgbClr val="22D3EE"/>
            </a:solidFill>
          </p:spPr>
        </p:sp>
      </p:grpSp>
      <p:grpSp>
        <p:nvGrpSpPr>
          <p:cNvPr name="Group 83" id="83"/>
          <p:cNvGrpSpPr/>
          <p:nvPr/>
        </p:nvGrpSpPr>
        <p:grpSpPr>
          <a:xfrm rot="0">
            <a:off x="14988159" y="4594860"/>
            <a:ext cx="2613584" cy="1303020"/>
            <a:chOff x="0" y="0"/>
            <a:chExt cx="3484778" cy="173736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3484753" cy="1737360"/>
            </a:xfrm>
            <a:custGeom>
              <a:avLst/>
              <a:gdLst/>
              <a:ahLst/>
              <a:cxnLst/>
              <a:rect r="r" b="b" t="t" l="l"/>
              <a:pathLst>
                <a:path h="1737360" w="3484753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3338449" y="0"/>
                  </a:lnTo>
                  <a:cubicBezTo>
                    <a:pt x="3419221" y="0"/>
                    <a:pt x="3484753" y="65532"/>
                    <a:pt x="3484753" y="146304"/>
                  </a:cubicBezTo>
                  <a:lnTo>
                    <a:pt x="3484753" y="1591056"/>
                  </a:lnTo>
                  <a:cubicBezTo>
                    <a:pt x="3484753" y="1671828"/>
                    <a:pt x="3419221" y="1737360"/>
                    <a:pt x="3338449" y="1737360"/>
                  </a:cubicBezTo>
                  <a:lnTo>
                    <a:pt x="146304" y="1737360"/>
                  </a:lnTo>
                  <a:cubicBezTo>
                    <a:pt x="65532" y="1737360"/>
                    <a:pt x="0" y="1671828"/>
                    <a:pt x="0" y="1591056"/>
                  </a:cubicBezTo>
                  <a:close/>
                </a:path>
              </a:pathLst>
            </a:custGeom>
            <a:solidFill>
              <a:srgbClr val="0E7490"/>
            </a:solidFill>
          </p:spPr>
        </p:sp>
      </p:grpSp>
      <p:grpSp>
        <p:nvGrpSpPr>
          <p:cNvPr name="Group 85" id="85"/>
          <p:cNvGrpSpPr/>
          <p:nvPr/>
        </p:nvGrpSpPr>
        <p:grpSpPr>
          <a:xfrm rot="0">
            <a:off x="15043023" y="4594860"/>
            <a:ext cx="2503856" cy="1303020"/>
            <a:chOff x="0" y="0"/>
            <a:chExt cx="3338474" cy="173736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3338474" cy="1737360"/>
            </a:xfrm>
            <a:custGeom>
              <a:avLst/>
              <a:gdLst/>
              <a:ahLst/>
              <a:cxnLst/>
              <a:rect r="r" b="b" t="t" l="l"/>
              <a:pathLst>
                <a:path h="1737360" w="3338474">
                  <a:moveTo>
                    <a:pt x="0" y="0"/>
                  </a:moveTo>
                  <a:lnTo>
                    <a:pt x="3338474" y="0"/>
                  </a:lnTo>
                  <a:lnTo>
                    <a:pt x="3338474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6769" t="0" r="-16769" b="0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-28575"/>
              <a:ext cx="3338474" cy="17659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4"/>
                </a:lnSpc>
              </a:pPr>
              <a:r>
                <a:rPr lang="en-US" sz="157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RGB LED /</a:t>
              </a:r>
            </a:p>
            <a:p>
              <a:pPr algn="ctr">
                <a:lnSpc>
                  <a:spcPts val="1984"/>
                </a:lnSpc>
              </a:pPr>
              <a:r>
                <a:rPr lang="en-US" sz="157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Access</a:t>
              </a: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16274377" y="3840480"/>
            <a:ext cx="41148" cy="377190"/>
            <a:chOff x="0" y="0"/>
            <a:chExt cx="54864" cy="502920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54864" cy="502920"/>
            </a:xfrm>
            <a:custGeom>
              <a:avLst/>
              <a:gdLst/>
              <a:ahLst/>
              <a:cxnLst/>
              <a:rect r="r" b="b" t="t" l="l"/>
              <a:pathLst>
                <a:path h="502920" w="54864">
                  <a:moveTo>
                    <a:pt x="0" y="9144"/>
                  </a:moveTo>
                  <a:cubicBezTo>
                    <a:pt x="0" y="4064"/>
                    <a:pt x="4064" y="0"/>
                    <a:pt x="9144" y="0"/>
                  </a:cubicBezTo>
                  <a:lnTo>
                    <a:pt x="45720" y="0"/>
                  </a:lnTo>
                  <a:cubicBezTo>
                    <a:pt x="50800" y="0"/>
                    <a:pt x="54864" y="4064"/>
                    <a:pt x="54864" y="9144"/>
                  </a:cubicBezTo>
                  <a:lnTo>
                    <a:pt x="54864" y="493776"/>
                  </a:lnTo>
                  <a:cubicBezTo>
                    <a:pt x="54864" y="498856"/>
                    <a:pt x="50800" y="502920"/>
                    <a:pt x="45720" y="502920"/>
                  </a:cubicBezTo>
                  <a:lnTo>
                    <a:pt x="9144" y="502920"/>
                  </a:lnTo>
                  <a:cubicBezTo>
                    <a:pt x="4064" y="502920"/>
                    <a:pt x="0" y="498856"/>
                    <a:pt x="0" y="493776"/>
                  </a:cubicBezTo>
                  <a:close/>
                </a:path>
              </a:pathLst>
            </a:custGeom>
            <a:solidFill>
              <a:srgbClr val="22D3EE"/>
            </a:solidFill>
          </p:spPr>
        </p:sp>
      </p:grpSp>
      <p:grpSp>
        <p:nvGrpSpPr>
          <p:cNvPr name="Group 90" id="90"/>
          <p:cNvGrpSpPr/>
          <p:nvPr/>
        </p:nvGrpSpPr>
        <p:grpSpPr>
          <a:xfrm rot="0">
            <a:off x="1972018" y="4217670"/>
            <a:ext cx="41148" cy="185166"/>
            <a:chOff x="0" y="0"/>
            <a:chExt cx="54864" cy="246888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54864" cy="246888"/>
            </a:xfrm>
            <a:custGeom>
              <a:avLst/>
              <a:gdLst/>
              <a:ahLst/>
              <a:cxnLst/>
              <a:rect r="r" b="b" t="t" l="l"/>
              <a:pathLst>
                <a:path h="246888" w="54864">
                  <a:moveTo>
                    <a:pt x="0" y="9144"/>
                  </a:moveTo>
                  <a:cubicBezTo>
                    <a:pt x="0" y="4064"/>
                    <a:pt x="4064" y="0"/>
                    <a:pt x="9144" y="0"/>
                  </a:cubicBezTo>
                  <a:lnTo>
                    <a:pt x="45720" y="0"/>
                  </a:lnTo>
                  <a:cubicBezTo>
                    <a:pt x="50800" y="0"/>
                    <a:pt x="54864" y="4064"/>
                    <a:pt x="54864" y="9144"/>
                  </a:cubicBezTo>
                  <a:lnTo>
                    <a:pt x="54864" y="237744"/>
                  </a:lnTo>
                  <a:cubicBezTo>
                    <a:pt x="54864" y="242824"/>
                    <a:pt x="50800" y="246888"/>
                    <a:pt x="45720" y="246888"/>
                  </a:cubicBezTo>
                  <a:lnTo>
                    <a:pt x="9144" y="246888"/>
                  </a:lnTo>
                  <a:cubicBezTo>
                    <a:pt x="4064" y="246888"/>
                    <a:pt x="0" y="242824"/>
                    <a:pt x="0" y="237744"/>
                  </a:cubicBezTo>
                  <a:close/>
                </a:path>
              </a:pathLst>
            </a:custGeom>
            <a:solidFill>
              <a:srgbClr val="22D3EE"/>
            </a:solidFill>
          </p:spPr>
        </p:sp>
      </p:grpSp>
      <p:grpSp>
        <p:nvGrpSpPr>
          <p:cNvPr name="Group 92" id="92"/>
          <p:cNvGrpSpPr/>
          <p:nvPr/>
        </p:nvGrpSpPr>
        <p:grpSpPr>
          <a:xfrm rot="0">
            <a:off x="1992592" y="4197096"/>
            <a:ext cx="14302359" cy="41148"/>
            <a:chOff x="0" y="0"/>
            <a:chExt cx="19069812" cy="54864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19069811" cy="54864"/>
            </a:xfrm>
            <a:custGeom>
              <a:avLst/>
              <a:gdLst/>
              <a:ahLst/>
              <a:cxnLst/>
              <a:rect r="r" b="b" t="t" l="l"/>
              <a:pathLst>
                <a:path h="54864" w="19069811">
                  <a:moveTo>
                    <a:pt x="0" y="9144"/>
                  </a:moveTo>
                  <a:cubicBezTo>
                    <a:pt x="0" y="4064"/>
                    <a:pt x="4064" y="0"/>
                    <a:pt x="9144" y="0"/>
                  </a:cubicBezTo>
                  <a:lnTo>
                    <a:pt x="19060668" y="0"/>
                  </a:lnTo>
                  <a:cubicBezTo>
                    <a:pt x="19065748" y="0"/>
                    <a:pt x="19069811" y="4064"/>
                    <a:pt x="19069811" y="9144"/>
                  </a:cubicBezTo>
                  <a:lnTo>
                    <a:pt x="19069811" y="45720"/>
                  </a:lnTo>
                  <a:cubicBezTo>
                    <a:pt x="19069811" y="50800"/>
                    <a:pt x="19065748" y="54864"/>
                    <a:pt x="19060668" y="54864"/>
                  </a:cubicBezTo>
                  <a:lnTo>
                    <a:pt x="9144" y="54864"/>
                  </a:lnTo>
                  <a:cubicBezTo>
                    <a:pt x="4064" y="54864"/>
                    <a:pt x="0" y="50800"/>
                    <a:pt x="0" y="45720"/>
                  </a:cubicBezTo>
                  <a:close/>
                </a:path>
              </a:pathLst>
            </a:custGeom>
            <a:solidFill>
              <a:srgbClr val="22D3EE"/>
            </a:solidFill>
          </p:spPr>
        </p:sp>
      </p:grpSp>
      <p:grpSp>
        <p:nvGrpSpPr>
          <p:cNvPr name="Group 94" id="94"/>
          <p:cNvGrpSpPr/>
          <p:nvPr/>
        </p:nvGrpSpPr>
        <p:grpSpPr>
          <a:xfrm rot="0">
            <a:off x="1869148" y="4375404"/>
            <a:ext cx="246888" cy="219456"/>
            <a:chOff x="0" y="0"/>
            <a:chExt cx="329184" cy="292608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329184" cy="292608"/>
            </a:xfrm>
            <a:custGeom>
              <a:avLst/>
              <a:gdLst/>
              <a:ahLst/>
              <a:cxnLst/>
              <a:rect r="r" b="b" t="t" l="l"/>
              <a:pathLst>
                <a:path h="292608" w="329184">
                  <a:moveTo>
                    <a:pt x="0" y="146304"/>
                  </a:moveTo>
                  <a:lnTo>
                    <a:pt x="82296" y="146304"/>
                  </a:lnTo>
                  <a:lnTo>
                    <a:pt x="82296" y="0"/>
                  </a:lnTo>
                  <a:lnTo>
                    <a:pt x="246888" y="0"/>
                  </a:lnTo>
                  <a:lnTo>
                    <a:pt x="246888" y="146304"/>
                  </a:lnTo>
                  <a:lnTo>
                    <a:pt x="329184" y="146304"/>
                  </a:lnTo>
                  <a:lnTo>
                    <a:pt x="164592" y="292608"/>
                  </a:lnTo>
                  <a:close/>
                </a:path>
              </a:pathLst>
            </a:custGeom>
            <a:solidFill>
              <a:srgbClr val="22D3EE"/>
            </a:solidFill>
          </p:spPr>
        </p:sp>
      </p:grpSp>
      <p:grpSp>
        <p:nvGrpSpPr>
          <p:cNvPr name="Group 96" id="96"/>
          <p:cNvGrpSpPr/>
          <p:nvPr/>
        </p:nvGrpSpPr>
        <p:grpSpPr>
          <a:xfrm rot="0">
            <a:off x="685800" y="6446520"/>
            <a:ext cx="8092440" cy="685800"/>
            <a:chOff x="0" y="0"/>
            <a:chExt cx="10789920" cy="914400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10789920" cy="914400"/>
            </a:xfrm>
            <a:custGeom>
              <a:avLst/>
              <a:gdLst/>
              <a:ahLst/>
              <a:cxnLst/>
              <a:rect r="r" b="b" t="t" l="l"/>
              <a:pathLst>
                <a:path h="914400" w="1078992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0643616" y="0"/>
                  </a:lnTo>
                  <a:cubicBezTo>
                    <a:pt x="10724388" y="0"/>
                    <a:pt x="10789920" y="65532"/>
                    <a:pt x="10789920" y="146304"/>
                  </a:cubicBezTo>
                  <a:lnTo>
                    <a:pt x="10789920" y="768096"/>
                  </a:lnTo>
                  <a:cubicBezTo>
                    <a:pt x="10789920" y="848868"/>
                    <a:pt x="10724388" y="914400"/>
                    <a:pt x="10643616" y="914400"/>
                  </a:cubicBezTo>
                  <a:lnTo>
                    <a:pt x="146304" y="914400"/>
                  </a:lnTo>
                  <a:cubicBezTo>
                    <a:pt x="65532" y="914400"/>
                    <a:pt x="0" y="848868"/>
                    <a:pt x="0" y="768096"/>
                  </a:cubicBezTo>
                  <a:close/>
                </a:path>
              </a:pathLst>
            </a:custGeom>
            <a:solidFill>
              <a:srgbClr val="1D3F70"/>
            </a:solidFill>
          </p:spPr>
        </p:sp>
      </p:grpSp>
      <p:grpSp>
        <p:nvGrpSpPr>
          <p:cNvPr name="Group 98" id="98"/>
          <p:cNvGrpSpPr/>
          <p:nvPr/>
        </p:nvGrpSpPr>
        <p:grpSpPr>
          <a:xfrm rot="0">
            <a:off x="923163" y="6670167"/>
            <a:ext cx="320802" cy="238506"/>
            <a:chOff x="0" y="0"/>
            <a:chExt cx="427736" cy="318008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427736" cy="318008"/>
            </a:xfrm>
            <a:custGeom>
              <a:avLst/>
              <a:gdLst/>
              <a:ahLst/>
              <a:cxnLst/>
              <a:rect r="r" b="b" t="t" l="l"/>
              <a:pathLst>
                <a:path h="318008" w="427736">
                  <a:moveTo>
                    <a:pt x="0" y="0"/>
                  </a:moveTo>
                  <a:lnTo>
                    <a:pt x="427736" y="0"/>
                  </a:lnTo>
                  <a:lnTo>
                    <a:pt x="427736" y="318008"/>
                  </a:lnTo>
                  <a:lnTo>
                    <a:pt x="0" y="318008"/>
                  </a:lnTo>
                  <a:close/>
                </a:path>
              </a:pathLst>
            </a:custGeom>
            <a:solidFill>
              <a:srgbClr val="1D3F70"/>
            </a:solidFill>
            <a:ln w="1905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100" id="100"/>
          <p:cNvGrpSpPr/>
          <p:nvPr/>
        </p:nvGrpSpPr>
        <p:grpSpPr>
          <a:xfrm rot="0">
            <a:off x="1371600" y="6446520"/>
            <a:ext cx="4800600" cy="685800"/>
            <a:chOff x="0" y="0"/>
            <a:chExt cx="6400800" cy="914400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6400800" cy="914400"/>
            </a:xfrm>
            <a:custGeom>
              <a:avLst/>
              <a:gdLst/>
              <a:ahLst/>
              <a:cxnLst/>
              <a:rect r="r" b="b" t="t" l="l"/>
              <a:pathLst>
                <a:path h="914400" w="6400800">
                  <a:moveTo>
                    <a:pt x="0" y="0"/>
                  </a:moveTo>
                  <a:lnTo>
                    <a:pt x="6400800" y="0"/>
                  </a:lnTo>
                  <a:lnTo>
                    <a:pt x="64008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6395" r="0" b="-86395"/>
              </a:stretch>
            </a:blipFill>
          </p:spPr>
        </p:sp>
        <p:sp>
          <p:nvSpPr>
            <p:cNvPr name="TextBox 102" id="102"/>
            <p:cNvSpPr txBox="true"/>
            <p:nvPr/>
          </p:nvSpPr>
          <p:spPr>
            <a:xfrm>
              <a:off x="0" y="-28575"/>
              <a:ext cx="6400800" cy="9429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SOFTWARE / AI PIPELINE</a:t>
              </a:r>
            </a:p>
          </p:txBody>
        </p:sp>
      </p:grpSp>
      <p:grpSp>
        <p:nvGrpSpPr>
          <p:cNvPr name="Group 103" id="103"/>
          <p:cNvGrpSpPr/>
          <p:nvPr/>
        </p:nvGrpSpPr>
        <p:grpSpPr>
          <a:xfrm rot="0">
            <a:off x="9052560" y="6446520"/>
            <a:ext cx="8092440" cy="685800"/>
            <a:chOff x="0" y="0"/>
            <a:chExt cx="10789920" cy="914400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10789920" cy="914400"/>
            </a:xfrm>
            <a:custGeom>
              <a:avLst/>
              <a:gdLst/>
              <a:ahLst/>
              <a:cxnLst/>
              <a:rect r="r" b="b" t="t" l="l"/>
              <a:pathLst>
                <a:path h="914400" w="1078992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0643616" y="0"/>
                  </a:lnTo>
                  <a:cubicBezTo>
                    <a:pt x="10724388" y="0"/>
                    <a:pt x="10789920" y="65532"/>
                    <a:pt x="10789920" y="146304"/>
                  </a:cubicBezTo>
                  <a:lnTo>
                    <a:pt x="10789920" y="768096"/>
                  </a:lnTo>
                  <a:cubicBezTo>
                    <a:pt x="10789920" y="848868"/>
                    <a:pt x="10724388" y="914400"/>
                    <a:pt x="10643616" y="914400"/>
                  </a:cubicBezTo>
                  <a:lnTo>
                    <a:pt x="146304" y="914400"/>
                  </a:lnTo>
                  <a:cubicBezTo>
                    <a:pt x="65532" y="914400"/>
                    <a:pt x="0" y="848868"/>
                    <a:pt x="0" y="768096"/>
                  </a:cubicBezTo>
                  <a:close/>
                </a:path>
              </a:pathLst>
            </a:custGeom>
            <a:solidFill>
              <a:srgbClr val="0E7490"/>
            </a:solidFill>
          </p:spPr>
        </p:sp>
      </p:grpSp>
      <p:grpSp>
        <p:nvGrpSpPr>
          <p:cNvPr name="Group 105" id="105"/>
          <p:cNvGrpSpPr/>
          <p:nvPr/>
        </p:nvGrpSpPr>
        <p:grpSpPr>
          <a:xfrm rot="0">
            <a:off x="9738360" y="6446520"/>
            <a:ext cx="4800600" cy="685800"/>
            <a:chOff x="0" y="0"/>
            <a:chExt cx="6400800" cy="914400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6400800" cy="914400"/>
            </a:xfrm>
            <a:custGeom>
              <a:avLst/>
              <a:gdLst/>
              <a:ahLst/>
              <a:cxnLst/>
              <a:rect r="r" b="b" t="t" l="l"/>
              <a:pathLst>
                <a:path h="914400" w="6400800">
                  <a:moveTo>
                    <a:pt x="0" y="0"/>
                  </a:moveTo>
                  <a:lnTo>
                    <a:pt x="6400800" y="0"/>
                  </a:lnTo>
                  <a:lnTo>
                    <a:pt x="64008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6395" r="0" b="-86395"/>
              </a:stretch>
            </a:blipFill>
          </p:spPr>
        </p:sp>
        <p:sp>
          <p:nvSpPr>
            <p:cNvPr name="TextBox 107" id="107"/>
            <p:cNvSpPr txBox="true"/>
            <p:nvPr/>
          </p:nvSpPr>
          <p:spPr>
            <a:xfrm>
              <a:off x="0" y="-28575"/>
              <a:ext cx="6400800" cy="9429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IoT / HARDWARE PIPELINE</a:t>
              </a:r>
            </a:p>
          </p:txBody>
        </p:sp>
      </p:grpSp>
      <p:grpSp>
        <p:nvGrpSpPr>
          <p:cNvPr name="Group 108" id="108"/>
          <p:cNvGrpSpPr/>
          <p:nvPr/>
        </p:nvGrpSpPr>
        <p:grpSpPr>
          <a:xfrm rot="0">
            <a:off x="822960" y="7475220"/>
            <a:ext cx="16596360" cy="822960"/>
            <a:chOff x="0" y="0"/>
            <a:chExt cx="22128480" cy="1097280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221284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42948" r="0" b="-342948"/>
              </a:stretch>
            </a:blipFill>
          </p:spPr>
        </p:sp>
        <p:sp>
          <p:nvSpPr>
            <p:cNvPr name="TextBox 110" id="110"/>
            <p:cNvSpPr txBox="true"/>
            <p:nvPr/>
          </p:nvSpPr>
          <p:spPr>
            <a:xfrm>
              <a:off x="0" y="-76200"/>
              <a:ext cx="22128480" cy="1173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84"/>
                </a:lnSpc>
              </a:pPr>
              <a:r>
                <a:rPr lang="en-US" sz="1725" i="true">
                  <a:solidFill>
                    <a:srgbClr val="A9BBD1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The software section performs detection, embedding and matching; the hardware section communicates over Wi-Fi with the SiWx917/BRD2605A board to drive the RGB status LED.</a:t>
              </a:r>
            </a:p>
          </p:txBody>
        </p:sp>
      </p:grpSp>
      <p:grpSp>
        <p:nvGrpSpPr>
          <p:cNvPr name="Group 111" id="111"/>
          <p:cNvGrpSpPr/>
          <p:nvPr/>
        </p:nvGrpSpPr>
        <p:grpSpPr>
          <a:xfrm rot="0">
            <a:off x="685800" y="9738360"/>
            <a:ext cx="9601200" cy="411480"/>
            <a:chOff x="0" y="0"/>
            <a:chExt cx="12801600" cy="548640"/>
          </a:xfrm>
        </p:grpSpPr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12801600" cy="548640"/>
            </a:xfrm>
            <a:custGeom>
              <a:avLst/>
              <a:gdLst/>
              <a:ahLst/>
              <a:cxnLst/>
              <a:rect r="r" b="b" t="t" l="l"/>
              <a:pathLst>
                <a:path h="548640" w="12801600">
                  <a:moveTo>
                    <a:pt x="0" y="0"/>
                  </a:moveTo>
                  <a:lnTo>
                    <a:pt x="12801600" y="0"/>
                  </a:lnTo>
                  <a:lnTo>
                    <a:pt x="128016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04650" r="0" b="-404650"/>
              </a:stretch>
            </a:blipFill>
          </p:spPr>
        </p:sp>
        <p:sp>
          <p:nvSpPr>
            <p:cNvPr name="TextBox 113" id="113"/>
            <p:cNvSpPr txBox="true"/>
            <p:nvPr/>
          </p:nvSpPr>
          <p:spPr>
            <a:xfrm>
              <a:off x="0" y="-19050"/>
              <a:ext cx="1280160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sz="1200" spc="150">
                  <a:solidFill>
                    <a:srgbClr val="5B739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SMART FACE ATTENDANCE &amp; ACCESS GATE SYSTEM</a:t>
              </a:r>
            </a:p>
          </p:txBody>
        </p:sp>
      </p:grpSp>
      <p:grpSp>
        <p:nvGrpSpPr>
          <p:cNvPr name="Group 114" id="114"/>
          <p:cNvGrpSpPr/>
          <p:nvPr/>
        </p:nvGrpSpPr>
        <p:grpSpPr>
          <a:xfrm rot="0">
            <a:off x="16915943" y="9738360"/>
            <a:ext cx="685800" cy="411480"/>
            <a:chOff x="0" y="0"/>
            <a:chExt cx="914400" cy="548640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16" id="116"/>
            <p:cNvSpPr txBox="true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5B739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04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85800"/>
            <a:ext cx="10972800" cy="480060"/>
            <a:chOff x="0" y="0"/>
            <a:chExt cx="146304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640080"/>
            </a:xfrm>
            <a:custGeom>
              <a:avLst/>
              <a:gdLst/>
              <a:ahLst/>
              <a:cxnLst/>
              <a:rect r="r" b="b" t="t" l="l"/>
              <a:pathLst>
                <a:path h="64008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95372" r="0" b="-39537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46304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300">
                  <a:solidFill>
                    <a:srgbClr val="22D3E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HARDWARE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1165860"/>
            <a:ext cx="15773400" cy="960120"/>
            <a:chOff x="0" y="0"/>
            <a:chExt cx="21031200" cy="12801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0312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0111" r="0" b="-270111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1031200" cy="1299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0B1E3D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Hardware Requirements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44855" y="2390775"/>
            <a:ext cx="5337658" cy="3242310"/>
            <a:chOff x="0" y="0"/>
            <a:chExt cx="7116877" cy="43230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116826" cy="4323080"/>
            </a:xfrm>
            <a:custGeom>
              <a:avLst/>
              <a:gdLst/>
              <a:ahLst/>
              <a:cxnLst/>
              <a:rect r="r" b="b" t="t" l="l"/>
              <a:pathLst>
                <a:path h="4323080" w="7116826">
                  <a:moveTo>
                    <a:pt x="0" y="183896"/>
                  </a:moveTo>
                  <a:cubicBezTo>
                    <a:pt x="0" y="82296"/>
                    <a:pt x="82296" y="0"/>
                    <a:pt x="183896" y="0"/>
                  </a:cubicBezTo>
                  <a:lnTo>
                    <a:pt x="6932930" y="0"/>
                  </a:lnTo>
                  <a:cubicBezTo>
                    <a:pt x="7034530" y="0"/>
                    <a:pt x="7116826" y="82296"/>
                    <a:pt x="7116826" y="183896"/>
                  </a:cubicBezTo>
                  <a:lnTo>
                    <a:pt x="7116826" y="4139184"/>
                  </a:lnTo>
                  <a:cubicBezTo>
                    <a:pt x="7116826" y="4240784"/>
                    <a:pt x="7034530" y="4323080"/>
                    <a:pt x="6932930" y="4323080"/>
                  </a:cubicBezTo>
                  <a:lnTo>
                    <a:pt x="183896" y="4323080"/>
                  </a:lnTo>
                  <a:cubicBezTo>
                    <a:pt x="82296" y="4323080"/>
                    <a:pt x="0" y="4240784"/>
                    <a:pt x="0" y="4139184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CE5F0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097280" y="2743200"/>
            <a:ext cx="932688" cy="932688"/>
            <a:chOff x="0" y="0"/>
            <a:chExt cx="1243584" cy="124358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43584" cy="1243584"/>
            </a:xfrm>
            <a:custGeom>
              <a:avLst/>
              <a:gdLst/>
              <a:ahLst/>
              <a:cxnLst/>
              <a:rect r="r" b="b" t="t" l="l"/>
              <a:pathLst>
                <a:path h="1243584" w="1243584">
                  <a:moveTo>
                    <a:pt x="0" y="621792"/>
                  </a:moveTo>
                  <a:cubicBezTo>
                    <a:pt x="0" y="278384"/>
                    <a:pt x="278384" y="0"/>
                    <a:pt x="621792" y="0"/>
                  </a:cubicBezTo>
                  <a:cubicBezTo>
                    <a:pt x="965200" y="0"/>
                    <a:pt x="1243584" y="278384"/>
                    <a:pt x="1243584" y="621792"/>
                  </a:cubicBezTo>
                  <a:cubicBezTo>
                    <a:pt x="1243584" y="965200"/>
                    <a:pt x="965200" y="1243584"/>
                    <a:pt x="621792" y="1243584"/>
                  </a:cubicBezTo>
                  <a:cubicBezTo>
                    <a:pt x="278384" y="1243584"/>
                    <a:pt x="0" y="965200"/>
                    <a:pt x="0" y="621792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339777" y="2985697"/>
            <a:ext cx="447694" cy="447694"/>
            <a:chOff x="0" y="0"/>
            <a:chExt cx="596925" cy="596925"/>
          </a:xfrm>
        </p:grpSpPr>
        <p:sp>
          <p:nvSpPr>
            <p:cNvPr name="Freeform 13" id="13" descr="/home/claude/ppt/icons/microchip_white.png"/>
            <p:cNvSpPr/>
            <p:nvPr/>
          </p:nvSpPr>
          <p:spPr>
            <a:xfrm flipH="false" flipV="false" rot="0">
              <a:off x="0" y="0"/>
              <a:ext cx="596900" cy="596900"/>
            </a:xfrm>
            <a:custGeom>
              <a:avLst/>
              <a:gdLst/>
              <a:ahLst/>
              <a:cxnLst/>
              <a:rect r="r" b="b" t="t" l="l"/>
              <a:pathLst>
                <a:path h="596900" w="596900">
                  <a:moveTo>
                    <a:pt x="0" y="0"/>
                  </a:moveTo>
                  <a:lnTo>
                    <a:pt x="596900" y="0"/>
                  </a:lnTo>
                  <a:lnTo>
                    <a:pt x="596900" y="596900"/>
                  </a:lnTo>
                  <a:lnTo>
                    <a:pt x="0" y="596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4" b="-4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097280" y="3840480"/>
            <a:ext cx="4632808" cy="754380"/>
            <a:chOff x="0" y="0"/>
            <a:chExt cx="6177077" cy="10058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177076" cy="1005840"/>
            </a:xfrm>
            <a:custGeom>
              <a:avLst/>
              <a:gdLst/>
              <a:ahLst/>
              <a:cxnLst/>
              <a:rect r="r" b="b" t="t" l="l"/>
              <a:pathLst>
                <a:path h="1005840" w="6177076">
                  <a:moveTo>
                    <a:pt x="0" y="0"/>
                  </a:moveTo>
                  <a:lnTo>
                    <a:pt x="6177076" y="0"/>
                  </a:lnTo>
                  <a:lnTo>
                    <a:pt x="6177076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9661" r="0" b="-69661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6177077" cy="10629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57"/>
                </a:lnSpc>
              </a:pPr>
              <a:r>
                <a:rPr lang="en-US" sz="1950" b="true">
                  <a:solidFill>
                    <a:srgbClr val="0B1E3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Silicon Labs SiWG917 / BRD2605A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097280" y="4567428"/>
            <a:ext cx="4632808" cy="960120"/>
            <a:chOff x="0" y="0"/>
            <a:chExt cx="6177077" cy="128016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177076" cy="1280160"/>
            </a:xfrm>
            <a:custGeom>
              <a:avLst/>
              <a:gdLst/>
              <a:ahLst/>
              <a:cxnLst/>
              <a:rect r="r" b="b" t="t" l="l"/>
              <a:pathLst>
                <a:path h="1280160" w="6177076">
                  <a:moveTo>
                    <a:pt x="0" y="0"/>
                  </a:moveTo>
                  <a:lnTo>
                    <a:pt x="6177076" y="0"/>
                  </a:lnTo>
                  <a:lnTo>
                    <a:pt x="6177076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4019" r="0" b="-44019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6177077" cy="13373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8"/>
                </a:lnSpc>
              </a:pPr>
              <a:r>
                <a:rPr lang="en-US" sz="1575">
                  <a:solidFill>
                    <a:srgbClr val="50607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IoT hardware interface; provides Wi-Fi connectivity and controls the RGB LED.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6474943" y="2390775"/>
            <a:ext cx="5337658" cy="3242310"/>
            <a:chOff x="0" y="0"/>
            <a:chExt cx="7116877" cy="432308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116826" cy="4323080"/>
            </a:xfrm>
            <a:custGeom>
              <a:avLst/>
              <a:gdLst/>
              <a:ahLst/>
              <a:cxnLst/>
              <a:rect r="r" b="b" t="t" l="l"/>
              <a:pathLst>
                <a:path h="4323080" w="7116826">
                  <a:moveTo>
                    <a:pt x="0" y="183896"/>
                  </a:moveTo>
                  <a:cubicBezTo>
                    <a:pt x="0" y="82296"/>
                    <a:pt x="82296" y="0"/>
                    <a:pt x="183896" y="0"/>
                  </a:cubicBezTo>
                  <a:lnTo>
                    <a:pt x="6932930" y="0"/>
                  </a:lnTo>
                  <a:cubicBezTo>
                    <a:pt x="7034530" y="0"/>
                    <a:pt x="7116826" y="82296"/>
                    <a:pt x="7116826" y="183896"/>
                  </a:cubicBezTo>
                  <a:lnTo>
                    <a:pt x="7116826" y="4139184"/>
                  </a:lnTo>
                  <a:cubicBezTo>
                    <a:pt x="7116826" y="4240784"/>
                    <a:pt x="7034530" y="4323080"/>
                    <a:pt x="6932930" y="4323080"/>
                  </a:cubicBezTo>
                  <a:lnTo>
                    <a:pt x="183896" y="4323080"/>
                  </a:lnTo>
                  <a:cubicBezTo>
                    <a:pt x="82296" y="4323080"/>
                    <a:pt x="0" y="4240784"/>
                    <a:pt x="0" y="4139184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CE5F0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6827368" y="2743200"/>
            <a:ext cx="932688" cy="932688"/>
            <a:chOff x="0" y="0"/>
            <a:chExt cx="1243584" cy="124358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243584" cy="1243584"/>
            </a:xfrm>
            <a:custGeom>
              <a:avLst/>
              <a:gdLst/>
              <a:ahLst/>
              <a:cxnLst/>
              <a:rect r="r" b="b" t="t" l="l"/>
              <a:pathLst>
                <a:path h="1243584" w="1243584">
                  <a:moveTo>
                    <a:pt x="0" y="621792"/>
                  </a:moveTo>
                  <a:cubicBezTo>
                    <a:pt x="0" y="278384"/>
                    <a:pt x="278384" y="0"/>
                    <a:pt x="621792" y="0"/>
                  </a:cubicBezTo>
                  <a:cubicBezTo>
                    <a:pt x="965200" y="0"/>
                    <a:pt x="1243584" y="278384"/>
                    <a:pt x="1243584" y="621792"/>
                  </a:cubicBezTo>
                  <a:cubicBezTo>
                    <a:pt x="1243584" y="965200"/>
                    <a:pt x="965200" y="1243584"/>
                    <a:pt x="621792" y="1243584"/>
                  </a:cubicBezTo>
                  <a:cubicBezTo>
                    <a:pt x="278384" y="1243584"/>
                    <a:pt x="0" y="965200"/>
                    <a:pt x="0" y="621792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7069865" y="2985697"/>
            <a:ext cx="447694" cy="447694"/>
            <a:chOff x="0" y="0"/>
            <a:chExt cx="596925" cy="596925"/>
          </a:xfrm>
        </p:grpSpPr>
        <p:sp>
          <p:nvSpPr>
            <p:cNvPr name="Freeform 25" id="25" descr="/home/claude/ppt/icons/laptop_white.png"/>
            <p:cNvSpPr/>
            <p:nvPr/>
          </p:nvSpPr>
          <p:spPr>
            <a:xfrm flipH="false" flipV="false" rot="0">
              <a:off x="0" y="0"/>
              <a:ext cx="596900" cy="596900"/>
            </a:xfrm>
            <a:custGeom>
              <a:avLst/>
              <a:gdLst/>
              <a:ahLst/>
              <a:cxnLst/>
              <a:rect r="r" b="b" t="t" l="l"/>
              <a:pathLst>
                <a:path h="596900" w="596900">
                  <a:moveTo>
                    <a:pt x="0" y="0"/>
                  </a:moveTo>
                  <a:lnTo>
                    <a:pt x="596900" y="0"/>
                  </a:lnTo>
                  <a:lnTo>
                    <a:pt x="596900" y="596900"/>
                  </a:lnTo>
                  <a:lnTo>
                    <a:pt x="0" y="596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4" b="-4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6827368" y="3840480"/>
            <a:ext cx="4632808" cy="754380"/>
            <a:chOff x="0" y="0"/>
            <a:chExt cx="6177077" cy="100584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177076" cy="1005840"/>
            </a:xfrm>
            <a:custGeom>
              <a:avLst/>
              <a:gdLst/>
              <a:ahLst/>
              <a:cxnLst/>
              <a:rect r="r" b="b" t="t" l="l"/>
              <a:pathLst>
                <a:path h="1005840" w="6177076">
                  <a:moveTo>
                    <a:pt x="0" y="0"/>
                  </a:moveTo>
                  <a:lnTo>
                    <a:pt x="6177076" y="0"/>
                  </a:lnTo>
                  <a:lnTo>
                    <a:pt x="6177076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9661" r="0" b="-69661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57150"/>
              <a:ext cx="6177077" cy="10629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57"/>
                </a:lnSpc>
              </a:pPr>
              <a:r>
                <a:rPr lang="en-US" sz="1950" b="true">
                  <a:solidFill>
                    <a:srgbClr val="0B1E3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Laptop / Computer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6827368" y="4567428"/>
            <a:ext cx="4632808" cy="960120"/>
            <a:chOff x="0" y="0"/>
            <a:chExt cx="6177077" cy="128016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177076" cy="1280160"/>
            </a:xfrm>
            <a:custGeom>
              <a:avLst/>
              <a:gdLst/>
              <a:ahLst/>
              <a:cxnLst/>
              <a:rect r="r" b="b" t="t" l="l"/>
              <a:pathLst>
                <a:path h="1280160" w="6177076">
                  <a:moveTo>
                    <a:pt x="0" y="0"/>
                  </a:moveTo>
                  <a:lnTo>
                    <a:pt x="6177076" y="0"/>
                  </a:lnTo>
                  <a:lnTo>
                    <a:pt x="6177076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4019" r="0" b="-44019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57150"/>
              <a:ext cx="6177077" cy="13373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8"/>
                </a:lnSpc>
              </a:pPr>
              <a:r>
                <a:rPr lang="en-US" sz="1575">
                  <a:solidFill>
                    <a:srgbClr val="50607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Main processing unit — face detection, embedding, database and web server.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2205030" y="2390775"/>
            <a:ext cx="5337658" cy="3242310"/>
            <a:chOff x="0" y="0"/>
            <a:chExt cx="7116877" cy="432308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7116826" cy="4323080"/>
            </a:xfrm>
            <a:custGeom>
              <a:avLst/>
              <a:gdLst/>
              <a:ahLst/>
              <a:cxnLst/>
              <a:rect r="r" b="b" t="t" l="l"/>
              <a:pathLst>
                <a:path h="4323080" w="7116826">
                  <a:moveTo>
                    <a:pt x="0" y="183896"/>
                  </a:moveTo>
                  <a:cubicBezTo>
                    <a:pt x="0" y="82296"/>
                    <a:pt x="82296" y="0"/>
                    <a:pt x="183896" y="0"/>
                  </a:cubicBezTo>
                  <a:lnTo>
                    <a:pt x="6932930" y="0"/>
                  </a:lnTo>
                  <a:cubicBezTo>
                    <a:pt x="7034530" y="0"/>
                    <a:pt x="7116826" y="82296"/>
                    <a:pt x="7116826" y="183896"/>
                  </a:cubicBezTo>
                  <a:lnTo>
                    <a:pt x="7116826" y="4139184"/>
                  </a:lnTo>
                  <a:cubicBezTo>
                    <a:pt x="7116826" y="4240784"/>
                    <a:pt x="7034530" y="4323080"/>
                    <a:pt x="6932930" y="4323080"/>
                  </a:cubicBezTo>
                  <a:lnTo>
                    <a:pt x="183896" y="4323080"/>
                  </a:lnTo>
                  <a:cubicBezTo>
                    <a:pt x="82296" y="4323080"/>
                    <a:pt x="0" y="4240784"/>
                    <a:pt x="0" y="4139184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CE5F0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12557455" y="2743200"/>
            <a:ext cx="932688" cy="932688"/>
            <a:chOff x="0" y="0"/>
            <a:chExt cx="1243584" cy="1243584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243584" cy="1243584"/>
            </a:xfrm>
            <a:custGeom>
              <a:avLst/>
              <a:gdLst/>
              <a:ahLst/>
              <a:cxnLst/>
              <a:rect r="r" b="b" t="t" l="l"/>
              <a:pathLst>
                <a:path h="1243584" w="1243584">
                  <a:moveTo>
                    <a:pt x="0" y="621792"/>
                  </a:moveTo>
                  <a:cubicBezTo>
                    <a:pt x="0" y="278384"/>
                    <a:pt x="278384" y="0"/>
                    <a:pt x="621792" y="0"/>
                  </a:cubicBezTo>
                  <a:cubicBezTo>
                    <a:pt x="965200" y="0"/>
                    <a:pt x="1243584" y="278384"/>
                    <a:pt x="1243584" y="621792"/>
                  </a:cubicBezTo>
                  <a:cubicBezTo>
                    <a:pt x="1243584" y="965200"/>
                    <a:pt x="965200" y="1243584"/>
                    <a:pt x="621792" y="1243584"/>
                  </a:cubicBezTo>
                  <a:cubicBezTo>
                    <a:pt x="278384" y="1243584"/>
                    <a:pt x="0" y="965200"/>
                    <a:pt x="0" y="621792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2799952" y="2985697"/>
            <a:ext cx="447694" cy="447694"/>
            <a:chOff x="0" y="0"/>
            <a:chExt cx="596925" cy="596925"/>
          </a:xfrm>
        </p:grpSpPr>
        <p:sp>
          <p:nvSpPr>
            <p:cNvPr name="Freeform 37" id="37" descr="/home/claude/ppt/icons/camera_white.png"/>
            <p:cNvSpPr/>
            <p:nvPr/>
          </p:nvSpPr>
          <p:spPr>
            <a:xfrm flipH="false" flipV="false" rot="0">
              <a:off x="0" y="0"/>
              <a:ext cx="596900" cy="596900"/>
            </a:xfrm>
            <a:custGeom>
              <a:avLst/>
              <a:gdLst/>
              <a:ahLst/>
              <a:cxnLst/>
              <a:rect r="r" b="b" t="t" l="l"/>
              <a:pathLst>
                <a:path h="596900" w="596900">
                  <a:moveTo>
                    <a:pt x="0" y="0"/>
                  </a:moveTo>
                  <a:lnTo>
                    <a:pt x="596900" y="0"/>
                  </a:lnTo>
                  <a:lnTo>
                    <a:pt x="596900" y="596900"/>
                  </a:lnTo>
                  <a:lnTo>
                    <a:pt x="0" y="596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4" b="-4"/>
              </a:stretch>
            </a:blip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2557455" y="3840480"/>
            <a:ext cx="4632808" cy="754380"/>
            <a:chOff x="0" y="0"/>
            <a:chExt cx="6177077" cy="100584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6177076" cy="1005840"/>
            </a:xfrm>
            <a:custGeom>
              <a:avLst/>
              <a:gdLst/>
              <a:ahLst/>
              <a:cxnLst/>
              <a:rect r="r" b="b" t="t" l="l"/>
              <a:pathLst>
                <a:path h="1005840" w="6177076">
                  <a:moveTo>
                    <a:pt x="0" y="0"/>
                  </a:moveTo>
                  <a:lnTo>
                    <a:pt x="6177076" y="0"/>
                  </a:lnTo>
                  <a:lnTo>
                    <a:pt x="6177076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9661" r="0" b="-69661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57150"/>
              <a:ext cx="6177077" cy="10629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57"/>
                </a:lnSpc>
              </a:pPr>
              <a:r>
                <a:rPr lang="en-US" sz="1950" b="true">
                  <a:solidFill>
                    <a:srgbClr val="0B1E3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Webcam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2557455" y="4567428"/>
            <a:ext cx="4632808" cy="960120"/>
            <a:chOff x="0" y="0"/>
            <a:chExt cx="6177077" cy="128016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6177076" cy="1280160"/>
            </a:xfrm>
            <a:custGeom>
              <a:avLst/>
              <a:gdLst/>
              <a:ahLst/>
              <a:cxnLst/>
              <a:rect r="r" b="b" t="t" l="l"/>
              <a:pathLst>
                <a:path h="1280160" w="6177076">
                  <a:moveTo>
                    <a:pt x="0" y="0"/>
                  </a:moveTo>
                  <a:lnTo>
                    <a:pt x="6177076" y="0"/>
                  </a:lnTo>
                  <a:lnTo>
                    <a:pt x="6177076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4019" r="0" b="-44019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57150"/>
              <a:ext cx="6177077" cy="13373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8"/>
                </a:lnSpc>
              </a:pPr>
              <a:r>
                <a:rPr lang="en-US" sz="1575">
                  <a:solidFill>
                    <a:srgbClr val="50607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Captures live images of students during attendance.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744855" y="6025515"/>
            <a:ext cx="5337658" cy="3242310"/>
            <a:chOff x="0" y="0"/>
            <a:chExt cx="7116877" cy="432308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7116826" cy="4323080"/>
            </a:xfrm>
            <a:custGeom>
              <a:avLst/>
              <a:gdLst/>
              <a:ahLst/>
              <a:cxnLst/>
              <a:rect r="r" b="b" t="t" l="l"/>
              <a:pathLst>
                <a:path h="4323080" w="7116826">
                  <a:moveTo>
                    <a:pt x="0" y="183896"/>
                  </a:moveTo>
                  <a:cubicBezTo>
                    <a:pt x="0" y="82296"/>
                    <a:pt x="82296" y="0"/>
                    <a:pt x="183896" y="0"/>
                  </a:cubicBezTo>
                  <a:lnTo>
                    <a:pt x="6932930" y="0"/>
                  </a:lnTo>
                  <a:cubicBezTo>
                    <a:pt x="7034530" y="0"/>
                    <a:pt x="7116826" y="82296"/>
                    <a:pt x="7116826" y="183896"/>
                  </a:cubicBezTo>
                  <a:lnTo>
                    <a:pt x="7116826" y="4139184"/>
                  </a:lnTo>
                  <a:cubicBezTo>
                    <a:pt x="7116826" y="4240784"/>
                    <a:pt x="7034530" y="4323080"/>
                    <a:pt x="6932930" y="4323080"/>
                  </a:cubicBezTo>
                  <a:lnTo>
                    <a:pt x="183896" y="4323080"/>
                  </a:lnTo>
                  <a:cubicBezTo>
                    <a:pt x="82296" y="4323080"/>
                    <a:pt x="0" y="4240784"/>
                    <a:pt x="0" y="4139184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CE5F0"/>
              </a:solidFill>
              <a:prstDash val="solid"/>
              <a:miter/>
            </a:ln>
          </p:spPr>
        </p:sp>
      </p:grpSp>
      <p:grpSp>
        <p:nvGrpSpPr>
          <p:cNvPr name="Group 46" id="46"/>
          <p:cNvGrpSpPr/>
          <p:nvPr/>
        </p:nvGrpSpPr>
        <p:grpSpPr>
          <a:xfrm rot="0">
            <a:off x="1097280" y="6377940"/>
            <a:ext cx="932688" cy="932688"/>
            <a:chOff x="0" y="0"/>
            <a:chExt cx="1243584" cy="1243584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243584" cy="1243584"/>
            </a:xfrm>
            <a:custGeom>
              <a:avLst/>
              <a:gdLst/>
              <a:ahLst/>
              <a:cxnLst/>
              <a:rect r="r" b="b" t="t" l="l"/>
              <a:pathLst>
                <a:path h="1243584" w="1243584">
                  <a:moveTo>
                    <a:pt x="0" y="621792"/>
                  </a:moveTo>
                  <a:cubicBezTo>
                    <a:pt x="0" y="278384"/>
                    <a:pt x="278384" y="0"/>
                    <a:pt x="621792" y="0"/>
                  </a:cubicBezTo>
                  <a:cubicBezTo>
                    <a:pt x="965200" y="0"/>
                    <a:pt x="1243584" y="278384"/>
                    <a:pt x="1243584" y="621792"/>
                  </a:cubicBezTo>
                  <a:cubicBezTo>
                    <a:pt x="1243584" y="965200"/>
                    <a:pt x="965200" y="1243584"/>
                    <a:pt x="621792" y="1243584"/>
                  </a:cubicBezTo>
                  <a:cubicBezTo>
                    <a:pt x="278384" y="1243584"/>
                    <a:pt x="0" y="965200"/>
                    <a:pt x="0" y="621792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1339777" y="6620437"/>
            <a:ext cx="447694" cy="447694"/>
            <a:chOff x="0" y="0"/>
            <a:chExt cx="596925" cy="596925"/>
          </a:xfrm>
        </p:grpSpPr>
        <p:sp>
          <p:nvSpPr>
            <p:cNvPr name="Freeform 49" id="49" descr="/home/claude/ppt/icons/led_white.png"/>
            <p:cNvSpPr/>
            <p:nvPr/>
          </p:nvSpPr>
          <p:spPr>
            <a:xfrm flipH="false" flipV="false" rot="0">
              <a:off x="0" y="0"/>
              <a:ext cx="596900" cy="596900"/>
            </a:xfrm>
            <a:custGeom>
              <a:avLst/>
              <a:gdLst/>
              <a:ahLst/>
              <a:cxnLst/>
              <a:rect r="r" b="b" t="t" l="l"/>
              <a:pathLst>
                <a:path h="596900" w="596900">
                  <a:moveTo>
                    <a:pt x="0" y="0"/>
                  </a:moveTo>
                  <a:lnTo>
                    <a:pt x="596900" y="0"/>
                  </a:lnTo>
                  <a:lnTo>
                    <a:pt x="596900" y="596900"/>
                  </a:lnTo>
                  <a:lnTo>
                    <a:pt x="0" y="596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-4" b="-4"/>
              </a:stretch>
            </a:blip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1097280" y="7475220"/>
            <a:ext cx="4632808" cy="754380"/>
            <a:chOff x="0" y="0"/>
            <a:chExt cx="6177077" cy="100584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6177076" cy="1005840"/>
            </a:xfrm>
            <a:custGeom>
              <a:avLst/>
              <a:gdLst/>
              <a:ahLst/>
              <a:cxnLst/>
              <a:rect r="r" b="b" t="t" l="l"/>
              <a:pathLst>
                <a:path h="1005840" w="6177076">
                  <a:moveTo>
                    <a:pt x="0" y="0"/>
                  </a:moveTo>
                  <a:lnTo>
                    <a:pt x="6177076" y="0"/>
                  </a:lnTo>
                  <a:lnTo>
                    <a:pt x="6177076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9661" r="0" b="-69661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57150"/>
              <a:ext cx="6177077" cy="10629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57"/>
                </a:lnSpc>
              </a:pPr>
              <a:r>
                <a:rPr lang="en-US" sz="1950" b="true">
                  <a:solidFill>
                    <a:srgbClr val="0B1E3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RGB LED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097280" y="8202168"/>
            <a:ext cx="4632808" cy="960120"/>
            <a:chOff x="0" y="0"/>
            <a:chExt cx="6177077" cy="128016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6177076" cy="1280160"/>
            </a:xfrm>
            <a:custGeom>
              <a:avLst/>
              <a:gdLst/>
              <a:ahLst/>
              <a:cxnLst/>
              <a:rect r="r" b="b" t="t" l="l"/>
              <a:pathLst>
                <a:path h="1280160" w="6177076">
                  <a:moveTo>
                    <a:pt x="0" y="0"/>
                  </a:moveTo>
                  <a:lnTo>
                    <a:pt x="6177076" y="0"/>
                  </a:lnTo>
                  <a:lnTo>
                    <a:pt x="6177076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4019" r="0" b="-44019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57150"/>
              <a:ext cx="6177077" cy="13373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8"/>
                </a:lnSpc>
              </a:pPr>
              <a:r>
                <a:rPr lang="en-US" sz="1575">
                  <a:solidFill>
                    <a:srgbClr val="50607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Visual status indication — blue / green / red.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6474943" y="6025515"/>
            <a:ext cx="5337658" cy="3242310"/>
            <a:chOff x="0" y="0"/>
            <a:chExt cx="7116877" cy="432308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7116826" cy="4323080"/>
            </a:xfrm>
            <a:custGeom>
              <a:avLst/>
              <a:gdLst/>
              <a:ahLst/>
              <a:cxnLst/>
              <a:rect r="r" b="b" t="t" l="l"/>
              <a:pathLst>
                <a:path h="4323080" w="7116826">
                  <a:moveTo>
                    <a:pt x="0" y="183896"/>
                  </a:moveTo>
                  <a:cubicBezTo>
                    <a:pt x="0" y="82296"/>
                    <a:pt x="82296" y="0"/>
                    <a:pt x="183896" y="0"/>
                  </a:cubicBezTo>
                  <a:lnTo>
                    <a:pt x="6932930" y="0"/>
                  </a:lnTo>
                  <a:cubicBezTo>
                    <a:pt x="7034530" y="0"/>
                    <a:pt x="7116826" y="82296"/>
                    <a:pt x="7116826" y="183896"/>
                  </a:cubicBezTo>
                  <a:lnTo>
                    <a:pt x="7116826" y="4139184"/>
                  </a:lnTo>
                  <a:cubicBezTo>
                    <a:pt x="7116826" y="4240784"/>
                    <a:pt x="7034530" y="4323080"/>
                    <a:pt x="6932930" y="4323080"/>
                  </a:cubicBezTo>
                  <a:lnTo>
                    <a:pt x="183896" y="4323080"/>
                  </a:lnTo>
                  <a:cubicBezTo>
                    <a:pt x="82296" y="4323080"/>
                    <a:pt x="0" y="4240784"/>
                    <a:pt x="0" y="4139184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CE5F0"/>
              </a:solidFill>
              <a:prstDash val="solid"/>
              <a:miter/>
            </a:ln>
          </p:spPr>
        </p:sp>
      </p:grpSp>
      <p:grpSp>
        <p:nvGrpSpPr>
          <p:cNvPr name="Group 58" id="58"/>
          <p:cNvGrpSpPr/>
          <p:nvPr/>
        </p:nvGrpSpPr>
        <p:grpSpPr>
          <a:xfrm rot="0">
            <a:off x="6827368" y="6377940"/>
            <a:ext cx="932688" cy="932688"/>
            <a:chOff x="0" y="0"/>
            <a:chExt cx="1243584" cy="1243584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243584" cy="1243584"/>
            </a:xfrm>
            <a:custGeom>
              <a:avLst/>
              <a:gdLst/>
              <a:ahLst/>
              <a:cxnLst/>
              <a:rect r="r" b="b" t="t" l="l"/>
              <a:pathLst>
                <a:path h="1243584" w="1243584">
                  <a:moveTo>
                    <a:pt x="0" y="621792"/>
                  </a:moveTo>
                  <a:cubicBezTo>
                    <a:pt x="0" y="278384"/>
                    <a:pt x="278384" y="0"/>
                    <a:pt x="621792" y="0"/>
                  </a:cubicBezTo>
                  <a:cubicBezTo>
                    <a:pt x="965200" y="0"/>
                    <a:pt x="1243584" y="278384"/>
                    <a:pt x="1243584" y="621792"/>
                  </a:cubicBezTo>
                  <a:cubicBezTo>
                    <a:pt x="1243584" y="965200"/>
                    <a:pt x="965200" y="1243584"/>
                    <a:pt x="621792" y="1243584"/>
                  </a:cubicBezTo>
                  <a:cubicBezTo>
                    <a:pt x="278384" y="1243584"/>
                    <a:pt x="0" y="965200"/>
                    <a:pt x="0" y="621792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7069865" y="6620437"/>
            <a:ext cx="447694" cy="447694"/>
            <a:chOff x="0" y="0"/>
            <a:chExt cx="596925" cy="596925"/>
          </a:xfrm>
        </p:grpSpPr>
        <p:sp>
          <p:nvSpPr>
            <p:cNvPr name="Freeform 61" id="61" descr="/home/claude/ppt/icons/wifi_white.png"/>
            <p:cNvSpPr/>
            <p:nvPr/>
          </p:nvSpPr>
          <p:spPr>
            <a:xfrm flipH="false" flipV="false" rot="0">
              <a:off x="0" y="0"/>
              <a:ext cx="596900" cy="596900"/>
            </a:xfrm>
            <a:custGeom>
              <a:avLst/>
              <a:gdLst/>
              <a:ahLst/>
              <a:cxnLst/>
              <a:rect r="r" b="b" t="t" l="l"/>
              <a:pathLst>
                <a:path h="596900" w="596900">
                  <a:moveTo>
                    <a:pt x="0" y="0"/>
                  </a:moveTo>
                  <a:lnTo>
                    <a:pt x="596900" y="0"/>
                  </a:lnTo>
                  <a:lnTo>
                    <a:pt x="596900" y="596900"/>
                  </a:lnTo>
                  <a:lnTo>
                    <a:pt x="0" y="596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-4" b="-4"/>
              </a:stretch>
            </a:blip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6827368" y="7475220"/>
            <a:ext cx="4632808" cy="754380"/>
            <a:chOff x="0" y="0"/>
            <a:chExt cx="6177077" cy="100584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6177076" cy="1005840"/>
            </a:xfrm>
            <a:custGeom>
              <a:avLst/>
              <a:gdLst/>
              <a:ahLst/>
              <a:cxnLst/>
              <a:rect r="r" b="b" t="t" l="l"/>
              <a:pathLst>
                <a:path h="1005840" w="6177076">
                  <a:moveTo>
                    <a:pt x="0" y="0"/>
                  </a:moveTo>
                  <a:lnTo>
                    <a:pt x="6177076" y="0"/>
                  </a:lnTo>
                  <a:lnTo>
                    <a:pt x="6177076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9661" r="0" b="-69661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57150"/>
              <a:ext cx="6177077" cy="10629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57"/>
                </a:lnSpc>
              </a:pPr>
              <a:r>
                <a:rPr lang="en-US" sz="1950" b="true">
                  <a:solidFill>
                    <a:srgbClr val="0B1E3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Wi-Fi Network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6827368" y="8202168"/>
            <a:ext cx="4632808" cy="960120"/>
            <a:chOff x="0" y="0"/>
            <a:chExt cx="6177077" cy="128016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6177076" cy="1280160"/>
            </a:xfrm>
            <a:custGeom>
              <a:avLst/>
              <a:gdLst/>
              <a:ahLst/>
              <a:cxnLst/>
              <a:rect r="r" b="b" t="t" l="l"/>
              <a:pathLst>
                <a:path h="1280160" w="6177076">
                  <a:moveTo>
                    <a:pt x="0" y="0"/>
                  </a:moveTo>
                  <a:lnTo>
                    <a:pt x="6177076" y="0"/>
                  </a:lnTo>
                  <a:lnTo>
                    <a:pt x="6177076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4019" r="0" b="-44019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57150"/>
              <a:ext cx="6177077" cy="13373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8"/>
                </a:lnSpc>
              </a:pPr>
              <a:r>
                <a:rPr lang="en-US" sz="1575">
                  <a:solidFill>
                    <a:srgbClr val="50607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Connects the attendance application with the SiWG917 board.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12205030" y="6025515"/>
            <a:ext cx="5337658" cy="3242310"/>
            <a:chOff x="0" y="0"/>
            <a:chExt cx="7116877" cy="432308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7116826" cy="4323080"/>
            </a:xfrm>
            <a:custGeom>
              <a:avLst/>
              <a:gdLst/>
              <a:ahLst/>
              <a:cxnLst/>
              <a:rect r="r" b="b" t="t" l="l"/>
              <a:pathLst>
                <a:path h="4323080" w="7116826">
                  <a:moveTo>
                    <a:pt x="0" y="183896"/>
                  </a:moveTo>
                  <a:cubicBezTo>
                    <a:pt x="0" y="82296"/>
                    <a:pt x="82296" y="0"/>
                    <a:pt x="183896" y="0"/>
                  </a:cubicBezTo>
                  <a:lnTo>
                    <a:pt x="6932930" y="0"/>
                  </a:lnTo>
                  <a:cubicBezTo>
                    <a:pt x="7034530" y="0"/>
                    <a:pt x="7116826" y="82296"/>
                    <a:pt x="7116826" y="183896"/>
                  </a:cubicBezTo>
                  <a:lnTo>
                    <a:pt x="7116826" y="4139184"/>
                  </a:lnTo>
                  <a:cubicBezTo>
                    <a:pt x="7116826" y="4240784"/>
                    <a:pt x="7034530" y="4323080"/>
                    <a:pt x="6932930" y="4323080"/>
                  </a:cubicBezTo>
                  <a:lnTo>
                    <a:pt x="183896" y="4323080"/>
                  </a:lnTo>
                  <a:cubicBezTo>
                    <a:pt x="82296" y="4323080"/>
                    <a:pt x="0" y="4240784"/>
                    <a:pt x="0" y="4139184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CE5F0"/>
              </a:solidFill>
              <a:prstDash val="solid"/>
              <a:miter/>
            </a:ln>
          </p:spPr>
        </p:sp>
      </p:grpSp>
      <p:grpSp>
        <p:nvGrpSpPr>
          <p:cNvPr name="Group 70" id="70"/>
          <p:cNvGrpSpPr/>
          <p:nvPr/>
        </p:nvGrpSpPr>
        <p:grpSpPr>
          <a:xfrm rot="0">
            <a:off x="12557455" y="6377940"/>
            <a:ext cx="932688" cy="932688"/>
            <a:chOff x="0" y="0"/>
            <a:chExt cx="1243584" cy="1243584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1243584" cy="1243584"/>
            </a:xfrm>
            <a:custGeom>
              <a:avLst/>
              <a:gdLst/>
              <a:ahLst/>
              <a:cxnLst/>
              <a:rect r="r" b="b" t="t" l="l"/>
              <a:pathLst>
                <a:path h="1243584" w="1243584">
                  <a:moveTo>
                    <a:pt x="0" y="621792"/>
                  </a:moveTo>
                  <a:cubicBezTo>
                    <a:pt x="0" y="278384"/>
                    <a:pt x="278384" y="0"/>
                    <a:pt x="621792" y="0"/>
                  </a:cubicBezTo>
                  <a:cubicBezTo>
                    <a:pt x="965200" y="0"/>
                    <a:pt x="1243584" y="278384"/>
                    <a:pt x="1243584" y="621792"/>
                  </a:cubicBezTo>
                  <a:cubicBezTo>
                    <a:pt x="1243584" y="965200"/>
                    <a:pt x="965200" y="1243584"/>
                    <a:pt x="621792" y="1243584"/>
                  </a:cubicBezTo>
                  <a:cubicBezTo>
                    <a:pt x="278384" y="1243584"/>
                    <a:pt x="0" y="965200"/>
                    <a:pt x="0" y="621792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72" id="72"/>
          <p:cNvGrpSpPr/>
          <p:nvPr/>
        </p:nvGrpSpPr>
        <p:grpSpPr>
          <a:xfrm rot="0">
            <a:off x="12799952" y="6620437"/>
            <a:ext cx="447694" cy="447694"/>
            <a:chOff x="0" y="0"/>
            <a:chExt cx="596925" cy="596925"/>
          </a:xfrm>
        </p:grpSpPr>
        <p:sp>
          <p:nvSpPr>
            <p:cNvPr name="Freeform 73" id="73" descr="/home/claude/ppt/icons/usb_white.png"/>
            <p:cNvSpPr/>
            <p:nvPr/>
          </p:nvSpPr>
          <p:spPr>
            <a:xfrm flipH="false" flipV="false" rot="0">
              <a:off x="0" y="0"/>
              <a:ext cx="596900" cy="596900"/>
            </a:xfrm>
            <a:custGeom>
              <a:avLst/>
              <a:gdLst/>
              <a:ahLst/>
              <a:cxnLst/>
              <a:rect r="r" b="b" t="t" l="l"/>
              <a:pathLst>
                <a:path h="596900" w="596900">
                  <a:moveTo>
                    <a:pt x="0" y="0"/>
                  </a:moveTo>
                  <a:lnTo>
                    <a:pt x="596900" y="0"/>
                  </a:lnTo>
                  <a:lnTo>
                    <a:pt x="596900" y="596900"/>
                  </a:lnTo>
                  <a:lnTo>
                    <a:pt x="0" y="596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-4" b="-4"/>
              </a:stretch>
            </a:blip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12557455" y="7475220"/>
            <a:ext cx="4632808" cy="754380"/>
            <a:chOff x="0" y="0"/>
            <a:chExt cx="6177077" cy="100584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6177076" cy="1005840"/>
            </a:xfrm>
            <a:custGeom>
              <a:avLst/>
              <a:gdLst/>
              <a:ahLst/>
              <a:cxnLst/>
              <a:rect r="r" b="b" t="t" l="l"/>
              <a:pathLst>
                <a:path h="1005840" w="6177076">
                  <a:moveTo>
                    <a:pt x="0" y="0"/>
                  </a:moveTo>
                  <a:lnTo>
                    <a:pt x="6177076" y="0"/>
                  </a:lnTo>
                  <a:lnTo>
                    <a:pt x="6177076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9661" r="0" b="-69661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57150"/>
              <a:ext cx="6177077" cy="10629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57"/>
                </a:lnSpc>
              </a:pPr>
              <a:r>
                <a:rPr lang="en-US" sz="1950" b="true">
                  <a:solidFill>
                    <a:srgbClr val="0B1E3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USB Cable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12557455" y="8202168"/>
            <a:ext cx="4632808" cy="960120"/>
            <a:chOff x="0" y="0"/>
            <a:chExt cx="6177077" cy="128016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6177076" cy="1280160"/>
            </a:xfrm>
            <a:custGeom>
              <a:avLst/>
              <a:gdLst/>
              <a:ahLst/>
              <a:cxnLst/>
              <a:rect r="r" b="b" t="t" l="l"/>
              <a:pathLst>
                <a:path h="1280160" w="6177076">
                  <a:moveTo>
                    <a:pt x="0" y="0"/>
                  </a:moveTo>
                  <a:lnTo>
                    <a:pt x="6177076" y="0"/>
                  </a:lnTo>
                  <a:lnTo>
                    <a:pt x="6177076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4019" r="0" b="-44019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57150"/>
              <a:ext cx="6177077" cy="13373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8"/>
                </a:lnSpc>
              </a:pPr>
              <a:r>
                <a:rPr lang="en-US" sz="1575">
                  <a:solidFill>
                    <a:srgbClr val="50607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Programs and powers the development board during setup.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685800" y="9738360"/>
            <a:ext cx="9601200" cy="411480"/>
            <a:chOff x="0" y="0"/>
            <a:chExt cx="12801600" cy="54864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12801600" cy="548640"/>
            </a:xfrm>
            <a:custGeom>
              <a:avLst/>
              <a:gdLst/>
              <a:ahLst/>
              <a:cxnLst/>
              <a:rect r="r" b="b" t="t" l="l"/>
              <a:pathLst>
                <a:path h="548640" w="12801600">
                  <a:moveTo>
                    <a:pt x="0" y="0"/>
                  </a:moveTo>
                  <a:lnTo>
                    <a:pt x="12801600" y="0"/>
                  </a:lnTo>
                  <a:lnTo>
                    <a:pt x="128016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04650" r="0" b="-404650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19050"/>
              <a:ext cx="1280160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sz="1200" spc="150">
                  <a:solidFill>
                    <a:srgbClr val="9FB0C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SMART FACE ATTENDANCE &amp; ACCESS GATE SYSTEM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16915943" y="9738360"/>
            <a:ext cx="685800" cy="411480"/>
            <a:chOff x="0" y="0"/>
            <a:chExt cx="914400" cy="54864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9FB0C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05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85800"/>
            <a:ext cx="10972800" cy="480060"/>
            <a:chOff x="0" y="0"/>
            <a:chExt cx="146304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640080"/>
            </a:xfrm>
            <a:custGeom>
              <a:avLst/>
              <a:gdLst/>
              <a:ahLst/>
              <a:cxnLst/>
              <a:rect r="r" b="b" t="t" l="l"/>
              <a:pathLst>
                <a:path h="64008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95372" r="0" b="-39537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46304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300">
                  <a:solidFill>
                    <a:srgbClr val="22D3E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OBJECTIVES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1165860"/>
            <a:ext cx="15773400" cy="960120"/>
            <a:chOff x="0" y="0"/>
            <a:chExt cx="21031200" cy="12801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0312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0111" r="0" b="-270111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1031200" cy="1299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0B1E3D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What the System Aims to Achieve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40867" y="2527935"/>
            <a:ext cx="3918852" cy="1843278"/>
            <a:chOff x="0" y="0"/>
            <a:chExt cx="5225136" cy="245770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225161" cy="2457704"/>
            </a:xfrm>
            <a:custGeom>
              <a:avLst/>
              <a:gdLst/>
              <a:ahLst/>
              <a:cxnLst/>
              <a:rect r="r" b="b" t="t" l="l"/>
              <a:pathLst>
                <a:path h="2457704" w="5225161">
                  <a:moveTo>
                    <a:pt x="0" y="184785"/>
                  </a:moveTo>
                  <a:cubicBezTo>
                    <a:pt x="0" y="82677"/>
                    <a:pt x="82677" y="0"/>
                    <a:pt x="184785" y="0"/>
                  </a:cubicBezTo>
                  <a:lnTo>
                    <a:pt x="5040376" y="0"/>
                  </a:lnTo>
                  <a:cubicBezTo>
                    <a:pt x="5142484" y="0"/>
                    <a:pt x="5225161" y="82677"/>
                    <a:pt x="5225161" y="184785"/>
                  </a:cubicBezTo>
                  <a:lnTo>
                    <a:pt x="5225161" y="2272919"/>
                  </a:lnTo>
                  <a:cubicBezTo>
                    <a:pt x="5225161" y="2375027"/>
                    <a:pt x="5142484" y="2457704"/>
                    <a:pt x="5040376" y="2457704"/>
                  </a:cubicBezTo>
                  <a:lnTo>
                    <a:pt x="184785" y="2457704"/>
                  </a:lnTo>
                  <a:cubicBezTo>
                    <a:pt x="82677" y="2457704"/>
                    <a:pt x="0" y="2375027"/>
                    <a:pt x="0" y="2272919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CE5F0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2361381" y="2756916"/>
            <a:ext cx="877824" cy="877824"/>
            <a:chOff x="0" y="0"/>
            <a:chExt cx="1170432" cy="117043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70432" cy="1170432"/>
            </a:xfrm>
            <a:custGeom>
              <a:avLst/>
              <a:gdLst/>
              <a:ahLst/>
              <a:cxnLst/>
              <a:rect r="r" b="b" t="t" l="l"/>
              <a:pathLst>
                <a:path h="1170432" w="1170432">
                  <a:moveTo>
                    <a:pt x="0" y="585216"/>
                  </a:moveTo>
                  <a:cubicBezTo>
                    <a:pt x="0" y="262001"/>
                    <a:pt x="262001" y="0"/>
                    <a:pt x="585216" y="0"/>
                  </a:cubicBezTo>
                  <a:cubicBezTo>
                    <a:pt x="908431" y="0"/>
                    <a:pt x="1170432" y="262001"/>
                    <a:pt x="1170432" y="585216"/>
                  </a:cubicBezTo>
                  <a:cubicBezTo>
                    <a:pt x="1170432" y="908431"/>
                    <a:pt x="908431" y="1170432"/>
                    <a:pt x="585216" y="1170432"/>
                  </a:cubicBezTo>
                  <a:cubicBezTo>
                    <a:pt x="262001" y="1170432"/>
                    <a:pt x="0" y="908431"/>
                    <a:pt x="0" y="585216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589619" y="2985154"/>
            <a:ext cx="421357" cy="421357"/>
            <a:chOff x="0" y="0"/>
            <a:chExt cx="561810" cy="561810"/>
          </a:xfrm>
        </p:grpSpPr>
        <p:sp>
          <p:nvSpPr>
            <p:cNvPr name="Freeform 13" id="13" descr="/home/claude/ppt/icons/face_white.png"/>
            <p:cNvSpPr/>
            <p:nvPr/>
          </p:nvSpPr>
          <p:spPr>
            <a:xfrm flipH="false" flipV="false" rot="0">
              <a:off x="0" y="0"/>
              <a:ext cx="561848" cy="561848"/>
            </a:xfrm>
            <a:custGeom>
              <a:avLst/>
              <a:gdLst/>
              <a:ahLst/>
              <a:cxnLst/>
              <a:rect r="r" b="b" t="t" l="l"/>
              <a:pathLst>
                <a:path h="561848" w="561848">
                  <a:moveTo>
                    <a:pt x="0" y="0"/>
                  </a:moveTo>
                  <a:lnTo>
                    <a:pt x="561848" y="0"/>
                  </a:lnTo>
                  <a:lnTo>
                    <a:pt x="561848" y="561848"/>
                  </a:lnTo>
                  <a:lnTo>
                    <a:pt x="0" y="5618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6" b="6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051560" y="3806952"/>
            <a:ext cx="3497466" cy="399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79"/>
              </a:lnSpc>
            </a:pPr>
            <a:r>
              <a:rPr lang="en-US" sz="1575" b="true">
                <a:solidFill>
                  <a:srgbClr val="0B1E3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Automated Face-Recognition Attendance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5069853" y="2527935"/>
            <a:ext cx="3918852" cy="1843278"/>
            <a:chOff x="0" y="0"/>
            <a:chExt cx="5225136" cy="245770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225161" cy="2457704"/>
            </a:xfrm>
            <a:custGeom>
              <a:avLst/>
              <a:gdLst/>
              <a:ahLst/>
              <a:cxnLst/>
              <a:rect r="r" b="b" t="t" l="l"/>
              <a:pathLst>
                <a:path h="2457704" w="5225161">
                  <a:moveTo>
                    <a:pt x="0" y="184785"/>
                  </a:moveTo>
                  <a:cubicBezTo>
                    <a:pt x="0" y="82677"/>
                    <a:pt x="82677" y="0"/>
                    <a:pt x="184785" y="0"/>
                  </a:cubicBezTo>
                  <a:lnTo>
                    <a:pt x="5040376" y="0"/>
                  </a:lnTo>
                  <a:cubicBezTo>
                    <a:pt x="5142484" y="0"/>
                    <a:pt x="5225161" y="82677"/>
                    <a:pt x="5225161" y="184785"/>
                  </a:cubicBezTo>
                  <a:lnTo>
                    <a:pt x="5225161" y="2272919"/>
                  </a:lnTo>
                  <a:cubicBezTo>
                    <a:pt x="5225161" y="2375027"/>
                    <a:pt x="5142484" y="2457704"/>
                    <a:pt x="5040376" y="2457704"/>
                  </a:cubicBezTo>
                  <a:lnTo>
                    <a:pt x="184785" y="2457704"/>
                  </a:lnTo>
                  <a:cubicBezTo>
                    <a:pt x="82677" y="2457704"/>
                    <a:pt x="0" y="2375027"/>
                    <a:pt x="0" y="2272919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CE5F0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6590367" y="2756916"/>
            <a:ext cx="877824" cy="877824"/>
            <a:chOff x="0" y="0"/>
            <a:chExt cx="1170432" cy="117043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170432" cy="1170432"/>
            </a:xfrm>
            <a:custGeom>
              <a:avLst/>
              <a:gdLst/>
              <a:ahLst/>
              <a:cxnLst/>
              <a:rect r="r" b="b" t="t" l="l"/>
              <a:pathLst>
                <a:path h="1170432" w="1170432">
                  <a:moveTo>
                    <a:pt x="0" y="585216"/>
                  </a:moveTo>
                  <a:cubicBezTo>
                    <a:pt x="0" y="262001"/>
                    <a:pt x="262001" y="0"/>
                    <a:pt x="585216" y="0"/>
                  </a:cubicBezTo>
                  <a:cubicBezTo>
                    <a:pt x="908431" y="0"/>
                    <a:pt x="1170432" y="262001"/>
                    <a:pt x="1170432" y="585216"/>
                  </a:cubicBezTo>
                  <a:cubicBezTo>
                    <a:pt x="1170432" y="908431"/>
                    <a:pt x="908431" y="1170432"/>
                    <a:pt x="585216" y="1170432"/>
                  </a:cubicBezTo>
                  <a:cubicBezTo>
                    <a:pt x="262001" y="1170432"/>
                    <a:pt x="0" y="908431"/>
                    <a:pt x="0" y="585216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6818605" y="2985154"/>
            <a:ext cx="421357" cy="421357"/>
            <a:chOff x="0" y="0"/>
            <a:chExt cx="561810" cy="561810"/>
          </a:xfrm>
        </p:grpSpPr>
        <p:sp>
          <p:nvSpPr>
            <p:cNvPr name="Freeform 20" id="20" descr="/home/claude/ppt/icons/ban_white.png"/>
            <p:cNvSpPr/>
            <p:nvPr/>
          </p:nvSpPr>
          <p:spPr>
            <a:xfrm flipH="false" flipV="false" rot="0">
              <a:off x="0" y="0"/>
              <a:ext cx="561848" cy="561848"/>
            </a:xfrm>
            <a:custGeom>
              <a:avLst/>
              <a:gdLst/>
              <a:ahLst/>
              <a:cxnLst/>
              <a:rect r="r" b="b" t="t" l="l"/>
              <a:pathLst>
                <a:path h="561848" w="561848">
                  <a:moveTo>
                    <a:pt x="0" y="0"/>
                  </a:moveTo>
                  <a:lnTo>
                    <a:pt x="561848" y="0"/>
                  </a:lnTo>
                  <a:lnTo>
                    <a:pt x="561848" y="561848"/>
                  </a:lnTo>
                  <a:lnTo>
                    <a:pt x="0" y="5618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6" b="6"/>
              </a:stretch>
            </a:blip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5280546" y="3806952"/>
            <a:ext cx="3497466" cy="399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79"/>
              </a:lnSpc>
            </a:pPr>
            <a:r>
              <a:rPr lang="en-US" sz="1575" b="true">
                <a:solidFill>
                  <a:srgbClr val="0B1E3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Eliminate Manual Attendance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9298838" y="2527935"/>
            <a:ext cx="3918852" cy="1843278"/>
            <a:chOff x="0" y="0"/>
            <a:chExt cx="5225136" cy="245770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225161" cy="2457704"/>
            </a:xfrm>
            <a:custGeom>
              <a:avLst/>
              <a:gdLst/>
              <a:ahLst/>
              <a:cxnLst/>
              <a:rect r="r" b="b" t="t" l="l"/>
              <a:pathLst>
                <a:path h="2457704" w="5225161">
                  <a:moveTo>
                    <a:pt x="0" y="184785"/>
                  </a:moveTo>
                  <a:cubicBezTo>
                    <a:pt x="0" y="82677"/>
                    <a:pt x="82677" y="0"/>
                    <a:pt x="184785" y="0"/>
                  </a:cubicBezTo>
                  <a:lnTo>
                    <a:pt x="5040376" y="0"/>
                  </a:lnTo>
                  <a:cubicBezTo>
                    <a:pt x="5142484" y="0"/>
                    <a:pt x="5225161" y="82677"/>
                    <a:pt x="5225161" y="184785"/>
                  </a:cubicBezTo>
                  <a:lnTo>
                    <a:pt x="5225161" y="2272919"/>
                  </a:lnTo>
                  <a:cubicBezTo>
                    <a:pt x="5225161" y="2375027"/>
                    <a:pt x="5142484" y="2457704"/>
                    <a:pt x="5040376" y="2457704"/>
                  </a:cubicBezTo>
                  <a:lnTo>
                    <a:pt x="184785" y="2457704"/>
                  </a:lnTo>
                  <a:cubicBezTo>
                    <a:pt x="82677" y="2457704"/>
                    <a:pt x="0" y="2375027"/>
                    <a:pt x="0" y="2272919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CE5F0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10819352" y="2756916"/>
            <a:ext cx="877824" cy="877824"/>
            <a:chOff x="0" y="0"/>
            <a:chExt cx="1170432" cy="1170432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170432" cy="1170432"/>
            </a:xfrm>
            <a:custGeom>
              <a:avLst/>
              <a:gdLst/>
              <a:ahLst/>
              <a:cxnLst/>
              <a:rect r="r" b="b" t="t" l="l"/>
              <a:pathLst>
                <a:path h="1170432" w="1170432">
                  <a:moveTo>
                    <a:pt x="0" y="585216"/>
                  </a:moveTo>
                  <a:cubicBezTo>
                    <a:pt x="0" y="262001"/>
                    <a:pt x="262001" y="0"/>
                    <a:pt x="585216" y="0"/>
                  </a:cubicBezTo>
                  <a:cubicBezTo>
                    <a:pt x="908431" y="0"/>
                    <a:pt x="1170432" y="262001"/>
                    <a:pt x="1170432" y="585216"/>
                  </a:cubicBezTo>
                  <a:cubicBezTo>
                    <a:pt x="1170432" y="908431"/>
                    <a:pt x="908431" y="1170432"/>
                    <a:pt x="585216" y="1170432"/>
                  </a:cubicBezTo>
                  <a:cubicBezTo>
                    <a:pt x="262001" y="1170432"/>
                    <a:pt x="0" y="908431"/>
                    <a:pt x="0" y="585216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1047590" y="2985154"/>
            <a:ext cx="421357" cy="421357"/>
            <a:chOff x="0" y="0"/>
            <a:chExt cx="561810" cy="561810"/>
          </a:xfrm>
        </p:grpSpPr>
        <p:sp>
          <p:nvSpPr>
            <p:cNvPr name="Freeform 27" id="27" descr="/home/claude/ppt/icons/userplus_white.png"/>
            <p:cNvSpPr/>
            <p:nvPr/>
          </p:nvSpPr>
          <p:spPr>
            <a:xfrm flipH="false" flipV="false" rot="0">
              <a:off x="0" y="0"/>
              <a:ext cx="561848" cy="561848"/>
            </a:xfrm>
            <a:custGeom>
              <a:avLst/>
              <a:gdLst/>
              <a:ahLst/>
              <a:cxnLst/>
              <a:rect r="r" b="b" t="t" l="l"/>
              <a:pathLst>
                <a:path h="561848" w="561848">
                  <a:moveTo>
                    <a:pt x="0" y="0"/>
                  </a:moveTo>
                  <a:lnTo>
                    <a:pt x="561848" y="0"/>
                  </a:lnTo>
                  <a:lnTo>
                    <a:pt x="561848" y="561848"/>
                  </a:lnTo>
                  <a:lnTo>
                    <a:pt x="0" y="5618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6" b="6"/>
              </a:stretch>
            </a:blip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9509531" y="3806952"/>
            <a:ext cx="3497466" cy="399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79"/>
              </a:lnSpc>
            </a:pPr>
            <a:r>
              <a:rPr lang="en-US" sz="1575" b="true">
                <a:solidFill>
                  <a:srgbClr val="0B1E3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Student Registration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13527824" y="2527935"/>
            <a:ext cx="3918852" cy="1843278"/>
            <a:chOff x="0" y="0"/>
            <a:chExt cx="5225136" cy="2457704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225161" cy="2457704"/>
            </a:xfrm>
            <a:custGeom>
              <a:avLst/>
              <a:gdLst/>
              <a:ahLst/>
              <a:cxnLst/>
              <a:rect r="r" b="b" t="t" l="l"/>
              <a:pathLst>
                <a:path h="2457704" w="5225161">
                  <a:moveTo>
                    <a:pt x="0" y="184785"/>
                  </a:moveTo>
                  <a:cubicBezTo>
                    <a:pt x="0" y="82677"/>
                    <a:pt x="82677" y="0"/>
                    <a:pt x="184785" y="0"/>
                  </a:cubicBezTo>
                  <a:lnTo>
                    <a:pt x="5040376" y="0"/>
                  </a:lnTo>
                  <a:cubicBezTo>
                    <a:pt x="5142484" y="0"/>
                    <a:pt x="5225161" y="82677"/>
                    <a:pt x="5225161" y="184785"/>
                  </a:cubicBezTo>
                  <a:lnTo>
                    <a:pt x="5225161" y="2272919"/>
                  </a:lnTo>
                  <a:cubicBezTo>
                    <a:pt x="5225161" y="2375027"/>
                    <a:pt x="5142484" y="2457704"/>
                    <a:pt x="5040376" y="2457704"/>
                  </a:cubicBezTo>
                  <a:lnTo>
                    <a:pt x="184785" y="2457704"/>
                  </a:lnTo>
                  <a:cubicBezTo>
                    <a:pt x="82677" y="2457704"/>
                    <a:pt x="0" y="2375027"/>
                    <a:pt x="0" y="2272919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CE5F0"/>
              </a:solidFill>
              <a:prstDash val="solid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15048338" y="2756916"/>
            <a:ext cx="877824" cy="877824"/>
            <a:chOff x="0" y="0"/>
            <a:chExt cx="1170432" cy="1170432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170432" cy="1170432"/>
            </a:xfrm>
            <a:custGeom>
              <a:avLst/>
              <a:gdLst/>
              <a:ahLst/>
              <a:cxnLst/>
              <a:rect r="r" b="b" t="t" l="l"/>
              <a:pathLst>
                <a:path h="1170432" w="1170432">
                  <a:moveTo>
                    <a:pt x="0" y="585216"/>
                  </a:moveTo>
                  <a:cubicBezTo>
                    <a:pt x="0" y="262001"/>
                    <a:pt x="262001" y="0"/>
                    <a:pt x="585216" y="0"/>
                  </a:cubicBezTo>
                  <a:cubicBezTo>
                    <a:pt x="908431" y="0"/>
                    <a:pt x="1170432" y="262001"/>
                    <a:pt x="1170432" y="585216"/>
                  </a:cubicBezTo>
                  <a:cubicBezTo>
                    <a:pt x="1170432" y="908431"/>
                    <a:pt x="908431" y="1170432"/>
                    <a:pt x="585216" y="1170432"/>
                  </a:cubicBezTo>
                  <a:cubicBezTo>
                    <a:pt x="262001" y="1170432"/>
                    <a:pt x="0" y="908431"/>
                    <a:pt x="0" y="585216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5276576" y="2985154"/>
            <a:ext cx="421357" cy="421357"/>
            <a:chOff x="0" y="0"/>
            <a:chExt cx="561810" cy="561810"/>
          </a:xfrm>
        </p:grpSpPr>
        <p:sp>
          <p:nvSpPr>
            <p:cNvPr name="Freeform 34" id="34" descr="/home/claude/ppt/icons/fingerprint_white.png"/>
            <p:cNvSpPr/>
            <p:nvPr/>
          </p:nvSpPr>
          <p:spPr>
            <a:xfrm flipH="false" flipV="false" rot="0">
              <a:off x="0" y="0"/>
              <a:ext cx="561848" cy="561848"/>
            </a:xfrm>
            <a:custGeom>
              <a:avLst/>
              <a:gdLst/>
              <a:ahLst/>
              <a:cxnLst/>
              <a:rect r="r" b="b" t="t" l="l"/>
              <a:pathLst>
                <a:path h="561848" w="561848">
                  <a:moveTo>
                    <a:pt x="0" y="0"/>
                  </a:moveTo>
                  <a:lnTo>
                    <a:pt x="561848" y="0"/>
                  </a:lnTo>
                  <a:lnTo>
                    <a:pt x="561848" y="561848"/>
                  </a:lnTo>
                  <a:lnTo>
                    <a:pt x="0" y="5618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6" b="6"/>
              </a:stretch>
            </a:blipFill>
          </p:spPr>
        </p:sp>
      </p:grpSp>
      <p:sp>
        <p:nvSpPr>
          <p:cNvPr name="TextBox 35" id="35"/>
          <p:cNvSpPr txBox="true"/>
          <p:nvPr/>
        </p:nvSpPr>
        <p:spPr>
          <a:xfrm rot="0">
            <a:off x="13738517" y="3806952"/>
            <a:ext cx="3497466" cy="399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79"/>
              </a:lnSpc>
            </a:pPr>
            <a:r>
              <a:rPr lang="en-US" sz="1575" b="true">
                <a:solidFill>
                  <a:srgbClr val="0B1E3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Facial Embedding-Based Identification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840867" y="4653915"/>
            <a:ext cx="3918852" cy="1843278"/>
            <a:chOff x="0" y="0"/>
            <a:chExt cx="5225136" cy="2457704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5225161" cy="2457704"/>
            </a:xfrm>
            <a:custGeom>
              <a:avLst/>
              <a:gdLst/>
              <a:ahLst/>
              <a:cxnLst/>
              <a:rect r="r" b="b" t="t" l="l"/>
              <a:pathLst>
                <a:path h="2457704" w="5225161">
                  <a:moveTo>
                    <a:pt x="0" y="184785"/>
                  </a:moveTo>
                  <a:cubicBezTo>
                    <a:pt x="0" y="82677"/>
                    <a:pt x="82677" y="0"/>
                    <a:pt x="184785" y="0"/>
                  </a:cubicBezTo>
                  <a:lnTo>
                    <a:pt x="5040376" y="0"/>
                  </a:lnTo>
                  <a:cubicBezTo>
                    <a:pt x="5142484" y="0"/>
                    <a:pt x="5225161" y="82677"/>
                    <a:pt x="5225161" y="184785"/>
                  </a:cubicBezTo>
                  <a:lnTo>
                    <a:pt x="5225161" y="2272919"/>
                  </a:lnTo>
                  <a:cubicBezTo>
                    <a:pt x="5225161" y="2375027"/>
                    <a:pt x="5142484" y="2457704"/>
                    <a:pt x="5040376" y="2457704"/>
                  </a:cubicBezTo>
                  <a:lnTo>
                    <a:pt x="184785" y="2457704"/>
                  </a:lnTo>
                  <a:cubicBezTo>
                    <a:pt x="82677" y="2457704"/>
                    <a:pt x="0" y="2375027"/>
                    <a:pt x="0" y="2272919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CE5F0"/>
              </a:solidFill>
              <a:prstDash val="solid"/>
              <a:miter/>
            </a:ln>
          </p:spPr>
        </p:sp>
      </p:grpSp>
      <p:grpSp>
        <p:nvGrpSpPr>
          <p:cNvPr name="Group 38" id="38"/>
          <p:cNvGrpSpPr/>
          <p:nvPr/>
        </p:nvGrpSpPr>
        <p:grpSpPr>
          <a:xfrm rot="0">
            <a:off x="2361381" y="4882896"/>
            <a:ext cx="877824" cy="877824"/>
            <a:chOff x="0" y="0"/>
            <a:chExt cx="1170432" cy="1170432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170432" cy="1170432"/>
            </a:xfrm>
            <a:custGeom>
              <a:avLst/>
              <a:gdLst/>
              <a:ahLst/>
              <a:cxnLst/>
              <a:rect r="r" b="b" t="t" l="l"/>
              <a:pathLst>
                <a:path h="1170432" w="1170432">
                  <a:moveTo>
                    <a:pt x="0" y="585216"/>
                  </a:moveTo>
                  <a:cubicBezTo>
                    <a:pt x="0" y="262001"/>
                    <a:pt x="262001" y="0"/>
                    <a:pt x="585216" y="0"/>
                  </a:cubicBezTo>
                  <a:cubicBezTo>
                    <a:pt x="908431" y="0"/>
                    <a:pt x="1170432" y="262001"/>
                    <a:pt x="1170432" y="585216"/>
                  </a:cubicBezTo>
                  <a:cubicBezTo>
                    <a:pt x="1170432" y="908431"/>
                    <a:pt x="908431" y="1170432"/>
                    <a:pt x="585216" y="1170432"/>
                  </a:cubicBezTo>
                  <a:cubicBezTo>
                    <a:pt x="262001" y="1170432"/>
                    <a:pt x="0" y="908431"/>
                    <a:pt x="0" y="585216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2589619" y="5111134"/>
            <a:ext cx="421357" cy="421357"/>
            <a:chOff x="0" y="0"/>
            <a:chExt cx="561810" cy="561810"/>
          </a:xfrm>
        </p:grpSpPr>
        <p:sp>
          <p:nvSpPr>
            <p:cNvPr name="Freeform 41" id="41" descr="/home/claude/ppt/icons/clock_white.png"/>
            <p:cNvSpPr/>
            <p:nvPr/>
          </p:nvSpPr>
          <p:spPr>
            <a:xfrm flipH="false" flipV="false" rot="0">
              <a:off x="0" y="0"/>
              <a:ext cx="561848" cy="561848"/>
            </a:xfrm>
            <a:custGeom>
              <a:avLst/>
              <a:gdLst/>
              <a:ahLst/>
              <a:cxnLst/>
              <a:rect r="r" b="b" t="t" l="l"/>
              <a:pathLst>
                <a:path h="561848" w="561848">
                  <a:moveTo>
                    <a:pt x="0" y="0"/>
                  </a:moveTo>
                  <a:lnTo>
                    <a:pt x="561848" y="0"/>
                  </a:lnTo>
                  <a:lnTo>
                    <a:pt x="561848" y="561848"/>
                  </a:lnTo>
                  <a:lnTo>
                    <a:pt x="0" y="5618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6" b="6"/>
              </a:stretch>
            </a:blipFill>
          </p:spPr>
        </p:sp>
      </p:grpSp>
      <p:sp>
        <p:nvSpPr>
          <p:cNvPr name="TextBox 42" id="42"/>
          <p:cNvSpPr txBox="true"/>
          <p:nvPr/>
        </p:nvSpPr>
        <p:spPr>
          <a:xfrm rot="0">
            <a:off x="1051560" y="5932932"/>
            <a:ext cx="3497466" cy="399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79"/>
              </a:lnSpc>
            </a:pPr>
            <a:r>
              <a:rPr lang="en-US" sz="1575" b="true">
                <a:solidFill>
                  <a:srgbClr val="0B1E3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Date, Time, Status &amp; Confidence Logging</a:t>
            </a:r>
          </a:p>
        </p:txBody>
      </p:sp>
      <p:grpSp>
        <p:nvGrpSpPr>
          <p:cNvPr name="Group 43" id="43"/>
          <p:cNvGrpSpPr/>
          <p:nvPr/>
        </p:nvGrpSpPr>
        <p:grpSpPr>
          <a:xfrm rot="0">
            <a:off x="5069853" y="4653915"/>
            <a:ext cx="3918852" cy="1843278"/>
            <a:chOff x="0" y="0"/>
            <a:chExt cx="5225136" cy="2457704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5225161" cy="2457704"/>
            </a:xfrm>
            <a:custGeom>
              <a:avLst/>
              <a:gdLst/>
              <a:ahLst/>
              <a:cxnLst/>
              <a:rect r="r" b="b" t="t" l="l"/>
              <a:pathLst>
                <a:path h="2457704" w="5225161">
                  <a:moveTo>
                    <a:pt x="0" y="184785"/>
                  </a:moveTo>
                  <a:cubicBezTo>
                    <a:pt x="0" y="82677"/>
                    <a:pt x="82677" y="0"/>
                    <a:pt x="184785" y="0"/>
                  </a:cubicBezTo>
                  <a:lnTo>
                    <a:pt x="5040376" y="0"/>
                  </a:lnTo>
                  <a:cubicBezTo>
                    <a:pt x="5142484" y="0"/>
                    <a:pt x="5225161" y="82677"/>
                    <a:pt x="5225161" y="184785"/>
                  </a:cubicBezTo>
                  <a:lnTo>
                    <a:pt x="5225161" y="2272919"/>
                  </a:lnTo>
                  <a:cubicBezTo>
                    <a:pt x="5225161" y="2375027"/>
                    <a:pt x="5142484" y="2457704"/>
                    <a:pt x="5040376" y="2457704"/>
                  </a:cubicBezTo>
                  <a:lnTo>
                    <a:pt x="184785" y="2457704"/>
                  </a:lnTo>
                  <a:cubicBezTo>
                    <a:pt x="82677" y="2457704"/>
                    <a:pt x="0" y="2375027"/>
                    <a:pt x="0" y="2272919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CE5F0"/>
              </a:solidFill>
              <a:prstDash val="solid"/>
              <a:miter/>
            </a:ln>
          </p:spPr>
        </p:sp>
      </p:grpSp>
      <p:grpSp>
        <p:nvGrpSpPr>
          <p:cNvPr name="Group 45" id="45"/>
          <p:cNvGrpSpPr/>
          <p:nvPr/>
        </p:nvGrpSpPr>
        <p:grpSpPr>
          <a:xfrm rot="0">
            <a:off x="6590367" y="4882896"/>
            <a:ext cx="877824" cy="877824"/>
            <a:chOff x="0" y="0"/>
            <a:chExt cx="1170432" cy="1170432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170432" cy="1170432"/>
            </a:xfrm>
            <a:custGeom>
              <a:avLst/>
              <a:gdLst/>
              <a:ahLst/>
              <a:cxnLst/>
              <a:rect r="r" b="b" t="t" l="l"/>
              <a:pathLst>
                <a:path h="1170432" w="1170432">
                  <a:moveTo>
                    <a:pt x="0" y="585216"/>
                  </a:moveTo>
                  <a:cubicBezTo>
                    <a:pt x="0" y="262001"/>
                    <a:pt x="262001" y="0"/>
                    <a:pt x="585216" y="0"/>
                  </a:cubicBezTo>
                  <a:cubicBezTo>
                    <a:pt x="908431" y="0"/>
                    <a:pt x="1170432" y="262001"/>
                    <a:pt x="1170432" y="585216"/>
                  </a:cubicBezTo>
                  <a:cubicBezTo>
                    <a:pt x="1170432" y="908431"/>
                    <a:pt x="908431" y="1170432"/>
                    <a:pt x="585216" y="1170432"/>
                  </a:cubicBezTo>
                  <a:cubicBezTo>
                    <a:pt x="262001" y="1170432"/>
                    <a:pt x="0" y="908431"/>
                    <a:pt x="0" y="585216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6818605" y="5111134"/>
            <a:ext cx="421357" cy="421357"/>
            <a:chOff x="0" y="0"/>
            <a:chExt cx="561810" cy="561810"/>
          </a:xfrm>
        </p:grpSpPr>
        <p:sp>
          <p:nvSpPr>
            <p:cNvPr name="Freeform 48" id="48" descr="/home/claude/ppt/icons/calendar_white.png"/>
            <p:cNvSpPr/>
            <p:nvPr/>
          </p:nvSpPr>
          <p:spPr>
            <a:xfrm flipH="false" flipV="false" rot="0">
              <a:off x="0" y="0"/>
              <a:ext cx="561848" cy="561848"/>
            </a:xfrm>
            <a:custGeom>
              <a:avLst/>
              <a:gdLst/>
              <a:ahLst/>
              <a:cxnLst/>
              <a:rect r="r" b="b" t="t" l="l"/>
              <a:pathLst>
                <a:path h="561848" w="561848">
                  <a:moveTo>
                    <a:pt x="0" y="0"/>
                  </a:moveTo>
                  <a:lnTo>
                    <a:pt x="561848" y="0"/>
                  </a:lnTo>
                  <a:lnTo>
                    <a:pt x="561848" y="561848"/>
                  </a:lnTo>
                  <a:lnTo>
                    <a:pt x="0" y="5618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6" b="6"/>
              </a:stretch>
            </a:blipFill>
          </p:spPr>
        </p:sp>
      </p:grpSp>
      <p:sp>
        <p:nvSpPr>
          <p:cNvPr name="TextBox 49" id="49"/>
          <p:cNvSpPr txBox="true"/>
          <p:nvPr/>
        </p:nvSpPr>
        <p:spPr>
          <a:xfrm rot="0">
            <a:off x="5280546" y="5932932"/>
            <a:ext cx="3497466" cy="399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79"/>
              </a:lnSpc>
            </a:pPr>
            <a:r>
              <a:rPr lang="en-US" sz="1575" b="true">
                <a:solidFill>
                  <a:srgbClr val="0B1E3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One Attendance Record / Student / Day</a:t>
            </a:r>
          </a:p>
        </p:txBody>
      </p:sp>
      <p:grpSp>
        <p:nvGrpSpPr>
          <p:cNvPr name="Group 50" id="50"/>
          <p:cNvGrpSpPr/>
          <p:nvPr/>
        </p:nvGrpSpPr>
        <p:grpSpPr>
          <a:xfrm rot="0">
            <a:off x="9298838" y="4653915"/>
            <a:ext cx="3918852" cy="1843278"/>
            <a:chOff x="0" y="0"/>
            <a:chExt cx="5225136" cy="2457704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5225161" cy="2457704"/>
            </a:xfrm>
            <a:custGeom>
              <a:avLst/>
              <a:gdLst/>
              <a:ahLst/>
              <a:cxnLst/>
              <a:rect r="r" b="b" t="t" l="l"/>
              <a:pathLst>
                <a:path h="2457704" w="5225161">
                  <a:moveTo>
                    <a:pt x="0" y="184785"/>
                  </a:moveTo>
                  <a:cubicBezTo>
                    <a:pt x="0" y="82677"/>
                    <a:pt x="82677" y="0"/>
                    <a:pt x="184785" y="0"/>
                  </a:cubicBezTo>
                  <a:lnTo>
                    <a:pt x="5040376" y="0"/>
                  </a:lnTo>
                  <a:cubicBezTo>
                    <a:pt x="5142484" y="0"/>
                    <a:pt x="5225161" y="82677"/>
                    <a:pt x="5225161" y="184785"/>
                  </a:cubicBezTo>
                  <a:lnTo>
                    <a:pt x="5225161" y="2272919"/>
                  </a:lnTo>
                  <a:cubicBezTo>
                    <a:pt x="5225161" y="2375027"/>
                    <a:pt x="5142484" y="2457704"/>
                    <a:pt x="5040376" y="2457704"/>
                  </a:cubicBezTo>
                  <a:lnTo>
                    <a:pt x="184785" y="2457704"/>
                  </a:lnTo>
                  <a:cubicBezTo>
                    <a:pt x="82677" y="2457704"/>
                    <a:pt x="0" y="2375027"/>
                    <a:pt x="0" y="2272919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CE5F0"/>
              </a:solidFill>
              <a:prstDash val="solid"/>
              <a:miter/>
            </a:ln>
          </p:spPr>
        </p:sp>
      </p:grpSp>
      <p:grpSp>
        <p:nvGrpSpPr>
          <p:cNvPr name="Group 52" id="52"/>
          <p:cNvGrpSpPr/>
          <p:nvPr/>
        </p:nvGrpSpPr>
        <p:grpSpPr>
          <a:xfrm rot="0">
            <a:off x="10819352" y="4882896"/>
            <a:ext cx="877824" cy="877824"/>
            <a:chOff x="0" y="0"/>
            <a:chExt cx="1170432" cy="1170432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170432" cy="1170432"/>
            </a:xfrm>
            <a:custGeom>
              <a:avLst/>
              <a:gdLst/>
              <a:ahLst/>
              <a:cxnLst/>
              <a:rect r="r" b="b" t="t" l="l"/>
              <a:pathLst>
                <a:path h="1170432" w="1170432">
                  <a:moveTo>
                    <a:pt x="0" y="585216"/>
                  </a:moveTo>
                  <a:cubicBezTo>
                    <a:pt x="0" y="262001"/>
                    <a:pt x="262001" y="0"/>
                    <a:pt x="585216" y="0"/>
                  </a:cubicBezTo>
                  <a:cubicBezTo>
                    <a:pt x="908431" y="0"/>
                    <a:pt x="1170432" y="262001"/>
                    <a:pt x="1170432" y="585216"/>
                  </a:cubicBezTo>
                  <a:cubicBezTo>
                    <a:pt x="1170432" y="908431"/>
                    <a:pt x="908431" y="1170432"/>
                    <a:pt x="585216" y="1170432"/>
                  </a:cubicBezTo>
                  <a:cubicBezTo>
                    <a:pt x="262001" y="1170432"/>
                    <a:pt x="0" y="908431"/>
                    <a:pt x="0" y="585216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11047590" y="5111134"/>
            <a:ext cx="421357" cy="421357"/>
            <a:chOff x="0" y="0"/>
            <a:chExt cx="561810" cy="561810"/>
          </a:xfrm>
        </p:grpSpPr>
        <p:sp>
          <p:nvSpPr>
            <p:cNvPr name="Freeform 55" id="55" descr="/home/claude/ppt/icons/desktop_white.png"/>
            <p:cNvSpPr/>
            <p:nvPr/>
          </p:nvSpPr>
          <p:spPr>
            <a:xfrm flipH="false" flipV="false" rot="0">
              <a:off x="0" y="0"/>
              <a:ext cx="561848" cy="561848"/>
            </a:xfrm>
            <a:custGeom>
              <a:avLst/>
              <a:gdLst/>
              <a:ahLst/>
              <a:cxnLst/>
              <a:rect r="r" b="b" t="t" l="l"/>
              <a:pathLst>
                <a:path h="561848" w="561848">
                  <a:moveTo>
                    <a:pt x="0" y="0"/>
                  </a:moveTo>
                  <a:lnTo>
                    <a:pt x="561848" y="0"/>
                  </a:lnTo>
                  <a:lnTo>
                    <a:pt x="561848" y="561848"/>
                  </a:lnTo>
                  <a:lnTo>
                    <a:pt x="0" y="5618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6" b="6"/>
              </a:stretch>
            </a:blipFill>
          </p:spPr>
        </p:sp>
      </p:grpSp>
      <p:sp>
        <p:nvSpPr>
          <p:cNvPr name="TextBox 56" id="56"/>
          <p:cNvSpPr txBox="true"/>
          <p:nvPr/>
        </p:nvSpPr>
        <p:spPr>
          <a:xfrm rot="0">
            <a:off x="9509531" y="5932932"/>
            <a:ext cx="3497466" cy="399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79"/>
              </a:lnSpc>
            </a:pPr>
            <a:r>
              <a:rPr lang="en-US" sz="1575" b="true">
                <a:solidFill>
                  <a:srgbClr val="0B1E3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Web-Based Dashboard</a:t>
            </a:r>
          </a:p>
        </p:txBody>
      </p:sp>
      <p:grpSp>
        <p:nvGrpSpPr>
          <p:cNvPr name="Group 57" id="57"/>
          <p:cNvGrpSpPr/>
          <p:nvPr/>
        </p:nvGrpSpPr>
        <p:grpSpPr>
          <a:xfrm rot="0">
            <a:off x="13527824" y="4653915"/>
            <a:ext cx="3918852" cy="1843278"/>
            <a:chOff x="0" y="0"/>
            <a:chExt cx="5225136" cy="2457704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5225161" cy="2457704"/>
            </a:xfrm>
            <a:custGeom>
              <a:avLst/>
              <a:gdLst/>
              <a:ahLst/>
              <a:cxnLst/>
              <a:rect r="r" b="b" t="t" l="l"/>
              <a:pathLst>
                <a:path h="2457704" w="5225161">
                  <a:moveTo>
                    <a:pt x="0" y="184785"/>
                  </a:moveTo>
                  <a:cubicBezTo>
                    <a:pt x="0" y="82677"/>
                    <a:pt x="82677" y="0"/>
                    <a:pt x="184785" y="0"/>
                  </a:cubicBezTo>
                  <a:lnTo>
                    <a:pt x="5040376" y="0"/>
                  </a:lnTo>
                  <a:cubicBezTo>
                    <a:pt x="5142484" y="0"/>
                    <a:pt x="5225161" y="82677"/>
                    <a:pt x="5225161" y="184785"/>
                  </a:cubicBezTo>
                  <a:lnTo>
                    <a:pt x="5225161" y="2272919"/>
                  </a:lnTo>
                  <a:cubicBezTo>
                    <a:pt x="5225161" y="2375027"/>
                    <a:pt x="5142484" y="2457704"/>
                    <a:pt x="5040376" y="2457704"/>
                  </a:cubicBezTo>
                  <a:lnTo>
                    <a:pt x="184785" y="2457704"/>
                  </a:lnTo>
                  <a:cubicBezTo>
                    <a:pt x="82677" y="2457704"/>
                    <a:pt x="0" y="2375027"/>
                    <a:pt x="0" y="2272919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CE5F0"/>
              </a:solidFill>
              <a:prstDash val="solid"/>
              <a:miter/>
            </a:ln>
          </p:spPr>
        </p:sp>
      </p:grpSp>
      <p:grpSp>
        <p:nvGrpSpPr>
          <p:cNvPr name="Group 59" id="59"/>
          <p:cNvGrpSpPr/>
          <p:nvPr/>
        </p:nvGrpSpPr>
        <p:grpSpPr>
          <a:xfrm rot="0">
            <a:off x="15048338" y="4882896"/>
            <a:ext cx="877824" cy="877824"/>
            <a:chOff x="0" y="0"/>
            <a:chExt cx="1170432" cy="1170432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170432" cy="1170432"/>
            </a:xfrm>
            <a:custGeom>
              <a:avLst/>
              <a:gdLst/>
              <a:ahLst/>
              <a:cxnLst/>
              <a:rect r="r" b="b" t="t" l="l"/>
              <a:pathLst>
                <a:path h="1170432" w="1170432">
                  <a:moveTo>
                    <a:pt x="0" y="585216"/>
                  </a:moveTo>
                  <a:cubicBezTo>
                    <a:pt x="0" y="262001"/>
                    <a:pt x="262001" y="0"/>
                    <a:pt x="585216" y="0"/>
                  </a:cubicBezTo>
                  <a:cubicBezTo>
                    <a:pt x="908431" y="0"/>
                    <a:pt x="1170432" y="262001"/>
                    <a:pt x="1170432" y="585216"/>
                  </a:cubicBezTo>
                  <a:cubicBezTo>
                    <a:pt x="1170432" y="908431"/>
                    <a:pt x="908431" y="1170432"/>
                    <a:pt x="585216" y="1170432"/>
                  </a:cubicBezTo>
                  <a:cubicBezTo>
                    <a:pt x="262001" y="1170432"/>
                    <a:pt x="0" y="908431"/>
                    <a:pt x="0" y="585216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15276576" y="5111134"/>
            <a:ext cx="421357" cy="421357"/>
            <a:chOff x="0" y="0"/>
            <a:chExt cx="561810" cy="561810"/>
          </a:xfrm>
        </p:grpSpPr>
        <p:sp>
          <p:nvSpPr>
            <p:cNvPr name="Freeform 62" id="62" descr="/home/claude/ppt/icons/microchip_white.png"/>
            <p:cNvSpPr/>
            <p:nvPr/>
          </p:nvSpPr>
          <p:spPr>
            <a:xfrm flipH="false" flipV="false" rot="0">
              <a:off x="0" y="0"/>
              <a:ext cx="561848" cy="561848"/>
            </a:xfrm>
            <a:custGeom>
              <a:avLst/>
              <a:gdLst/>
              <a:ahLst/>
              <a:cxnLst/>
              <a:rect r="r" b="b" t="t" l="l"/>
              <a:pathLst>
                <a:path h="561848" w="561848">
                  <a:moveTo>
                    <a:pt x="0" y="0"/>
                  </a:moveTo>
                  <a:lnTo>
                    <a:pt x="561848" y="0"/>
                  </a:lnTo>
                  <a:lnTo>
                    <a:pt x="561848" y="561848"/>
                  </a:lnTo>
                  <a:lnTo>
                    <a:pt x="0" y="5618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6" b="6"/>
              </a:stretch>
            </a:blipFill>
          </p:spPr>
        </p:sp>
      </p:grpSp>
      <p:sp>
        <p:nvSpPr>
          <p:cNvPr name="TextBox 63" id="63"/>
          <p:cNvSpPr txBox="true"/>
          <p:nvPr/>
        </p:nvSpPr>
        <p:spPr>
          <a:xfrm rot="0">
            <a:off x="13738517" y="5932932"/>
            <a:ext cx="3497466" cy="399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79"/>
              </a:lnSpc>
            </a:pPr>
            <a:r>
              <a:rPr lang="en-US" sz="1575" b="true">
                <a:solidFill>
                  <a:srgbClr val="0B1E3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IoT Integration with SiWG917</a:t>
            </a:r>
          </a:p>
        </p:txBody>
      </p:sp>
      <p:grpSp>
        <p:nvGrpSpPr>
          <p:cNvPr name="Group 64" id="64"/>
          <p:cNvGrpSpPr/>
          <p:nvPr/>
        </p:nvGrpSpPr>
        <p:grpSpPr>
          <a:xfrm rot="0">
            <a:off x="840867" y="6779895"/>
            <a:ext cx="3918852" cy="1843278"/>
            <a:chOff x="0" y="0"/>
            <a:chExt cx="5225136" cy="2457704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5225161" cy="2457704"/>
            </a:xfrm>
            <a:custGeom>
              <a:avLst/>
              <a:gdLst/>
              <a:ahLst/>
              <a:cxnLst/>
              <a:rect r="r" b="b" t="t" l="l"/>
              <a:pathLst>
                <a:path h="2457704" w="5225161">
                  <a:moveTo>
                    <a:pt x="0" y="184785"/>
                  </a:moveTo>
                  <a:cubicBezTo>
                    <a:pt x="0" y="82677"/>
                    <a:pt x="82677" y="0"/>
                    <a:pt x="184785" y="0"/>
                  </a:cubicBezTo>
                  <a:lnTo>
                    <a:pt x="5040376" y="0"/>
                  </a:lnTo>
                  <a:cubicBezTo>
                    <a:pt x="5142484" y="0"/>
                    <a:pt x="5225161" y="82677"/>
                    <a:pt x="5225161" y="184785"/>
                  </a:cubicBezTo>
                  <a:lnTo>
                    <a:pt x="5225161" y="2272919"/>
                  </a:lnTo>
                  <a:cubicBezTo>
                    <a:pt x="5225161" y="2375027"/>
                    <a:pt x="5142484" y="2457704"/>
                    <a:pt x="5040376" y="2457704"/>
                  </a:cubicBezTo>
                  <a:lnTo>
                    <a:pt x="184785" y="2457704"/>
                  </a:lnTo>
                  <a:cubicBezTo>
                    <a:pt x="82677" y="2457704"/>
                    <a:pt x="0" y="2375027"/>
                    <a:pt x="0" y="2272919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CE5F0"/>
              </a:solidFill>
              <a:prstDash val="solid"/>
              <a:miter/>
            </a:ln>
          </p:spPr>
        </p:sp>
      </p:grpSp>
      <p:grpSp>
        <p:nvGrpSpPr>
          <p:cNvPr name="Group 66" id="66"/>
          <p:cNvGrpSpPr/>
          <p:nvPr/>
        </p:nvGrpSpPr>
        <p:grpSpPr>
          <a:xfrm rot="0">
            <a:off x="2361381" y="7008876"/>
            <a:ext cx="877824" cy="877824"/>
            <a:chOff x="0" y="0"/>
            <a:chExt cx="1170432" cy="1170432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170432" cy="1170432"/>
            </a:xfrm>
            <a:custGeom>
              <a:avLst/>
              <a:gdLst/>
              <a:ahLst/>
              <a:cxnLst/>
              <a:rect r="r" b="b" t="t" l="l"/>
              <a:pathLst>
                <a:path h="1170432" w="1170432">
                  <a:moveTo>
                    <a:pt x="0" y="585216"/>
                  </a:moveTo>
                  <a:cubicBezTo>
                    <a:pt x="0" y="262001"/>
                    <a:pt x="262001" y="0"/>
                    <a:pt x="585216" y="0"/>
                  </a:cubicBezTo>
                  <a:cubicBezTo>
                    <a:pt x="908431" y="0"/>
                    <a:pt x="1170432" y="262001"/>
                    <a:pt x="1170432" y="585216"/>
                  </a:cubicBezTo>
                  <a:cubicBezTo>
                    <a:pt x="1170432" y="908431"/>
                    <a:pt x="908431" y="1170432"/>
                    <a:pt x="585216" y="1170432"/>
                  </a:cubicBezTo>
                  <a:cubicBezTo>
                    <a:pt x="262001" y="1170432"/>
                    <a:pt x="0" y="908431"/>
                    <a:pt x="0" y="585216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2589619" y="7237114"/>
            <a:ext cx="421357" cy="421357"/>
            <a:chOff x="0" y="0"/>
            <a:chExt cx="561810" cy="561810"/>
          </a:xfrm>
        </p:grpSpPr>
        <p:sp>
          <p:nvSpPr>
            <p:cNvPr name="Freeform 69" id="69" descr="/home/claude/ppt/icons/led_white.png"/>
            <p:cNvSpPr/>
            <p:nvPr/>
          </p:nvSpPr>
          <p:spPr>
            <a:xfrm flipH="false" flipV="false" rot="0">
              <a:off x="0" y="0"/>
              <a:ext cx="561848" cy="561848"/>
            </a:xfrm>
            <a:custGeom>
              <a:avLst/>
              <a:gdLst/>
              <a:ahLst/>
              <a:cxnLst/>
              <a:rect r="r" b="b" t="t" l="l"/>
              <a:pathLst>
                <a:path h="561848" w="561848">
                  <a:moveTo>
                    <a:pt x="0" y="0"/>
                  </a:moveTo>
                  <a:lnTo>
                    <a:pt x="561848" y="0"/>
                  </a:lnTo>
                  <a:lnTo>
                    <a:pt x="561848" y="561848"/>
                  </a:lnTo>
                  <a:lnTo>
                    <a:pt x="0" y="5618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6" b="6"/>
              </a:stretch>
            </a:blipFill>
          </p:spPr>
        </p:sp>
      </p:grpSp>
      <p:sp>
        <p:nvSpPr>
          <p:cNvPr name="TextBox 70" id="70"/>
          <p:cNvSpPr txBox="true"/>
          <p:nvPr/>
        </p:nvSpPr>
        <p:spPr>
          <a:xfrm rot="0">
            <a:off x="1051560" y="8058912"/>
            <a:ext cx="3497466" cy="399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79"/>
              </a:lnSpc>
            </a:pPr>
            <a:r>
              <a:rPr lang="en-US" sz="1575" b="true">
                <a:solidFill>
                  <a:srgbClr val="0B1E3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RGB LED Status Indication</a:t>
            </a:r>
          </a:p>
        </p:txBody>
      </p:sp>
      <p:grpSp>
        <p:nvGrpSpPr>
          <p:cNvPr name="Group 71" id="71"/>
          <p:cNvGrpSpPr/>
          <p:nvPr/>
        </p:nvGrpSpPr>
        <p:grpSpPr>
          <a:xfrm rot="0">
            <a:off x="5069853" y="6779895"/>
            <a:ext cx="3918852" cy="1843278"/>
            <a:chOff x="0" y="0"/>
            <a:chExt cx="5225136" cy="2457704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5225161" cy="2457704"/>
            </a:xfrm>
            <a:custGeom>
              <a:avLst/>
              <a:gdLst/>
              <a:ahLst/>
              <a:cxnLst/>
              <a:rect r="r" b="b" t="t" l="l"/>
              <a:pathLst>
                <a:path h="2457704" w="5225161">
                  <a:moveTo>
                    <a:pt x="0" y="184785"/>
                  </a:moveTo>
                  <a:cubicBezTo>
                    <a:pt x="0" y="82677"/>
                    <a:pt x="82677" y="0"/>
                    <a:pt x="184785" y="0"/>
                  </a:cubicBezTo>
                  <a:lnTo>
                    <a:pt x="5040376" y="0"/>
                  </a:lnTo>
                  <a:cubicBezTo>
                    <a:pt x="5142484" y="0"/>
                    <a:pt x="5225161" y="82677"/>
                    <a:pt x="5225161" y="184785"/>
                  </a:cubicBezTo>
                  <a:lnTo>
                    <a:pt x="5225161" y="2272919"/>
                  </a:lnTo>
                  <a:cubicBezTo>
                    <a:pt x="5225161" y="2375027"/>
                    <a:pt x="5142484" y="2457704"/>
                    <a:pt x="5040376" y="2457704"/>
                  </a:cubicBezTo>
                  <a:lnTo>
                    <a:pt x="184785" y="2457704"/>
                  </a:lnTo>
                  <a:cubicBezTo>
                    <a:pt x="82677" y="2457704"/>
                    <a:pt x="0" y="2375027"/>
                    <a:pt x="0" y="2272919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CE5F0"/>
              </a:solidFill>
              <a:prstDash val="solid"/>
              <a:miter/>
            </a:ln>
          </p:spPr>
        </p:sp>
      </p:grpSp>
      <p:grpSp>
        <p:nvGrpSpPr>
          <p:cNvPr name="Group 73" id="73"/>
          <p:cNvGrpSpPr/>
          <p:nvPr/>
        </p:nvGrpSpPr>
        <p:grpSpPr>
          <a:xfrm rot="0">
            <a:off x="6590367" y="7008876"/>
            <a:ext cx="877824" cy="877824"/>
            <a:chOff x="0" y="0"/>
            <a:chExt cx="1170432" cy="1170432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1170432" cy="1170432"/>
            </a:xfrm>
            <a:custGeom>
              <a:avLst/>
              <a:gdLst/>
              <a:ahLst/>
              <a:cxnLst/>
              <a:rect r="r" b="b" t="t" l="l"/>
              <a:pathLst>
                <a:path h="1170432" w="1170432">
                  <a:moveTo>
                    <a:pt x="0" y="585216"/>
                  </a:moveTo>
                  <a:cubicBezTo>
                    <a:pt x="0" y="262001"/>
                    <a:pt x="262001" y="0"/>
                    <a:pt x="585216" y="0"/>
                  </a:cubicBezTo>
                  <a:cubicBezTo>
                    <a:pt x="908431" y="0"/>
                    <a:pt x="1170432" y="262001"/>
                    <a:pt x="1170432" y="585216"/>
                  </a:cubicBezTo>
                  <a:cubicBezTo>
                    <a:pt x="1170432" y="908431"/>
                    <a:pt x="908431" y="1170432"/>
                    <a:pt x="585216" y="1170432"/>
                  </a:cubicBezTo>
                  <a:cubicBezTo>
                    <a:pt x="262001" y="1170432"/>
                    <a:pt x="0" y="908431"/>
                    <a:pt x="0" y="585216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75" id="75"/>
          <p:cNvGrpSpPr/>
          <p:nvPr/>
        </p:nvGrpSpPr>
        <p:grpSpPr>
          <a:xfrm rot="0">
            <a:off x="6818605" y="7237114"/>
            <a:ext cx="421357" cy="421357"/>
            <a:chOff x="0" y="0"/>
            <a:chExt cx="561810" cy="561810"/>
          </a:xfrm>
        </p:grpSpPr>
        <p:sp>
          <p:nvSpPr>
            <p:cNvPr name="Freeform 76" id="76" descr="/home/claude/ppt/icons/filecsv_white.png"/>
            <p:cNvSpPr/>
            <p:nvPr/>
          </p:nvSpPr>
          <p:spPr>
            <a:xfrm flipH="false" flipV="false" rot="0">
              <a:off x="0" y="0"/>
              <a:ext cx="561848" cy="561848"/>
            </a:xfrm>
            <a:custGeom>
              <a:avLst/>
              <a:gdLst/>
              <a:ahLst/>
              <a:cxnLst/>
              <a:rect r="r" b="b" t="t" l="l"/>
              <a:pathLst>
                <a:path h="561848" w="561848">
                  <a:moveTo>
                    <a:pt x="0" y="0"/>
                  </a:moveTo>
                  <a:lnTo>
                    <a:pt x="561848" y="0"/>
                  </a:lnTo>
                  <a:lnTo>
                    <a:pt x="561848" y="561848"/>
                  </a:lnTo>
                  <a:lnTo>
                    <a:pt x="0" y="5618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6" b="6"/>
              </a:stretch>
            </a:blipFill>
          </p:spPr>
        </p:sp>
      </p:grpSp>
      <p:sp>
        <p:nvSpPr>
          <p:cNvPr name="TextBox 77" id="77"/>
          <p:cNvSpPr txBox="true"/>
          <p:nvPr/>
        </p:nvSpPr>
        <p:spPr>
          <a:xfrm rot="0">
            <a:off x="5280546" y="8058912"/>
            <a:ext cx="3497466" cy="399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79"/>
              </a:lnSpc>
            </a:pPr>
            <a:r>
              <a:rPr lang="en-US" sz="1575" b="true">
                <a:solidFill>
                  <a:srgbClr val="0B1E3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CSV Attendance Reports</a:t>
            </a:r>
          </a:p>
        </p:txBody>
      </p:sp>
      <p:grpSp>
        <p:nvGrpSpPr>
          <p:cNvPr name="Group 78" id="78"/>
          <p:cNvGrpSpPr/>
          <p:nvPr/>
        </p:nvGrpSpPr>
        <p:grpSpPr>
          <a:xfrm rot="0">
            <a:off x="9298838" y="6779895"/>
            <a:ext cx="3918852" cy="1843278"/>
            <a:chOff x="0" y="0"/>
            <a:chExt cx="5225136" cy="2457704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5225161" cy="2457704"/>
            </a:xfrm>
            <a:custGeom>
              <a:avLst/>
              <a:gdLst/>
              <a:ahLst/>
              <a:cxnLst/>
              <a:rect r="r" b="b" t="t" l="l"/>
              <a:pathLst>
                <a:path h="2457704" w="5225161">
                  <a:moveTo>
                    <a:pt x="0" y="184785"/>
                  </a:moveTo>
                  <a:cubicBezTo>
                    <a:pt x="0" y="82677"/>
                    <a:pt x="82677" y="0"/>
                    <a:pt x="184785" y="0"/>
                  </a:cubicBezTo>
                  <a:lnTo>
                    <a:pt x="5040376" y="0"/>
                  </a:lnTo>
                  <a:cubicBezTo>
                    <a:pt x="5142484" y="0"/>
                    <a:pt x="5225161" y="82677"/>
                    <a:pt x="5225161" y="184785"/>
                  </a:cubicBezTo>
                  <a:lnTo>
                    <a:pt x="5225161" y="2272919"/>
                  </a:lnTo>
                  <a:cubicBezTo>
                    <a:pt x="5225161" y="2375027"/>
                    <a:pt x="5142484" y="2457704"/>
                    <a:pt x="5040376" y="2457704"/>
                  </a:cubicBezTo>
                  <a:lnTo>
                    <a:pt x="184785" y="2457704"/>
                  </a:lnTo>
                  <a:cubicBezTo>
                    <a:pt x="82677" y="2457704"/>
                    <a:pt x="0" y="2375027"/>
                    <a:pt x="0" y="2272919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CE5F0"/>
              </a:solidFill>
              <a:prstDash val="solid"/>
              <a:miter/>
            </a:ln>
          </p:spPr>
        </p:sp>
      </p:grpSp>
      <p:grpSp>
        <p:nvGrpSpPr>
          <p:cNvPr name="Group 80" id="80"/>
          <p:cNvGrpSpPr/>
          <p:nvPr/>
        </p:nvGrpSpPr>
        <p:grpSpPr>
          <a:xfrm rot="0">
            <a:off x="10819352" y="7008876"/>
            <a:ext cx="877824" cy="877824"/>
            <a:chOff x="0" y="0"/>
            <a:chExt cx="1170432" cy="1170432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1170432" cy="1170432"/>
            </a:xfrm>
            <a:custGeom>
              <a:avLst/>
              <a:gdLst/>
              <a:ahLst/>
              <a:cxnLst/>
              <a:rect r="r" b="b" t="t" l="l"/>
              <a:pathLst>
                <a:path h="1170432" w="1170432">
                  <a:moveTo>
                    <a:pt x="0" y="585216"/>
                  </a:moveTo>
                  <a:cubicBezTo>
                    <a:pt x="0" y="262001"/>
                    <a:pt x="262001" y="0"/>
                    <a:pt x="585216" y="0"/>
                  </a:cubicBezTo>
                  <a:cubicBezTo>
                    <a:pt x="908431" y="0"/>
                    <a:pt x="1170432" y="262001"/>
                    <a:pt x="1170432" y="585216"/>
                  </a:cubicBezTo>
                  <a:cubicBezTo>
                    <a:pt x="1170432" y="908431"/>
                    <a:pt x="908431" y="1170432"/>
                    <a:pt x="585216" y="1170432"/>
                  </a:cubicBezTo>
                  <a:cubicBezTo>
                    <a:pt x="262001" y="1170432"/>
                    <a:pt x="0" y="908431"/>
                    <a:pt x="0" y="585216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82" id="82"/>
          <p:cNvGrpSpPr/>
          <p:nvPr/>
        </p:nvGrpSpPr>
        <p:grpSpPr>
          <a:xfrm rot="0">
            <a:off x="11047590" y="7237114"/>
            <a:ext cx="421357" cy="421357"/>
            <a:chOff x="0" y="0"/>
            <a:chExt cx="561810" cy="561810"/>
          </a:xfrm>
        </p:grpSpPr>
        <p:sp>
          <p:nvSpPr>
            <p:cNvPr name="Freeform 83" id="83" descr="/home/claude/ppt/icons/gauge_white.png"/>
            <p:cNvSpPr/>
            <p:nvPr/>
          </p:nvSpPr>
          <p:spPr>
            <a:xfrm flipH="false" flipV="false" rot="0">
              <a:off x="0" y="0"/>
              <a:ext cx="561848" cy="561848"/>
            </a:xfrm>
            <a:custGeom>
              <a:avLst/>
              <a:gdLst/>
              <a:ahLst/>
              <a:cxnLst/>
              <a:rect r="r" b="b" t="t" l="l"/>
              <a:pathLst>
                <a:path h="561848" w="561848">
                  <a:moveTo>
                    <a:pt x="0" y="0"/>
                  </a:moveTo>
                  <a:lnTo>
                    <a:pt x="561848" y="0"/>
                  </a:lnTo>
                  <a:lnTo>
                    <a:pt x="561848" y="561848"/>
                  </a:lnTo>
                  <a:lnTo>
                    <a:pt x="0" y="5618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6" b="6"/>
              </a:stretch>
            </a:blipFill>
          </p:spPr>
        </p:sp>
      </p:grpSp>
      <p:sp>
        <p:nvSpPr>
          <p:cNvPr name="TextBox 84" id="84"/>
          <p:cNvSpPr txBox="true"/>
          <p:nvPr/>
        </p:nvSpPr>
        <p:spPr>
          <a:xfrm rot="0">
            <a:off x="9509531" y="8058912"/>
            <a:ext cx="3497466" cy="399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79"/>
              </a:lnSpc>
            </a:pPr>
            <a:r>
              <a:rPr lang="en-US" sz="1575" b="true">
                <a:solidFill>
                  <a:srgbClr val="0B1E3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Low-Cost, Scalable Design</a:t>
            </a:r>
          </a:p>
        </p:txBody>
      </p:sp>
      <p:grpSp>
        <p:nvGrpSpPr>
          <p:cNvPr name="Group 85" id="85"/>
          <p:cNvGrpSpPr/>
          <p:nvPr/>
        </p:nvGrpSpPr>
        <p:grpSpPr>
          <a:xfrm rot="0">
            <a:off x="685800" y="9738360"/>
            <a:ext cx="9601200" cy="411480"/>
            <a:chOff x="0" y="0"/>
            <a:chExt cx="12801600" cy="54864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12801600" cy="548640"/>
            </a:xfrm>
            <a:custGeom>
              <a:avLst/>
              <a:gdLst/>
              <a:ahLst/>
              <a:cxnLst/>
              <a:rect r="r" b="b" t="t" l="l"/>
              <a:pathLst>
                <a:path h="548640" w="12801600">
                  <a:moveTo>
                    <a:pt x="0" y="0"/>
                  </a:moveTo>
                  <a:lnTo>
                    <a:pt x="12801600" y="0"/>
                  </a:lnTo>
                  <a:lnTo>
                    <a:pt x="128016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04650" r="0" b="-404650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-19050"/>
              <a:ext cx="1280160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sz="1200" spc="150">
                  <a:solidFill>
                    <a:srgbClr val="9FB0C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SMART FACE ATTENDANCE &amp; ACCESS GATE SYSTEM</a:t>
              </a: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16915943" y="9738360"/>
            <a:ext cx="685800" cy="411480"/>
            <a:chOff x="0" y="0"/>
            <a:chExt cx="914400" cy="548640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90" id="90"/>
            <p:cNvSpPr txBox="true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9FB0C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03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85800"/>
            <a:ext cx="10972800" cy="480060"/>
            <a:chOff x="0" y="0"/>
            <a:chExt cx="146304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640080"/>
            </a:xfrm>
            <a:custGeom>
              <a:avLst/>
              <a:gdLst/>
              <a:ahLst/>
              <a:cxnLst/>
              <a:rect r="r" b="b" t="t" l="l"/>
              <a:pathLst>
                <a:path h="64008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95372" r="0" b="-39537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46304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300">
                  <a:solidFill>
                    <a:srgbClr val="22D3E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AI PIPELINE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1165860"/>
            <a:ext cx="15773400" cy="960120"/>
            <a:chOff x="0" y="0"/>
            <a:chExt cx="21031200" cy="12801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0312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0111" r="0" b="-270111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1031200" cy="1299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Face Recognition Process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163917" y="2743200"/>
            <a:ext cx="1577340" cy="1577340"/>
            <a:chOff x="0" y="0"/>
            <a:chExt cx="2103120" cy="21031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03120" cy="2103120"/>
            </a:xfrm>
            <a:custGeom>
              <a:avLst/>
              <a:gdLst/>
              <a:ahLst/>
              <a:cxnLst/>
              <a:rect r="r" b="b" t="t" l="l"/>
              <a:pathLst>
                <a:path h="2103120" w="2103120">
                  <a:moveTo>
                    <a:pt x="0" y="1051560"/>
                  </a:moveTo>
                  <a:cubicBezTo>
                    <a:pt x="0" y="470789"/>
                    <a:pt x="470789" y="0"/>
                    <a:pt x="1051560" y="0"/>
                  </a:cubicBezTo>
                  <a:cubicBezTo>
                    <a:pt x="1632331" y="0"/>
                    <a:pt x="2103120" y="470789"/>
                    <a:pt x="2103120" y="1051560"/>
                  </a:cubicBezTo>
                  <a:cubicBezTo>
                    <a:pt x="2103120" y="1632331"/>
                    <a:pt x="1632331" y="2103120"/>
                    <a:pt x="1051560" y="2103120"/>
                  </a:cubicBezTo>
                  <a:cubicBezTo>
                    <a:pt x="470789" y="2103120"/>
                    <a:pt x="0" y="1632331"/>
                    <a:pt x="0" y="1051560"/>
                  </a:cubicBezTo>
                  <a:close/>
                </a:path>
              </a:pathLst>
            </a:custGeom>
            <a:solidFill>
              <a:srgbClr val="22D3EE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574025" y="3153308"/>
            <a:ext cx="757123" cy="757123"/>
            <a:chOff x="0" y="0"/>
            <a:chExt cx="1009498" cy="1009498"/>
          </a:xfrm>
        </p:grpSpPr>
        <p:sp>
          <p:nvSpPr>
            <p:cNvPr name="Freeform 11" id="11" descr="/home/claude/ppt/icons/camera_navy.png"/>
            <p:cNvSpPr/>
            <p:nvPr/>
          </p:nvSpPr>
          <p:spPr>
            <a:xfrm flipH="false" flipV="false" rot="0">
              <a:off x="0" y="0"/>
              <a:ext cx="1009523" cy="1009523"/>
            </a:xfrm>
            <a:custGeom>
              <a:avLst/>
              <a:gdLst/>
              <a:ahLst/>
              <a:cxnLst/>
              <a:rect r="r" b="b" t="t" l="l"/>
              <a:pathLst>
                <a:path h="1009523" w="1009523">
                  <a:moveTo>
                    <a:pt x="0" y="0"/>
                  </a:moveTo>
                  <a:lnTo>
                    <a:pt x="1009523" y="0"/>
                  </a:lnTo>
                  <a:lnTo>
                    <a:pt x="1009523" y="1009523"/>
                  </a:lnTo>
                  <a:lnTo>
                    <a:pt x="0" y="10095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2" b="2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617220" y="4526280"/>
            <a:ext cx="2670734" cy="822960"/>
            <a:chOff x="0" y="0"/>
            <a:chExt cx="3560978" cy="109728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560978" cy="1097280"/>
            </a:xfrm>
            <a:custGeom>
              <a:avLst/>
              <a:gdLst/>
              <a:ahLst/>
              <a:cxnLst/>
              <a:rect r="r" b="b" t="t" l="l"/>
              <a:pathLst>
                <a:path h="1097280" w="3560978">
                  <a:moveTo>
                    <a:pt x="0" y="0"/>
                  </a:moveTo>
                  <a:lnTo>
                    <a:pt x="3560978" y="0"/>
                  </a:lnTo>
                  <a:lnTo>
                    <a:pt x="3560978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234" r="0" b="-13234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3560978" cy="11544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77"/>
                </a:lnSpc>
              </a:pPr>
              <a:r>
                <a:rPr lang="en-US" sz="172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Image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3178226" y="3449574"/>
            <a:ext cx="425196" cy="301752"/>
            <a:chOff x="0" y="0"/>
            <a:chExt cx="566928" cy="40233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66928" cy="402336"/>
            </a:xfrm>
            <a:custGeom>
              <a:avLst/>
              <a:gdLst/>
              <a:ahLst/>
              <a:cxnLst/>
              <a:rect r="r" b="b" t="t" l="l"/>
              <a:pathLst>
                <a:path h="402336" w="566928">
                  <a:moveTo>
                    <a:pt x="0" y="100584"/>
                  </a:moveTo>
                  <a:lnTo>
                    <a:pt x="365760" y="100584"/>
                  </a:lnTo>
                  <a:lnTo>
                    <a:pt x="365760" y="0"/>
                  </a:lnTo>
                  <a:lnTo>
                    <a:pt x="566928" y="201168"/>
                  </a:lnTo>
                  <a:lnTo>
                    <a:pt x="365760" y="402336"/>
                  </a:lnTo>
                  <a:lnTo>
                    <a:pt x="365760" y="301752"/>
                  </a:lnTo>
                  <a:lnTo>
                    <a:pt x="0" y="301752"/>
                  </a:lnTo>
                  <a:close/>
                </a:path>
              </a:pathLst>
            </a:custGeom>
            <a:solidFill>
              <a:srgbClr val="22D3EE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4040391" y="2743200"/>
            <a:ext cx="1577340" cy="1577340"/>
            <a:chOff x="0" y="0"/>
            <a:chExt cx="2103120" cy="210312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103120" cy="2103120"/>
            </a:xfrm>
            <a:custGeom>
              <a:avLst/>
              <a:gdLst/>
              <a:ahLst/>
              <a:cxnLst/>
              <a:rect r="r" b="b" t="t" l="l"/>
              <a:pathLst>
                <a:path h="2103120" w="2103120">
                  <a:moveTo>
                    <a:pt x="0" y="1051560"/>
                  </a:moveTo>
                  <a:cubicBezTo>
                    <a:pt x="0" y="470789"/>
                    <a:pt x="470789" y="0"/>
                    <a:pt x="1051560" y="0"/>
                  </a:cubicBezTo>
                  <a:cubicBezTo>
                    <a:pt x="1632331" y="0"/>
                    <a:pt x="2103120" y="470789"/>
                    <a:pt x="2103120" y="1051560"/>
                  </a:cubicBezTo>
                  <a:cubicBezTo>
                    <a:pt x="2103120" y="1632331"/>
                    <a:pt x="1632331" y="2103120"/>
                    <a:pt x="1051560" y="2103120"/>
                  </a:cubicBezTo>
                  <a:cubicBezTo>
                    <a:pt x="470789" y="2103120"/>
                    <a:pt x="0" y="1632331"/>
                    <a:pt x="0" y="1051560"/>
                  </a:cubicBezTo>
                  <a:close/>
                </a:path>
              </a:pathLst>
            </a:custGeom>
            <a:solidFill>
              <a:srgbClr val="22D3EE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4450499" y="3153308"/>
            <a:ext cx="757123" cy="757123"/>
            <a:chOff x="0" y="0"/>
            <a:chExt cx="1009498" cy="1009498"/>
          </a:xfrm>
        </p:grpSpPr>
        <p:sp>
          <p:nvSpPr>
            <p:cNvPr name="Freeform 20" id="20" descr="/home/claude/ppt/icons/eye_navy.png"/>
            <p:cNvSpPr/>
            <p:nvPr/>
          </p:nvSpPr>
          <p:spPr>
            <a:xfrm flipH="false" flipV="false" rot="0">
              <a:off x="0" y="0"/>
              <a:ext cx="1009523" cy="1009523"/>
            </a:xfrm>
            <a:custGeom>
              <a:avLst/>
              <a:gdLst/>
              <a:ahLst/>
              <a:cxnLst/>
              <a:rect r="r" b="b" t="t" l="l"/>
              <a:pathLst>
                <a:path h="1009523" w="1009523">
                  <a:moveTo>
                    <a:pt x="0" y="0"/>
                  </a:moveTo>
                  <a:lnTo>
                    <a:pt x="1009523" y="0"/>
                  </a:lnTo>
                  <a:lnTo>
                    <a:pt x="1009523" y="1009523"/>
                  </a:lnTo>
                  <a:lnTo>
                    <a:pt x="0" y="10095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2" b="2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3493694" y="4526280"/>
            <a:ext cx="2670734" cy="822960"/>
            <a:chOff x="0" y="0"/>
            <a:chExt cx="3560978" cy="109728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560978" cy="1097280"/>
            </a:xfrm>
            <a:custGeom>
              <a:avLst/>
              <a:gdLst/>
              <a:ahLst/>
              <a:cxnLst/>
              <a:rect r="r" b="b" t="t" l="l"/>
              <a:pathLst>
                <a:path h="1097280" w="3560978">
                  <a:moveTo>
                    <a:pt x="0" y="0"/>
                  </a:moveTo>
                  <a:lnTo>
                    <a:pt x="3560978" y="0"/>
                  </a:lnTo>
                  <a:lnTo>
                    <a:pt x="3560978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234" r="0" b="-13234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57150"/>
              <a:ext cx="3560978" cy="11544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77"/>
                </a:lnSpc>
              </a:pPr>
              <a:r>
                <a:rPr lang="en-US" sz="172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Face Detection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6054700" y="3449574"/>
            <a:ext cx="425196" cy="301752"/>
            <a:chOff x="0" y="0"/>
            <a:chExt cx="566928" cy="402336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66928" cy="402336"/>
            </a:xfrm>
            <a:custGeom>
              <a:avLst/>
              <a:gdLst/>
              <a:ahLst/>
              <a:cxnLst/>
              <a:rect r="r" b="b" t="t" l="l"/>
              <a:pathLst>
                <a:path h="402336" w="566928">
                  <a:moveTo>
                    <a:pt x="0" y="100584"/>
                  </a:moveTo>
                  <a:lnTo>
                    <a:pt x="365760" y="100584"/>
                  </a:lnTo>
                  <a:lnTo>
                    <a:pt x="365760" y="0"/>
                  </a:lnTo>
                  <a:lnTo>
                    <a:pt x="566928" y="201168"/>
                  </a:lnTo>
                  <a:lnTo>
                    <a:pt x="365760" y="402336"/>
                  </a:lnTo>
                  <a:lnTo>
                    <a:pt x="365760" y="301752"/>
                  </a:lnTo>
                  <a:lnTo>
                    <a:pt x="0" y="301752"/>
                  </a:lnTo>
                  <a:close/>
                </a:path>
              </a:pathLst>
            </a:custGeom>
            <a:solidFill>
              <a:srgbClr val="22D3EE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6916864" y="2743200"/>
            <a:ext cx="1577340" cy="1577340"/>
            <a:chOff x="0" y="0"/>
            <a:chExt cx="2103120" cy="210312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103120" cy="2103120"/>
            </a:xfrm>
            <a:custGeom>
              <a:avLst/>
              <a:gdLst/>
              <a:ahLst/>
              <a:cxnLst/>
              <a:rect r="r" b="b" t="t" l="l"/>
              <a:pathLst>
                <a:path h="2103120" w="2103120">
                  <a:moveTo>
                    <a:pt x="0" y="1051560"/>
                  </a:moveTo>
                  <a:cubicBezTo>
                    <a:pt x="0" y="470789"/>
                    <a:pt x="470789" y="0"/>
                    <a:pt x="1051560" y="0"/>
                  </a:cubicBezTo>
                  <a:cubicBezTo>
                    <a:pt x="1632331" y="0"/>
                    <a:pt x="2103120" y="470789"/>
                    <a:pt x="2103120" y="1051560"/>
                  </a:cubicBezTo>
                  <a:cubicBezTo>
                    <a:pt x="2103120" y="1632331"/>
                    <a:pt x="1632331" y="2103120"/>
                    <a:pt x="1051560" y="2103120"/>
                  </a:cubicBezTo>
                  <a:cubicBezTo>
                    <a:pt x="470789" y="2103120"/>
                    <a:pt x="0" y="1632331"/>
                    <a:pt x="0" y="1051560"/>
                  </a:cubicBezTo>
                  <a:close/>
                </a:path>
              </a:pathLst>
            </a:custGeom>
            <a:solidFill>
              <a:srgbClr val="22D3EE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7326973" y="3153308"/>
            <a:ext cx="757123" cy="757123"/>
            <a:chOff x="0" y="0"/>
            <a:chExt cx="1009498" cy="1009498"/>
          </a:xfrm>
        </p:grpSpPr>
        <p:sp>
          <p:nvSpPr>
            <p:cNvPr name="Freeform 29" id="29" descr="/home/claude/ppt/icons/fingerprint_navy.png"/>
            <p:cNvSpPr/>
            <p:nvPr/>
          </p:nvSpPr>
          <p:spPr>
            <a:xfrm flipH="false" flipV="false" rot="0">
              <a:off x="0" y="0"/>
              <a:ext cx="1009523" cy="1009523"/>
            </a:xfrm>
            <a:custGeom>
              <a:avLst/>
              <a:gdLst/>
              <a:ahLst/>
              <a:cxnLst/>
              <a:rect r="r" b="b" t="t" l="l"/>
              <a:pathLst>
                <a:path h="1009523" w="1009523">
                  <a:moveTo>
                    <a:pt x="0" y="0"/>
                  </a:moveTo>
                  <a:lnTo>
                    <a:pt x="1009523" y="0"/>
                  </a:lnTo>
                  <a:lnTo>
                    <a:pt x="1009523" y="1009523"/>
                  </a:lnTo>
                  <a:lnTo>
                    <a:pt x="0" y="10095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2" b="2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6370168" y="4526280"/>
            <a:ext cx="2670734" cy="822960"/>
            <a:chOff x="0" y="0"/>
            <a:chExt cx="3560978" cy="109728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3560978" cy="1097280"/>
            </a:xfrm>
            <a:custGeom>
              <a:avLst/>
              <a:gdLst/>
              <a:ahLst/>
              <a:cxnLst/>
              <a:rect r="r" b="b" t="t" l="l"/>
              <a:pathLst>
                <a:path h="1097280" w="3560978">
                  <a:moveTo>
                    <a:pt x="0" y="0"/>
                  </a:moveTo>
                  <a:lnTo>
                    <a:pt x="3560978" y="0"/>
                  </a:lnTo>
                  <a:lnTo>
                    <a:pt x="3560978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234" r="0" b="-13234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57150"/>
              <a:ext cx="3560978" cy="11544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77"/>
                </a:lnSpc>
              </a:pPr>
              <a:r>
                <a:rPr lang="en-US" sz="172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Face Embedding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8931173" y="3449574"/>
            <a:ext cx="425196" cy="301752"/>
            <a:chOff x="0" y="0"/>
            <a:chExt cx="566928" cy="402336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566928" cy="402336"/>
            </a:xfrm>
            <a:custGeom>
              <a:avLst/>
              <a:gdLst/>
              <a:ahLst/>
              <a:cxnLst/>
              <a:rect r="r" b="b" t="t" l="l"/>
              <a:pathLst>
                <a:path h="402336" w="566928">
                  <a:moveTo>
                    <a:pt x="0" y="100584"/>
                  </a:moveTo>
                  <a:lnTo>
                    <a:pt x="365760" y="100584"/>
                  </a:lnTo>
                  <a:lnTo>
                    <a:pt x="365760" y="0"/>
                  </a:lnTo>
                  <a:lnTo>
                    <a:pt x="566928" y="201168"/>
                  </a:lnTo>
                  <a:lnTo>
                    <a:pt x="365760" y="402336"/>
                  </a:lnTo>
                  <a:lnTo>
                    <a:pt x="365760" y="301752"/>
                  </a:lnTo>
                  <a:lnTo>
                    <a:pt x="0" y="301752"/>
                  </a:lnTo>
                  <a:close/>
                </a:path>
              </a:pathLst>
            </a:custGeom>
            <a:solidFill>
              <a:srgbClr val="22D3EE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9793338" y="2743200"/>
            <a:ext cx="1577340" cy="1577340"/>
            <a:chOff x="0" y="0"/>
            <a:chExt cx="2103120" cy="210312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103120" cy="2103120"/>
            </a:xfrm>
            <a:custGeom>
              <a:avLst/>
              <a:gdLst/>
              <a:ahLst/>
              <a:cxnLst/>
              <a:rect r="r" b="b" t="t" l="l"/>
              <a:pathLst>
                <a:path h="2103120" w="2103120">
                  <a:moveTo>
                    <a:pt x="0" y="1051560"/>
                  </a:moveTo>
                  <a:cubicBezTo>
                    <a:pt x="0" y="470789"/>
                    <a:pt x="470789" y="0"/>
                    <a:pt x="1051560" y="0"/>
                  </a:cubicBezTo>
                  <a:cubicBezTo>
                    <a:pt x="1632331" y="0"/>
                    <a:pt x="2103120" y="470789"/>
                    <a:pt x="2103120" y="1051560"/>
                  </a:cubicBezTo>
                  <a:cubicBezTo>
                    <a:pt x="2103120" y="1632331"/>
                    <a:pt x="1632331" y="2103120"/>
                    <a:pt x="1051560" y="2103120"/>
                  </a:cubicBezTo>
                  <a:cubicBezTo>
                    <a:pt x="470789" y="2103120"/>
                    <a:pt x="0" y="1632331"/>
                    <a:pt x="0" y="1051560"/>
                  </a:cubicBezTo>
                  <a:close/>
                </a:path>
              </a:pathLst>
            </a:custGeom>
            <a:solidFill>
              <a:srgbClr val="22D3EE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0203447" y="3153308"/>
            <a:ext cx="757123" cy="757123"/>
            <a:chOff x="0" y="0"/>
            <a:chExt cx="1009498" cy="1009498"/>
          </a:xfrm>
        </p:grpSpPr>
        <p:sp>
          <p:nvSpPr>
            <p:cNvPr name="Freeform 38" id="38" descr="/home/claude/ppt/icons/gauge_navy.png"/>
            <p:cNvSpPr/>
            <p:nvPr/>
          </p:nvSpPr>
          <p:spPr>
            <a:xfrm flipH="false" flipV="false" rot="0">
              <a:off x="0" y="0"/>
              <a:ext cx="1009523" cy="1009523"/>
            </a:xfrm>
            <a:custGeom>
              <a:avLst/>
              <a:gdLst/>
              <a:ahLst/>
              <a:cxnLst/>
              <a:rect r="r" b="b" t="t" l="l"/>
              <a:pathLst>
                <a:path h="1009523" w="1009523">
                  <a:moveTo>
                    <a:pt x="0" y="0"/>
                  </a:moveTo>
                  <a:lnTo>
                    <a:pt x="1009523" y="0"/>
                  </a:lnTo>
                  <a:lnTo>
                    <a:pt x="1009523" y="1009523"/>
                  </a:lnTo>
                  <a:lnTo>
                    <a:pt x="0" y="10095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2" b="2"/>
              </a:stretch>
            </a:blip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9246641" y="4526280"/>
            <a:ext cx="2670734" cy="822960"/>
            <a:chOff x="0" y="0"/>
            <a:chExt cx="3560978" cy="109728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3560978" cy="1097280"/>
            </a:xfrm>
            <a:custGeom>
              <a:avLst/>
              <a:gdLst/>
              <a:ahLst/>
              <a:cxnLst/>
              <a:rect r="r" b="b" t="t" l="l"/>
              <a:pathLst>
                <a:path h="1097280" w="3560978">
                  <a:moveTo>
                    <a:pt x="0" y="0"/>
                  </a:moveTo>
                  <a:lnTo>
                    <a:pt x="3560978" y="0"/>
                  </a:lnTo>
                  <a:lnTo>
                    <a:pt x="3560978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234" r="0" b="-13234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57150"/>
              <a:ext cx="3560978" cy="11544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77"/>
                </a:lnSpc>
              </a:pPr>
              <a:r>
                <a:rPr lang="en-US" sz="172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Similarity Comparison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1807647" y="3449574"/>
            <a:ext cx="425196" cy="301752"/>
            <a:chOff x="0" y="0"/>
            <a:chExt cx="566928" cy="402336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566928" cy="402336"/>
            </a:xfrm>
            <a:custGeom>
              <a:avLst/>
              <a:gdLst/>
              <a:ahLst/>
              <a:cxnLst/>
              <a:rect r="r" b="b" t="t" l="l"/>
              <a:pathLst>
                <a:path h="402336" w="566928">
                  <a:moveTo>
                    <a:pt x="0" y="100584"/>
                  </a:moveTo>
                  <a:lnTo>
                    <a:pt x="365760" y="100584"/>
                  </a:lnTo>
                  <a:lnTo>
                    <a:pt x="365760" y="0"/>
                  </a:lnTo>
                  <a:lnTo>
                    <a:pt x="566928" y="201168"/>
                  </a:lnTo>
                  <a:lnTo>
                    <a:pt x="365760" y="402336"/>
                  </a:lnTo>
                  <a:lnTo>
                    <a:pt x="365760" y="301752"/>
                  </a:lnTo>
                  <a:lnTo>
                    <a:pt x="0" y="301752"/>
                  </a:lnTo>
                  <a:close/>
                </a:path>
              </a:pathLst>
            </a:custGeom>
            <a:solidFill>
              <a:srgbClr val="22D3EE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2669812" y="2743200"/>
            <a:ext cx="1577340" cy="1577340"/>
            <a:chOff x="0" y="0"/>
            <a:chExt cx="2103120" cy="210312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103120" cy="2103120"/>
            </a:xfrm>
            <a:custGeom>
              <a:avLst/>
              <a:gdLst/>
              <a:ahLst/>
              <a:cxnLst/>
              <a:rect r="r" b="b" t="t" l="l"/>
              <a:pathLst>
                <a:path h="2103120" w="2103120">
                  <a:moveTo>
                    <a:pt x="0" y="1051560"/>
                  </a:moveTo>
                  <a:cubicBezTo>
                    <a:pt x="0" y="470789"/>
                    <a:pt x="470789" y="0"/>
                    <a:pt x="1051560" y="0"/>
                  </a:cubicBezTo>
                  <a:cubicBezTo>
                    <a:pt x="1632331" y="0"/>
                    <a:pt x="2103120" y="470789"/>
                    <a:pt x="2103120" y="1051560"/>
                  </a:cubicBezTo>
                  <a:cubicBezTo>
                    <a:pt x="2103120" y="1632331"/>
                    <a:pt x="1632331" y="2103120"/>
                    <a:pt x="1051560" y="2103120"/>
                  </a:cubicBezTo>
                  <a:cubicBezTo>
                    <a:pt x="470789" y="2103120"/>
                    <a:pt x="0" y="1632331"/>
                    <a:pt x="0" y="1051560"/>
                  </a:cubicBezTo>
                  <a:close/>
                </a:path>
              </a:pathLst>
            </a:custGeom>
            <a:solidFill>
              <a:srgbClr val="22D3EE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3079920" y="3153308"/>
            <a:ext cx="757123" cy="757123"/>
            <a:chOff x="0" y="0"/>
            <a:chExt cx="1009498" cy="1009498"/>
          </a:xfrm>
        </p:grpSpPr>
        <p:sp>
          <p:nvSpPr>
            <p:cNvPr name="Freeform 47" id="47" descr="/home/claude/ppt/icons/idbadge_navy.png"/>
            <p:cNvSpPr/>
            <p:nvPr/>
          </p:nvSpPr>
          <p:spPr>
            <a:xfrm flipH="false" flipV="false" rot="0">
              <a:off x="0" y="0"/>
              <a:ext cx="1009523" cy="1009523"/>
            </a:xfrm>
            <a:custGeom>
              <a:avLst/>
              <a:gdLst/>
              <a:ahLst/>
              <a:cxnLst/>
              <a:rect r="r" b="b" t="t" l="l"/>
              <a:pathLst>
                <a:path h="1009523" w="1009523">
                  <a:moveTo>
                    <a:pt x="0" y="0"/>
                  </a:moveTo>
                  <a:lnTo>
                    <a:pt x="1009523" y="0"/>
                  </a:lnTo>
                  <a:lnTo>
                    <a:pt x="1009523" y="1009523"/>
                  </a:lnTo>
                  <a:lnTo>
                    <a:pt x="0" y="10095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2" b="2"/>
              </a:stretch>
            </a:blip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12123115" y="4526280"/>
            <a:ext cx="2670734" cy="822960"/>
            <a:chOff x="0" y="0"/>
            <a:chExt cx="3560978" cy="109728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3560978" cy="1097280"/>
            </a:xfrm>
            <a:custGeom>
              <a:avLst/>
              <a:gdLst/>
              <a:ahLst/>
              <a:cxnLst/>
              <a:rect r="r" b="b" t="t" l="l"/>
              <a:pathLst>
                <a:path h="1097280" w="3560978">
                  <a:moveTo>
                    <a:pt x="0" y="0"/>
                  </a:moveTo>
                  <a:lnTo>
                    <a:pt x="3560978" y="0"/>
                  </a:lnTo>
                  <a:lnTo>
                    <a:pt x="3560978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234" r="0" b="-13234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57150"/>
              <a:ext cx="3560978" cy="11544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77"/>
                </a:lnSpc>
              </a:pPr>
              <a:r>
                <a:rPr lang="en-US" sz="172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Student Identification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4684121" y="3449574"/>
            <a:ext cx="425196" cy="301752"/>
            <a:chOff x="0" y="0"/>
            <a:chExt cx="566928" cy="402336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566928" cy="402336"/>
            </a:xfrm>
            <a:custGeom>
              <a:avLst/>
              <a:gdLst/>
              <a:ahLst/>
              <a:cxnLst/>
              <a:rect r="r" b="b" t="t" l="l"/>
              <a:pathLst>
                <a:path h="402336" w="566928">
                  <a:moveTo>
                    <a:pt x="0" y="100584"/>
                  </a:moveTo>
                  <a:lnTo>
                    <a:pt x="365760" y="100584"/>
                  </a:lnTo>
                  <a:lnTo>
                    <a:pt x="365760" y="0"/>
                  </a:lnTo>
                  <a:lnTo>
                    <a:pt x="566928" y="201168"/>
                  </a:lnTo>
                  <a:lnTo>
                    <a:pt x="365760" y="402336"/>
                  </a:lnTo>
                  <a:lnTo>
                    <a:pt x="365760" y="301752"/>
                  </a:lnTo>
                  <a:lnTo>
                    <a:pt x="0" y="301752"/>
                  </a:lnTo>
                  <a:close/>
                </a:path>
              </a:pathLst>
            </a:custGeom>
            <a:solidFill>
              <a:srgbClr val="22D3EE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15546286" y="2743200"/>
            <a:ext cx="1577340" cy="1577340"/>
            <a:chOff x="0" y="0"/>
            <a:chExt cx="2103120" cy="210312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2103120" cy="2103120"/>
            </a:xfrm>
            <a:custGeom>
              <a:avLst/>
              <a:gdLst/>
              <a:ahLst/>
              <a:cxnLst/>
              <a:rect r="r" b="b" t="t" l="l"/>
              <a:pathLst>
                <a:path h="2103120" w="2103120">
                  <a:moveTo>
                    <a:pt x="0" y="1051560"/>
                  </a:moveTo>
                  <a:cubicBezTo>
                    <a:pt x="0" y="470789"/>
                    <a:pt x="470789" y="0"/>
                    <a:pt x="1051560" y="0"/>
                  </a:cubicBezTo>
                  <a:cubicBezTo>
                    <a:pt x="1632331" y="0"/>
                    <a:pt x="2103120" y="470789"/>
                    <a:pt x="2103120" y="1051560"/>
                  </a:cubicBezTo>
                  <a:cubicBezTo>
                    <a:pt x="2103120" y="1632331"/>
                    <a:pt x="1632331" y="2103120"/>
                    <a:pt x="1051560" y="2103120"/>
                  </a:cubicBezTo>
                  <a:cubicBezTo>
                    <a:pt x="470789" y="2103120"/>
                    <a:pt x="0" y="1632331"/>
                    <a:pt x="0" y="1051560"/>
                  </a:cubicBezTo>
                  <a:close/>
                </a:path>
              </a:pathLst>
            </a:custGeom>
            <a:solidFill>
              <a:srgbClr val="22D3EE"/>
            </a:solid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15956394" y="3153308"/>
            <a:ext cx="757123" cy="757123"/>
            <a:chOff x="0" y="0"/>
            <a:chExt cx="1009498" cy="1009498"/>
          </a:xfrm>
        </p:grpSpPr>
        <p:sp>
          <p:nvSpPr>
            <p:cNvPr name="Freeform 56" id="56" descr="/home/claude/ppt/icons/check_navy.png"/>
            <p:cNvSpPr/>
            <p:nvPr/>
          </p:nvSpPr>
          <p:spPr>
            <a:xfrm flipH="false" flipV="false" rot="0">
              <a:off x="0" y="0"/>
              <a:ext cx="1009523" cy="1009523"/>
            </a:xfrm>
            <a:custGeom>
              <a:avLst/>
              <a:gdLst/>
              <a:ahLst/>
              <a:cxnLst/>
              <a:rect r="r" b="b" t="t" l="l"/>
              <a:pathLst>
                <a:path h="1009523" w="1009523">
                  <a:moveTo>
                    <a:pt x="0" y="0"/>
                  </a:moveTo>
                  <a:lnTo>
                    <a:pt x="1009523" y="0"/>
                  </a:lnTo>
                  <a:lnTo>
                    <a:pt x="1009523" y="1009523"/>
                  </a:lnTo>
                  <a:lnTo>
                    <a:pt x="0" y="10095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2" b="2"/>
              </a:stretch>
            </a:blip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14999589" y="4526280"/>
            <a:ext cx="2670734" cy="822960"/>
            <a:chOff x="0" y="0"/>
            <a:chExt cx="3560978" cy="109728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3560978" cy="1097280"/>
            </a:xfrm>
            <a:custGeom>
              <a:avLst/>
              <a:gdLst/>
              <a:ahLst/>
              <a:cxnLst/>
              <a:rect r="r" b="b" t="t" l="l"/>
              <a:pathLst>
                <a:path h="1097280" w="3560978">
                  <a:moveTo>
                    <a:pt x="0" y="0"/>
                  </a:moveTo>
                  <a:lnTo>
                    <a:pt x="3560978" y="0"/>
                  </a:lnTo>
                  <a:lnTo>
                    <a:pt x="3560978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234" r="0" b="-13234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57150"/>
              <a:ext cx="3560978" cy="11544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77"/>
                </a:lnSpc>
              </a:pPr>
              <a:r>
                <a:rPr lang="en-US" sz="172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Attendance Decision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1783080" y="5966460"/>
            <a:ext cx="14676120" cy="2125980"/>
            <a:chOff x="0" y="0"/>
            <a:chExt cx="19568160" cy="283464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19568161" cy="2834640"/>
            </a:xfrm>
            <a:custGeom>
              <a:avLst/>
              <a:gdLst/>
              <a:ahLst/>
              <a:cxnLst/>
              <a:rect r="r" b="b" t="t" l="l"/>
              <a:pathLst>
                <a:path h="2834640" w="19568161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19348704" y="0"/>
                  </a:lnTo>
                  <a:cubicBezTo>
                    <a:pt x="19469863" y="0"/>
                    <a:pt x="19568161" y="98298"/>
                    <a:pt x="19568161" y="219456"/>
                  </a:cubicBezTo>
                  <a:lnTo>
                    <a:pt x="19568161" y="2615184"/>
                  </a:lnTo>
                  <a:cubicBezTo>
                    <a:pt x="19568161" y="2736342"/>
                    <a:pt x="19469863" y="2834640"/>
                    <a:pt x="19348704" y="2834640"/>
                  </a:cubicBezTo>
                  <a:lnTo>
                    <a:pt x="219456" y="2834640"/>
                  </a:lnTo>
                  <a:cubicBezTo>
                    <a:pt x="98298" y="2834640"/>
                    <a:pt x="0" y="2736342"/>
                    <a:pt x="0" y="2615184"/>
                  </a:cubicBezTo>
                  <a:close/>
                </a:path>
              </a:pathLst>
            </a:custGeom>
            <a:solidFill>
              <a:srgbClr val="1D3F70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2331720" y="6240780"/>
            <a:ext cx="13578840" cy="1645920"/>
            <a:chOff x="0" y="0"/>
            <a:chExt cx="18105120" cy="219456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8105120" cy="2194560"/>
            </a:xfrm>
            <a:custGeom>
              <a:avLst/>
              <a:gdLst/>
              <a:ahLst/>
              <a:cxnLst/>
              <a:rect r="r" b="b" t="t" l="l"/>
              <a:pathLst>
                <a:path h="2194560" w="18105120">
                  <a:moveTo>
                    <a:pt x="0" y="0"/>
                  </a:moveTo>
                  <a:lnTo>
                    <a:pt x="18105120" y="0"/>
                  </a:lnTo>
                  <a:lnTo>
                    <a:pt x="1810512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0751" r="0" b="-110751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104775"/>
              <a:ext cx="18105120" cy="22993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59"/>
                </a:lnSpc>
              </a:pPr>
              <a:r>
                <a:rPr lang="en-US" sz="2025">
                  <a:solidFill>
                    <a:srgbClr val="A9BBD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Registered facial embeddings are compared against the query embedding generated from the live webcam image. A similarity score is calculated between the two normalized embedding vectors, and a configurable matching threshold decides whether the face is recognized.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685800" y="9738360"/>
            <a:ext cx="9601200" cy="411480"/>
            <a:chOff x="0" y="0"/>
            <a:chExt cx="12801600" cy="54864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2801600" cy="548640"/>
            </a:xfrm>
            <a:custGeom>
              <a:avLst/>
              <a:gdLst/>
              <a:ahLst/>
              <a:cxnLst/>
              <a:rect r="r" b="b" t="t" l="l"/>
              <a:pathLst>
                <a:path h="548640" w="12801600">
                  <a:moveTo>
                    <a:pt x="0" y="0"/>
                  </a:moveTo>
                  <a:lnTo>
                    <a:pt x="12801600" y="0"/>
                  </a:lnTo>
                  <a:lnTo>
                    <a:pt x="128016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04650" r="0" b="-404650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19050"/>
              <a:ext cx="1280160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sz="1200" spc="150">
                  <a:solidFill>
                    <a:srgbClr val="5B739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SMART FACE ATTENDANCE &amp; ACCESS GATE SYSTEM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16915943" y="9738360"/>
            <a:ext cx="685800" cy="411480"/>
            <a:chOff x="0" y="0"/>
            <a:chExt cx="914400" cy="54864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5B739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07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576072"/>
            <a:ext cx="10972800" cy="480060"/>
            <a:chOff x="0" y="0"/>
            <a:chExt cx="146304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640080"/>
            </a:xfrm>
            <a:custGeom>
              <a:avLst/>
              <a:gdLst/>
              <a:ahLst/>
              <a:cxnLst/>
              <a:rect r="r" b="b" t="t" l="l"/>
              <a:pathLst>
                <a:path h="64008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95372" r="0" b="-39537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46304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300">
                  <a:solidFill>
                    <a:srgbClr val="22D3E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WORKFLOW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1028700"/>
            <a:ext cx="15773400" cy="960120"/>
            <a:chOff x="0" y="0"/>
            <a:chExt cx="21031200" cy="12801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0312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0111" r="0" b="-270111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103120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60"/>
                </a:lnSpc>
              </a:pPr>
              <a:r>
                <a:rPr lang="en-US" sz="4050" b="true">
                  <a:solidFill>
                    <a:srgbClr val="0B1E3D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Complete System Workflow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371600" y="2125980"/>
            <a:ext cx="4526280" cy="685800"/>
            <a:chOff x="0" y="0"/>
            <a:chExt cx="6035040" cy="914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035040" cy="914400"/>
            </a:xfrm>
            <a:custGeom>
              <a:avLst/>
              <a:gdLst/>
              <a:ahLst/>
              <a:cxnLst/>
              <a:rect r="r" b="b" t="t" l="l"/>
              <a:pathLst>
                <a:path h="914400" w="603504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5925312" y="0"/>
                  </a:lnTo>
                  <a:cubicBezTo>
                    <a:pt x="5985891" y="0"/>
                    <a:pt x="6035040" y="49149"/>
                    <a:pt x="6035040" y="109728"/>
                  </a:cubicBezTo>
                  <a:lnTo>
                    <a:pt x="6035040" y="804672"/>
                  </a:lnTo>
                  <a:cubicBezTo>
                    <a:pt x="6035040" y="865251"/>
                    <a:pt x="5985891" y="914400"/>
                    <a:pt x="5925312" y="914400"/>
                  </a:cubicBezTo>
                  <a:lnTo>
                    <a:pt x="109728" y="914400"/>
                  </a:lnTo>
                  <a:cubicBezTo>
                    <a:pt x="49149" y="914400"/>
                    <a:pt x="0" y="865251"/>
                    <a:pt x="0" y="804672"/>
                  </a:cubicBezTo>
                  <a:close/>
                </a:path>
              </a:pathLst>
            </a:custGeom>
            <a:solidFill>
              <a:srgbClr val="1D3F70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412748" y="2125980"/>
            <a:ext cx="4443984" cy="685800"/>
            <a:chOff x="0" y="0"/>
            <a:chExt cx="5925312" cy="9144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925312" cy="914400"/>
            </a:xfrm>
            <a:custGeom>
              <a:avLst/>
              <a:gdLst/>
              <a:ahLst/>
              <a:cxnLst/>
              <a:rect r="r" b="b" t="t" l="l"/>
              <a:pathLst>
                <a:path h="914400" w="5925312">
                  <a:moveTo>
                    <a:pt x="0" y="0"/>
                  </a:moveTo>
                  <a:lnTo>
                    <a:pt x="5925312" y="0"/>
                  </a:lnTo>
                  <a:lnTo>
                    <a:pt x="5925312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6263" r="0" b="-76263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5925312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09"/>
                </a:lnSpc>
              </a:pPr>
              <a:r>
                <a:rPr lang="en-US" sz="142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Register Student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5939028" y="2386584"/>
            <a:ext cx="672084" cy="301752"/>
            <a:chOff x="0" y="0"/>
            <a:chExt cx="896112" cy="40233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96112" cy="402336"/>
            </a:xfrm>
            <a:custGeom>
              <a:avLst/>
              <a:gdLst/>
              <a:ahLst/>
              <a:cxnLst/>
              <a:rect r="r" b="b" t="t" l="l"/>
              <a:pathLst>
                <a:path h="402336" w="896112">
                  <a:moveTo>
                    <a:pt x="0" y="100584"/>
                  </a:moveTo>
                  <a:lnTo>
                    <a:pt x="694944" y="100584"/>
                  </a:lnTo>
                  <a:lnTo>
                    <a:pt x="694944" y="0"/>
                  </a:lnTo>
                  <a:lnTo>
                    <a:pt x="896112" y="201168"/>
                  </a:lnTo>
                  <a:lnTo>
                    <a:pt x="694944" y="402336"/>
                  </a:lnTo>
                  <a:lnTo>
                    <a:pt x="694944" y="301752"/>
                  </a:lnTo>
                  <a:lnTo>
                    <a:pt x="0" y="301752"/>
                  </a:lnTo>
                  <a:close/>
                </a:path>
              </a:pathLst>
            </a:custGeom>
            <a:solidFill>
              <a:srgbClr val="8DA3C4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6652260" y="2125980"/>
            <a:ext cx="4526280" cy="685800"/>
            <a:chOff x="0" y="0"/>
            <a:chExt cx="6035040" cy="9144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035040" cy="914400"/>
            </a:xfrm>
            <a:custGeom>
              <a:avLst/>
              <a:gdLst/>
              <a:ahLst/>
              <a:cxnLst/>
              <a:rect r="r" b="b" t="t" l="l"/>
              <a:pathLst>
                <a:path h="914400" w="603504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5925312" y="0"/>
                  </a:lnTo>
                  <a:cubicBezTo>
                    <a:pt x="5985891" y="0"/>
                    <a:pt x="6035040" y="49149"/>
                    <a:pt x="6035040" y="109728"/>
                  </a:cubicBezTo>
                  <a:lnTo>
                    <a:pt x="6035040" y="804672"/>
                  </a:lnTo>
                  <a:cubicBezTo>
                    <a:pt x="6035040" y="865251"/>
                    <a:pt x="5985891" y="914400"/>
                    <a:pt x="5925312" y="914400"/>
                  </a:cubicBezTo>
                  <a:lnTo>
                    <a:pt x="109728" y="914400"/>
                  </a:lnTo>
                  <a:cubicBezTo>
                    <a:pt x="49149" y="914400"/>
                    <a:pt x="0" y="865251"/>
                    <a:pt x="0" y="804672"/>
                  </a:cubicBezTo>
                  <a:close/>
                </a:path>
              </a:pathLst>
            </a:custGeom>
            <a:solidFill>
              <a:srgbClr val="1D3F70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6693408" y="2125980"/>
            <a:ext cx="4443984" cy="685800"/>
            <a:chOff x="0" y="0"/>
            <a:chExt cx="5925312" cy="9144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925312" cy="914400"/>
            </a:xfrm>
            <a:custGeom>
              <a:avLst/>
              <a:gdLst/>
              <a:ahLst/>
              <a:cxnLst/>
              <a:rect r="r" b="b" t="t" l="l"/>
              <a:pathLst>
                <a:path h="914400" w="5925312">
                  <a:moveTo>
                    <a:pt x="0" y="0"/>
                  </a:moveTo>
                  <a:lnTo>
                    <a:pt x="5925312" y="0"/>
                  </a:lnTo>
                  <a:lnTo>
                    <a:pt x="5925312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6263" r="0" b="-76263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5925312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09"/>
                </a:lnSpc>
              </a:pPr>
              <a:r>
                <a:rPr lang="en-US" sz="142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Generate &amp; Store Embedding</a:t>
              </a:r>
            </a:p>
            <a:p>
              <a:pPr algn="ctr">
                <a:lnSpc>
                  <a:spcPts val="1709"/>
                </a:lnSpc>
              </a:pPr>
              <a:r>
                <a:rPr lang="en-US" sz="142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(SQLite)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1219688" y="2386584"/>
            <a:ext cx="672084" cy="301752"/>
            <a:chOff x="0" y="0"/>
            <a:chExt cx="896112" cy="40233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96112" cy="402336"/>
            </a:xfrm>
            <a:custGeom>
              <a:avLst/>
              <a:gdLst/>
              <a:ahLst/>
              <a:cxnLst/>
              <a:rect r="r" b="b" t="t" l="l"/>
              <a:pathLst>
                <a:path h="402336" w="896112">
                  <a:moveTo>
                    <a:pt x="0" y="100584"/>
                  </a:moveTo>
                  <a:lnTo>
                    <a:pt x="694944" y="100584"/>
                  </a:lnTo>
                  <a:lnTo>
                    <a:pt x="694944" y="0"/>
                  </a:lnTo>
                  <a:lnTo>
                    <a:pt x="896112" y="201168"/>
                  </a:lnTo>
                  <a:lnTo>
                    <a:pt x="694944" y="402336"/>
                  </a:lnTo>
                  <a:lnTo>
                    <a:pt x="694944" y="301752"/>
                  </a:lnTo>
                  <a:lnTo>
                    <a:pt x="0" y="301752"/>
                  </a:lnTo>
                  <a:close/>
                </a:path>
              </a:pathLst>
            </a:custGeom>
            <a:solidFill>
              <a:srgbClr val="8DA3C4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1932920" y="2125980"/>
            <a:ext cx="4526280" cy="685800"/>
            <a:chOff x="0" y="0"/>
            <a:chExt cx="6035040" cy="9144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035040" cy="914400"/>
            </a:xfrm>
            <a:custGeom>
              <a:avLst/>
              <a:gdLst/>
              <a:ahLst/>
              <a:cxnLst/>
              <a:rect r="r" b="b" t="t" l="l"/>
              <a:pathLst>
                <a:path h="914400" w="603504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5925312" y="0"/>
                  </a:lnTo>
                  <a:cubicBezTo>
                    <a:pt x="5985891" y="0"/>
                    <a:pt x="6035040" y="49149"/>
                    <a:pt x="6035040" y="109728"/>
                  </a:cubicBezTo>
                  <a:lnTo>
                    <a:pt x="6035040" y="804672"/>
                  </a:lnTo>
                  <a:cubicBezTo>
                    <a:pt x="6035040" y="865251"/>
                    <a:pt x="5985891" y="914400"/>
                    <a:pt x="5925312" y="914400"/>
                  </a:cubicBezTo>
                  <a:lnTo>
                    <a:pt x="109728" y="914400"/>
                  </a:lnTo>
                  <a:cubicBezTo>
                    <a:pt x="49149" y="914400"/>
                    <a:pt x="0" y="865251"/>
                    <a:pt x="0" y="804672"/>
                  </a:cubicBezTo>
                  <a:close/>
                </a:path>
              </a:pathLst>
            </a:custGeom>
            <a:solidFill>
              <a:srgbClr val="1D3F70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1974068" y="2125980"/>
            <a:ext cx="4443984" cy="685800"/>
            <a:chOff x="0" y="0"/>
            <a:chExt cx="5925312" cy="9144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925312" cy="914400"/>
            </a:xfrm>
            <a:custGeom>
              <a:avLst/>
              <a:gdLst/>
              <a:ahLst/>
              <a:cxnLst/>
              <a:rect r="r" b="b" t="t" l="l"/>
              <a:pathLst>
                <a:path h="914400" w="5925312">
                  <a:moveTo>
                    <a:pt x="0" y="0"/>
                  </a:moveTo>
                  <a:lnTo>
                    <a:pt x="5925312" y="0"/>
                  </a:lnTo>
                  <a:lnTo>
                    <a:pt x="5925312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6263" r="0" b="-76263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5925312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09"/>
                </a:lnSpc>
              </a:pPr>
              <a:r>
                <a:rPr lang="en-US" sz="142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Start Live Attendance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371600" y="3223260"/>
            <a:ext cx="4526280" cy="685800"/>
            <a:chOff x="0" y="0"/>
            <a:chExt cx="6035040" cy="9144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035040" cy="914400"/>
            </a:xfrm>
            <a:custGeom>
              <a:avLst/>
              <a:gdLst/>
              <a:ahLst/>
              <a:cxnLst/>
              <a:rect r="r" b="b" t="t" l="l"/>
              <a:pathLst>
                <a:path h="914400" w="603504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5925312" y="0"/>
                  </a:lnTo>
                  <a:cubicBezTo>
                    <a:pt x="5985891" y="0"/>
                    <a:pt x="6035040" y="49149"/>
                    <a:pt x="6035040" y="109728"/>
                  </a:cubicBezTo>
                  <a:lnTo>
                    <a:pt x="6035040" y="804672"/>
                  </a:lnTo>
                  <a:cubicBezTo>
                    <a:pt x="6035040" y="865251"/>
                    <a:pt x="5985891" y="914400"/>
                    <a:pt x="5925312" y="914400"/>
                  </a:cubicBezTo>
                  <a:lnTo>
                    <a:pt x="109728" y="914400"/>
                  </a:lnTo>
                  <a:cubicBezTo>
                    <a:pt x="49149" y="914400"/>
                    <a:pt x="0" y="865251"/>
                    <a:pt x="0" y="804672"/>
                  </a:cubicBezTo>
                  <a:close/>
                </a:path>
              </a:pathLst>
            </a:custGeom>
            <a:solidFill>
              <a:srgbClr val="223A5E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412748" y="3223260"/>
            <a:ext cx="4443984" cy="685800"/>
            <a:chOff x="0" y="0"/>
            <a:chExt cx="5925312" cy="9144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925312" cy="914400"/>
            </a:xfrm>
            <a:custGeom>
              <a:avLst/>
              <a:gdLst/>
              <a:ahLst/>
              <a:cxnLst/>
              <a:rect r="r" b="b" t="t" l="l"/>
              <a:pathLst>
                <a:path h="914400" w="5925312">
                  <a:moveTo>
                    <a:pt x="0" y="0"/>
                  </a:moveTo>
                  <a:lnTo>
                    <a:pt x="5925312" y="0"/>
                  </a:lnTo>
                  <a:lnTo>
                    <a:pt x="5925312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6263" r="0" b="-76263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5925312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09"/>
                </a:lnSpc>
              </a:pPr>
              <a:r>
                <a:rPr lang="en-US" sz="142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Capture Webcam Image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5939028" y="3483864"/>
            <a:ext cx="672084" cy="301752"/>
            <a:chOff x="0" y="0"/>
            <a:chExt cx="896112" cy="402336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96112" cy="402336"/>
            </a:xfrm>
            <a:custGeom>
              <a:avLst/>
              <a:gdLst/>
              <a:ahLst/>
              <a:cxnLst/>
              <a:rect r="r" b="b" t="t" l="l"/>
              <a:pathLst>
                <a:path h="402336" w="896112">
                  <a:moveTo>
                    <a:pt x="0" y="100584"/>
                  </a:moveTo>
                  <a:lnTo>
                    <a:pt x="694944" y="100584"/>
                  </a:lnTo>
                  <a:lnTo>
                    <a:pt x="694944" y="0"/>
                  </a:lnTo>
                  <a:lnTo>
                    <a:pt x="896112" y="201168"/>
                  </a:lnTo>
                  <a:lnTo>
                    <a:pt x="694944" y="402336"/>
                  </a:lnTo>
                  <a:lnTo>
                    <a:pt x="694944" y="301752"/>
                  </a:lnTo>
                  <a:lnTo>
                    <a:pt x="0" y="301752"/>
                  </a:lnTo>
                  <a:close/>
                </a:path>
              </a:pathLst>
            </a:custGeom>
            <a:solidFill>
              <a:srgbClr val="8DA3C4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6652260" y="3223260"/>
            <a:ext cx="4526280" cy="685800"/>
            <a:chOff x="0" y="0"/>
            <a:chExt cx="6035040" cy="9144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6035040" cy="914400"/>
            </a:xfrm>
            <a:custGeom>
              <a:avLst/>
              <a:gdLst/>
              <a:ahLst/>
              <a:cxnLst/>
              <a:rect r="r" b="b" t="t" l="l"/>
              <a:pathLst>
                <a:path h="914400" w="603504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5925312" y="0"/>
                  </a:lnTo>
                  <a:cubicBezTo>
                    <a:pt x="5985891" y="0"/>
                    <a:pt x="6035040" y="49149"/>
                    <a:pt x="6035040" y="109728"/>
                  </a:cubicBezTo>
                  <a:lnTo>
                    <a:pt x="6035040" y="804672"/>
                  </a:lnTo>
                  <a:cubicBezTo>
                    <a:pt x="6035040" y="865251"/>
                    <a:pt x="5985891" y="914400"/>
                    <a:pt x="5925312" y="914400"/>
                  </a:cubicBezTo>
                  <a:lnTo>
                    <a:pt x="109728" y="914400"/>
                  </a:lnTo>
                  <a:cubicBezTo>
                    <a:pt x="49149" y="914400"/>
                    <a:pt x="0" y="865251"/>
                    <a:pt x="0" y="804672"/>
                  </a:cubicBezTo>
                  <a:close/>
                </a:path>
              </a:pathLst>
            </a:custGeom>
            <a:solidFill>
              <a:srgbClr val="223A5E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6693408" y="3223260"/>
            <a:ext cx="4443984" cy="685800"/>
            <a:chOff x="0" y="0"/>
            <a:chExt cx="5925312" cy="9144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5925312" cy="914400"/>
            </a:xfrm>
            <a:custGeom>
              <a:avLst/>
              <a:gdLst/>
              <a:ahLst/>
              <a:cxnLst/>
              <a:rect r="r" b="b" t="t" l="l"/>
              <a:pathLst>
                <a:path h="914400" w="5925312">
                  <a:moveTo>
                    <a:pt x="0" y="0"/>
                  </a:moveTo>
                  <a:lnTo>
                    <a:pt x="5925312" y="0"/>
                  </a:lnTo>
                  <a:lnTo>
                    <a:pt x="5925312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6263" r="0" b="-76263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5925312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09"/>
                </a:lnSpc>
              </a:pPr>
              <a:r>
                <a:rPr lang="en-US" sz="142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Detect Face &amp;</a:t>
              </a:r>
            </a:p>
            <a:p>
              <a:pPr algn="ctr">
                <a:lnSpc>
                  <a:spcPts val="1709"/>
                </a:lnSpc>
              </a:pPr>
              <a:r>
                <a:rPr lang="en-US" sz="142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Generate Query Embedding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1219688" y="3483864"/>
            <a:ext cx="672084" cy="301752"/>
            <a:chOff x="0" y="0"/>
            <a:chExt cx="896112" cy="402336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896112" cy="402336"/>
            </a:xfrm>
            <a:custGeom>
              <a:avLst/>
              <a:gdLst/>
              <a:ahLst/>
              <a:cxnLst/>
              <a:rect r="r" b="b" t="t" l="l"/>
              <a:pathLst>
                <a:path h="402336" w="896112">
                  <a:moveTo>
                    <a:pt x="0" y="100584"/>
                  </a:moveTo>
                  <a:lnTo>
                    <a:pt x="694944" y="100584"/>
                  </a:lnTo>
                  <a:lnTo>
                    <a:pt x="694944" y="0"/>
                  </a:lnTo>
                  <a:lnTo>
                    <a:pt x="896112" y="201168"/>
                  </a:lnTo>
                  <a:lnTo>
                    <a:pt x="694944" y="402336"/>
                  </a:lnTo>
                  <a:lnTo>
                    <a:pt x="694944" y="301752"/>
                  </a:lnTo>
                  <a:lnTo>
                    <a:pt x="0" y="301752"/>
                  </a:lnTo>
                  <a:close/>
                </a:path>
              </a:pathLst>
            </a:custGeom>
            <a:solidFill>
              <a:srgbClr val="8DA3C4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1932920" y="3223260"/>
            <a:ext cx="4526280" cy="685800"/>
            <a:chOff x="0" y="0"/>
            <a:chExt cx="6035040" cy="9144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6035040" cy="914400"/>
            </a:xfrm>
            <a:custGeom>
              <a:avLst/>
              <a:gdLst/>
              <a:ahLst/>
              <a:cxnLst/>
              <a:rect r="r" b="b" t="t" l="l"/>
              <a:pathLst>
                <a:path h="914400" w="603504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5925312" y="0"/>
                  </a:lnTo>
                  <a:cubicBezTo>
                    <a:pt x="5985891" y="0"/>
                    <a:pt x="6035040" y="49149"/>
                    <a:pt x="6035040" y="109728"/>
                  </a:cubicBezTo>
                  <a:lnTo>
                    <a:pt x="6035040" y="804672"/>
                  </a:lnTo>
                  <a:cubicBezTo>
                    <a:pt x="6035040" y="865251"/>
                    <a:pt x="5985891" y="914400"/>
                    <a:pt x="5925312" y="914400"/>
                  </a:cubicBezTo>
                  <a:lnTo>
                    <a:pt x="109728" y="914400"/>
                  </a:lnTo>
                  <a:cubicBezTo>
                    <a:pt x="49149" y="914400"/>
                    <a:pt x="0" y="865251"/>
                    <a:pt x="0" y="804672"/>
                  </a:cubicBezTo>
                  <a:close/>
                </a:path>
              </a:pathLst>
            </a:custGeom>
            <a:solidFill>
              <a:srgbClr val="223A5E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11974068" y="3223260"/>
            <a:ext cx="4443984" cy="685800"/>
            <a:chOff x="0" y="0"/>
            <a:chExt cx="5925312" cy="9144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5925312" cy="914400"/>
            </a:xfrm>
            <a:custGeom>
              <a:avLst/>
              <a:gdLst/>
              <a:ahLst/>
              <a:cxnLst/>
              <a:rect r="r" b="b" t="t" l="l"/>
              <a:pathLst>
                <a:path h="914400" w="5925312">
                  <a:moveTo>
                    <a:pt x="0" y="0"/>
                  </a:moveTo>
                  <a:lnTo>
                    <a:pt x="5925312" y="0"/>
                  </a:lnTo>
                  <a:lnTo>
                    <a:pt x="5925312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6263" r="0" b="-76263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38100"/>
              <a:ext cx="5925312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09"/>
                </a:lnSpc>
              </a:pPr>
              <a:r>
                <a:rPr lang="en-US" sz="142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Compare with Registered</a:t>
              </a:r>
            </a:p>
            <a:p>
              <a:pPr algn="ctr">
                <a:lnSpc>
                  <a:spcPts val="1709"/>
                </a:lnSpc>
              </a:pPr>
              <a:r>
                <a:rPr lang="en-US" sz="142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Embeddings + Similarity Score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4175486" y="2811780"/>
            <a:ext cx="41148" cy="411480"/>
            <a:chOff x="0" y="0"/>
            <a:chExt cx="54864" cy="54864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54864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">
                  <a:moveTo>
                    <a:pt x="0" y="9144"/>
                  </a:moveTo>
                  <a:cubicBezTo>
                    <a:pt x="0" y="4064"/>
                    <a:pt x="4064" y="0"/>
                    <a:pt x="9144" y="0"/>
                  </a:cubicBezTo>
                  <a:lnTo>
                    <a:pt x="45720" y="0"/>
                  </a:lnTo>
                  <a:cubicBezTo>
                    <a:pt x="50800" y="0"/>
                    <a:pt x="54864" y="4064"/>
                    <a:pt x="54864" y="9144"/>
                  </a:cubicBezTo>
                  <a:lnTo>
                    <a:pt x="54864" y="539496"/>
                  </a:lnTo>
                  <a:cubicBezTo>
                    <a:pt x="54864" y="544576"/>
                    <a:pt x="50800" y="548640"/>
                    <a:pt x="45720" y="548640"/>
                  </a:cubicBezTo>
                  <a:lnTo>
                    <a:pt x="9144" y="548640"/>
                  </a:lnTo>
                  <a:cubicBezTo>
                    <a:pt x="4064" y="548640"/>
                    <a:pt x="0" y="544576"/>
                    <a:pt x="0" y="539496"/>
                  </a:cubicBezTo>
                  <a:close/>
                </a:path>
              </a:pathLst>
            </a:custGeom>
            <a:solidFill>
              <a:srgbClr val="8DA3C4"/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9114282" y="3909060"/>
            <a:ext cx="41148" cy="480060"/>
            <a:chOff x="0" y="0"/>
            <a:chExt cx="54864" cy="64008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54864" cy="640080"/>
            </a:xfrm>
            <a:custGeom>
              <a:avLst/>
              <a:gdLst/>
              <a:ahLst/>
              <a:cxnLst/>
              <a:rect r="r" b="b" t="t" l="l"/>
              <a:pathLst>
                <a:path h="640080" w="54864">
                  <a:moveTo>
                    <a:pt x="0" y="9144"/>
                  </a:moveTo>
                  <a:cubicBezTo>
                    <a:pt x="0" y="4064"/>
                    <a:pt x="4064" y="0"/>
                    <a:pt x="9144" y="0"/>
                  </a:cubicBezTo>
                  <a:lnTo>
                    <a:pt x="45720" y="0"/>
                  </a:lnTo>
                  <a:cubicBezTo>
                    <a:pt x="50800" y="0"/>
                    <a:pt x="54864" y="4064"/>
                    <a:pt x="54864" y="9144"/>
                  </a:cubicBezTo>
                  <a:lnTo>
                    <a:pt x="54864" y="630936"/>
                  </a:lnTo>
                  <a:cubicBezTo>
                    <a:pt x="54864" y="636016"/>
                    <a:pt x="50800" y="640080"/>
                    <a:pt x="45720" y="640080"/>
                  </a:cubicBezTo>
                  <a:lnTo>
                    <a:pt x="9144" y="640080"/>
                  </a:lnTo>
                  <a:cubicBezTo>
                    <a:pt x="4064" y="640080"/>
                    <a:pt x="0" y="636016"/>
                    <a:pt x="0" y="630936"/>
                  </a:cubicBezTo>
                  <a:close/>
                </a:path>
              </a:pathLst>
            </a:custGeom>
            <a:solidFill>
              <a:srgbClr val="8DA3C4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7557516" y="4389120"/>
            <a:ext cx="3154680" cy="850392"/>
            <a:chOff x="0" y="0"/>
            <a:chExt cx="4206240" cy="1133856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4206240" cy="1133856"/>
            </a:xfrm>
            <a:custGeom>
              <a:avLst/>
              <a:gdLst/>
              <a:ahLst/>
              <a:cxnLst/>
              <a:rect r="r" b="b" t="t" l="l"/>
              <a:pathLst>
                <a:path h="1133856" w="4206240">
                  <a:moveTo>
                    <a:pt x="0" y="566928"/>
                  </a:moveTo>
                  <a:lnTo>
                    <a:pt x="2103120" y="0"/>
                  </a:lnTo>
                  <a:lnTo>
                    <a:pt x="4206240" y="566928"/>
                  </a:lnTo>
                  <a:lnTo>
                    <a:pt x="2103120" y="1133856"/>
                  </a:lnTo>
                  <a:close/>
                </a:path>
              </a:pathLst>
            </a:custGeom>
            <a:solidFill>
              <a:srgbClr val="0B1E3D"/>
            </a:solid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7557516" y="4389120"/>
            <a:ext cx="3154680" cy="850392"/>
            <a:chOff x="0" y="0"/>
            <a:chExt cx="4206240" cy="1133856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4206240" cy="1133856"/>
            </a:xfrm>
            <a:custGeom>
              <a:avLst/>
              <a:gdLst/>
              <a:ahLst/>
              <a:cxnLst/>
              <a:rect r="r" b="b" t="t" l="l"/>
              <a:pathLst>
                <a:path h="1133856" w="4206240">
                  <a:moveTo>
                    <a:pt x="0" y="0"/>
                  </a:moveTo>
                  <a:lnTo>
                    <a:pt x="4206240" y="0"/>
                  </a:lnTo>
                  <a:lnTo>
                    <a:pt x="420624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283" r="0" b="-22283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28575"/>
              <a:ext cx="4206240" cy="11624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Face</a:t>
              </a:r>
            </a:p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Recognized?</a:t>
              </a:r>
            </a:p>
          </p:txBody>
        </p:sp>
      </p:grpSp>
      <p:sp>
        <p:nvSpPr>
          <p:cNvPr name="AutoShape 55" id="55"/>
          <p:cNvSpPr/>
          <p:nvPr/>
        </p:nvSpPr>
        <p:spPr>
          <a:xfrm rot="377760">
            <a:off x="10476928" y="5401437"/>
            <a:ext cx="3474339" cy="0"/>
          </a:xfrm>
          <a:prstGeom prst="line">
            <a:avLst/>
          </a:prstGeom>
          <a:ln cap="rnd" w="19050">
            <a:solidFill>
              <a:srgbClr val="EF4444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6" id="56"/>
          <p:cNvGrpSpPr/>
          <p:nvPr/>
        </p:nvGrpSpPr>
        <p:grpSpPr>
          <a:xfrm rot="0">
            <a:off x="2743200" y="5143500"/>
            <a:ext cx="3154680" cy="411480"/>
            <a:chOff x="0" y="0"/>
            <a:chExt cx="4206240" cy="54864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4206240" cy="548640"/>
            </a:xfrm>
            <a:custGeom>
              <a:avLst/>
              <a:gdLst/>
              <a:ahLst/>
              <a:cxnLst/>
              <a:rect r="r" b="b" t="t" l="l"/>
              <a:pathLst>
                <a:path h="548640" w="4206240">
                  <a:moveTo>
                    <a:pt x="0" y="0"/>
                  </a:moveTo>
                  <a:lnTo>
                    <a:pt x="4206240" y="0"/>
                  </a:lnTo>
                  <a:lnTo>
                    <a:pt x="42062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9385" r="0" b="-99385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38100"/>
              <a:ext cx="420624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22C55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YES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2344400" y="5143500"/>
            <a:ext cx="3154680" cy="411480"/>
            <a:chOff x="0" y="0"/>
            <a:chExt cx="4206240" cy="54864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4206240" cy="548640"/>
            </a:xfrm>
            <a:custGeom>
              <a:avLst/>
              <a:gdLst/>
              <a:ahLst/>
              <a:cxnLst/>
              <a:rect r="r" b="b" t="t" l="l"/>
              <a:pathLst>
                <a:path h="548640" w="4206240">
                  <a:moveTo>
                    <a:pt x="0" y="0"/>
                  </a:moveTo>
                  <a:lnTo>
                    <a:pt x="4206240" y="0"/>
                  </a:lnTo>
                  <a:lnTo>
                    <a:pt x="42062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9385" r="0" b="-99385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38100"/>
              <a:ext cx="420624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EF444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NO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2743200" y="5582412"/>
            <a:ext cx="3154680" cy="685800"/>
            <a:chOff x="0" y="0"/>
            <a:chExt cx="4206240" cy="91440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4206240" cy="914400"/>
            </a:xfrm>
            <a:custGeom>
              <a:avLst/>
              <a:gdLst/>
              <a:ahLst/>
              <a:cxnLst/>
              <a:rect r="r" b="b" t="t" l="l"/>
              <a:pathLst>
                <a:path h="914400" w="420624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4096512" y="0"/>
                  </a:lnTo>
                  <a:cubicBezTo>
                    <a:pt x="4157091" y="0"/>
                    <a:pt x="4206240" y="49149"/>
                    <a:pt x="4206240" y="109728"/>
                  </a:cubicBezTo>
                  <a:lnTo>
                    <a:pt x="4206240" y="804672"/>
                  </a:lnTo>
                  <a:cubicBezTo>
                    <a:pt x="4206240" y="865251"/>
                    <a:pt x="4157091" y="914400"/>
                    <a:pt x="4096512" y="914400"/>
                  </a:cubicBezTo>
                  <a:lnTo>
                    <a:pt x="109728" y="914400"/>
                  </a:lnTo>
                  <a:cubicBezTo>
                    <a:pt x="49149" y="914400"/>
                    <a:pt x="0" y="865251"/>
                    <a:pt x="0" y="804672"/>
                  </a:cubicBezTo>
                  <a:close/>
                </a:path>
              </a:pathLst>
            </a:custGeom>
            <a:solidFill>
              <a:srgbClr val="1D5B3A"/>
            </a:solid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2784348" y="5582412"/>
            <a:ext cx="3072384" cy="685800"/>
            <a:chOff x="0" y="0"/>
            <a:chExt cx="4096512" cy="91440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4096512" cy="914400"/>
            </a:xfrm>
            <a:custGeom>
              <a:avLst/>
              <a:gdLst/>
              <a:ahLst/>
              <a:cxnLst/>
              <a:rect r="r" b="b" t="t" l="l"/>
              <a:pathLst>
                <a:path h="914400" w="4096512">
                  <a:moveTo>
                    <a:pt x="0" y="0"/>
                  </a:moveTo>
                  <a:lnTo>
                    <a:pt x="4096512" y="0"/>
                  </a:lnTo>
                  <a:lnTo>
                    <a:pt x="4096512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292" r="0" b="-37292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38100"/>
              <a:ext cx="4096512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09"/>
                </a:lnSpc>
              </a:pPr>
              <a:r>
                <a:rPr lang="en-US" sz="142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Identify Student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4197096" y="6281928"/>
            <a:ext cx="301752" cy="150876"/>
            <a:chOff x="0" y="0"/>
            <a:chExt cx="402336" cy="201168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402336" cy="201168"/>
            </a:xfrm>
            <a:custGeom>
              <a:avLst/>
              <a:gdLst/>
              <a:ahLst/>
              <a:cxnLst/>
              <a:rect r="r" b="b" t="t" l="l"/>
              <a:pathLst>
                <a:path h="201168" w="402336">
                  <a:moveTo>
                    <a:pt x="0" y="100584"/>
                  </a:moveTo>
                  <a:lnTo>
                    <a:pt x="100584" y="100584"/>
                  </a:lnTo>
                  <a:lnTo>
                    <a:pt x="100584" y="0"/>
                  </a:lnTo>
                  <a:lnTo>
                    <a:pt x="301752" y="0"/>
                  </a:lnTo>
                  <a:lnTo>
                    <a:pt x="301752" y="100584"/>
                  </a:lnTo>
                  <a:lnTo>
                    <a:pt x="402336" y="100584"/>
                  </a:lnTo>
                  <a:lnTo>
                    <a:pt x="201168" y="201168"/>
                  </a:lnTo>
                  <a:close/>
                </a:path>
              </a:pathLst>
            </a:custGeom>
            <a:solidFill>
              <a:srgbClr val="22C55E"/>
            </a:solidFill>
          </p:spPr>
        </p:sp>
      </p:grpSp>
      <p:grpSp>
        <p:nvGrpSpPr>
          <p:cNvPr name="Group 69" id="69"/>
          <p:cNvGrpSpPr/>
          <p:nvPr/>
        </p:nvGrpSpPr>
        <p:grpSpPr>
          <a:xfrm rot="0">
            <a:off x="2743200" y="6446520"/>
            <a:ext cx="3154680" cy="685800"/>
            <a:chOff x="0" y="0"/>
            <a:chExt cx="4206240" cy="91440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4206240" cy="914400"/>
            </a:xfrm>
            <a:custGeom>
              <a:avLst/>
              <a:gdLst/>
              <a:ahLst/>
              <a:cxnLst/>
              <a:rect r="r" b="b" t="t" l="l"/>
              <a:pathLst>
                <a:path h="914400" w="420624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4096512" y="0"/>
                  </a:lnTo>
                  <a:cubicBezTo>
                    <a:pt x="4157091" y="0"/>
                    <a:pt x="4206240" y="49149"/>
                    <a:pt x="4206240" y="109728"/>
                  </a:cubicBezTo>
                  <a:lnTo>
                    <a:pt x="4206240" y="804672"/>
                  </a:lnTo>
                  <a:cubicBezTo>
                    <a:pt x="4206240" y="865251"/>
                    <a:pt x="4157091" y="914400"/>
                    <a:pt x="4096512" y="914400"/>
                  </a:cubicBezTo>
                  <a:lnTo>
                    <a:pt x="109728" y="914400"/>
                  </a:lnTo>
                  <a:cubicBezTo>
                    <a:pt x="49149" y="914400"/>
                    <a:pt x="0" y="865251"/>
                    <a:pt x="0" y="804672"/>
                  </a:cubicBezTo>
                  <a:close/>
                </a:path>
              </a:pathLst>
            </a:custGeom>
            <a:solidFill>
              <a:srgbClr val="1D5B3A"/>
            </a:solid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2784348" y="6446520"/>
            <a:ext cx="3072384" cy="685800"/>
            <a:chOff x="0" y="0"/>
            <a:chExt cx="4096512" cy="91440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4096512" cy="914400"/>
            </a:xfrm>
            <a:custGeom>
              <a:avLst/>
              <a:gdLst/>
              <a:ahLst/>
              <a:cxnLst/>
              <a:rect r="r" b="b" t="t" l="l"/>
              <a:pathLst>
                <a:path h="914400" w="4096512">
                  <a:moveTo>
                    <a:pt x="0" y="0"/>
                  </a:moveTo>
                  <a:lnTo>
                    <a:pt x="4096512" y="0"/>
                  </a:lnTo>
                  <a:lnTo>
                    <a:pt x="4096512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292" r="0" b="-37292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38100"/>
              <a:ext cx="4096512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09"/>
                </a:lnSpc>
              </a:pPr>
              <a:r>
                <a:rPr lang="en-US" sz="142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Check Today's Attendance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4197096" y="7146036"/>
            <a:ext cx="301752" cy="150876"/>
            <a:chOff x="0" y="0"/>
            <a:chExt cx="402336" cy="201168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402336" cy="201168"/>
            </a:xfrm>
            <a:custGeom>
              <a:avLst/>
              <a:gdLst/>
              <a:ahLst/>
              <a:cxnLst/>
              <a:rect r="r" b="b" t="t" l="l"/>
              <a:pathLst>
                <a:path h="201168" w="402336">
                  <a:moveTo>
                    <a:pt x="0" y="100584"/>
                  </a:moveTo>
                  <a:lnTo>
                    <a:pt x="100584" y="100584"/>
                  </a:lnTo>
                  <a:lnTo>
                    <a:pt x="100584" y="0"/>
                  </a:lnTo>
                  <a:lnTo>
                    <a:pt x="301752" y="0"/>
                  </a:lnTo>
                  <a:lnTo>
                    <a:pt x="301752" y="100584"/>
                  </a:lnTo>
                  <a:lnTo>
                    <a:pt x="402336" y="100584"/>
                  </a:lnTo>
                  <a:lnTo>
                    <a:pt x="201168" y="201168"/>
                  </a:lnTo>
                  <a:close/>
                </a:path>
              </a:pathLst>
            </a:custGeom>
            <a:solidFill>
              <a:srgbClr val="22C55E"/>
            </a:solidFill>
          </p:spPr>
        </p:sp>
      </p:grpSp>
      <p:grpSp>
        <p:nvGrpSpPr>
          <p:cNvPr name="Group 76" id="76"/>
          <p:cNvGrpSpPr/>
          <p:nvPr/>
        </p:nvGrpSpPr>
        <p:grpSpPr>
          <a:xfrm rot="0">
            <a:off x="2743200" y="7310628"/>
            <a:ext cx="3154680" cy="685800"/>
            <a:chOff x="0" y="0"/>
            <a:chExt cx="4206240" cy="91440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4206240" cy="914400"/>
            </a:xfrm>
            <a:custGeom>
              <a:avLst/>
              <a:gdLst/>
              <a:ahLst/>
              <a:cxnLst/>
              <a:rect r="r" b="b" t="t" l="l"/>
              <a:pathLst>
                <a:path h="914400" w="420624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4096512" y="0"/>
                  </a:lnTo>
                  <a:cubicBezTo>
                    <a:pt x="4157091" y="0"/>
                    <a:pt x="4206240" y="49149"/>
                    <a:pt x="4206240" y="109728"/>
                  </a:cubicBezTo>
                  <a:lnTo>
                    <a:pt x="4206240" y="804672"/>
                  </a:lnTo>
                  <a:cubicBezTo>
                    <a:pt x="4206240" y="865251"/>
                    <a:pt x="4157091" y="914400"/>
                    <a:pt x="4096512" y="914400"/>
                  </a:cubicBezTo>
                  <a:lnTo>
                    <a:pt x="109728" y="914400"/>
                  </a:lnTo>
                  <a:cubicBezTo>
                    <a:pt x="49149" y="914400"/>
                    <a:pt x="0" y="865251"/>
                    <a:pt x="0" y="804672"/>
                  </a:cubicBezTo>
                  <a:close/>
                </a:path>
              </a:pathLst>
            </a:custGeom>
            <a:solidFill>
              <a:srgbClr val="1D5B3A"/>
            </a:solidFill>
          </p:spPr>
        </p:sp>
      </p:grpSp>
      <p:grpSp>
        <p:nvGrpSpPr>
          <p:cNvPr name="Group 78" id="78"/>
          <p:cNvGrpSpPr/>
          <p:nvPr/>
        </p:nvGrpSpPr>
        <p:grpSpPr>
          <a:xfrm rot="0">
            <a:off x="2784348" y="7310628"/>
            <a:ext cx="3072384" cy="685800"/>
            <a:chOff x="0" y="0"/>
            <a:chExt cx="4096512" cy="91440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4096512" cy="914400"/>
            </a:xfrm>
            <a:custGeom>
              <a:avLst/>
              <a:gdLst/>
              <a:ahLst/>
              <a:cxnLst/>
              <a:rect r="r" b="b" t="t" l="l"/>
              <a:pathLst>
                <a:path h="914400" w="4096512">
                  <a:moveTo>
                    <a:pt x="0" y="0"/>
                  </a:moveTo>
                  <a:lnTo>
                    <a:pt x="4096512" y="0"/>
                  </a:lnTo>
                  <a:lnTo>
                    <a:pt x="4096512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292" r="0" b="-37292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-38100"/>
              <a:ext cx="4096512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09"/>
                </a:lnSpc>
              </a:pPr>
              <a:r>
                <a:rPr lang="en-US" sz="142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Record Attendance</a:t>
              </a:r>
            </a:p>
            <a:p>
              <a:pPr algn="ctr">
                <a:lnSpc>
                  <a:spcPts val="1709"/>
                </a:lnSpc>
              </a:pPr>
              <a:r>
                <a:rPr lang="en-US" sz="142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(Date, Time, Confidence)</a:t>
              </a: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4197096" y="8010144"/>
            <a:ext cx="301752" cy="150876"/>
            <a:chOff x="0" y="0"/>
            <a:chExt cx="402336" cy="201168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402336" cy="201168"/>
            </a:xfrm>
            <a:custGeom>
              <a:avLst/>
              <a:gdLst/>
              <a:ahLst/>
              <a:cxnLst/>
              <a:rect r="r" b="b" t="t" l="l"/>
              <a:pathLst>
                <a:path h="201168" w="402336">
                  <a:moveTo>
                    <a:pt x="0" y="100584"/>
                  </a:moveTo>
                  <a:lnTo>
                    <a:pt x="100584" y="100584"/>
                  </a:lnTo>
                  <a:lnTo>
                    <a:pt x="100584" y="0"/>
                  </a:lnTo>
                  <a:lnTo>
                    <a:pt x="301752" y="0"/>
                  </a:lnTo>
                  <a:lnTo>
                    <a:pt x="301752" y="100584"/>
                  </a:lnTo>
                  <a:lnTo>
                    <a:pt x="402336" y="100584"/>
                  </a:lnTo>
                  <a:lnTo>
                    <a:pt x="201168" y="201168"/>
                  </a:lnTo>
                  <a:close/>
                </a:path>
              </a:pathLst>
            </a:custGeom>
            <a:solidFill>
              <a:srgbClr val="22C55E"/>
            </a:solidFill>
          </p:spPr>
        </p:sp>
      </p:grpSp>
      <p:grpSp>
        <p:nvGrpSpPr>
          <p:cNvPr name="Group 83" id="83"/>
          <p:cNvGrpSpPr/>
          <p:nvPr/>
        </p:nvGrpSpPr>
        <p:grpSpPr>
          <a:xfrm rot="0">
            <a:off x="2743200" y="8174736"/>
            <a:ext cx="3154680" cy="685800"/>
            <a:chOff x="0" y="0"/>
            <a:chExt cx="4206240" cy="91440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4206240" cy="914400"/>
            </a:xfrm>
            <a:custGeom>
              <a:avLst/>
              <a:gdLst/>
              <a:ahLst/>
              <a:cxnLst/>
              <a:rect r="r" b="b" t="t" l="l"/>
              <a:pathLst>
                <a:path h="914400" w="420624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4096512" y="0"/>
                  </a:lnTo>
                  <a:cubicBezTo>
                    <a:pt x="4157091" y="0"/>
                    <a:pt x="4206240" y="49149"/>
                    <a:pt x="4206240" y="109728"/>
                  </a:cubicBezTo>
                  <a:lnTo>
                    <a:pt x="4206240" y="804672"/>
                  </a:lnTo>
                  <a:cubicBezTo>
                    <a:pt x="4206240" y="865251"/>
                    <a:pt x="4157091" y="914400"/>
                    <a:pt x="4096512" y="914400"/>
                  </a:cubicBezTo>
                  <a:lnTo>
                    <a:pt x="109728" y="914400"/>
                  </a:lnTo>
                  <a:cubicBezTo>
                    <a:pt x="49149" y="914400"/>
                    <a:pt x="0" y="865251"/>
                    <a:pt x="0" y="804672"/>
                  </a:cubicBezTo>
                  <a:close/>
                </a:path>
              </a:pathLst>
            </a:custGeom>
            <a:solidFill>
              <a:srgbClr val="1D5B3A"/>
            </a:solidFill>
          </p:spPr>
        </p:sp>
      </p:grpSp>
      <p:grpSp>
        <p:nvGrpSpPr>
          <p:cNvPr name="Group 85" id="85"/>
          <p:cNvGrpSpPr/>
          <p:nvPr/>
        </p:nvGrpSpPr>
        <p:grpSpPr>
          <a:xfrm rot="0">
            <a:off x="2784348" y="8174736"/>
            <a:ext cx="3072384" cy="685800"/>
            <a:chOff x="0" y="0"/>
            <a:chExt cx="4096512" cy="91440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4096512" cy="914400"/>
            </a:xfrm>
            <a:custGeom>
              <a:avLst/>
              <a:gdLst/>
              <a:ahLst/>
              <a:cxnLst/>
              <a:rect r="r" b="b" t="t" l="l"/>
              <a:pathLst>
                <a:path h="914400" w="4096512">
                  <a:moveTo>
                    <a:pt x="0" y="0"/>
                  </a:moveTo>
                  <a:lnTo>
                    <a:pt x="4096512" y="0"/>
                  </a:lnTo>
                  <a:lnTo>
                    <a:pt x="4096512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292" r="0" b="-37292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-38100"/>
              <a:ext cx="4096512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09"/>
                </a:lnSpc>
              </a:pPr>
              <a:r>
                <a:rPr lang="en-US" sz="142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Send IoT Authorization Command</a:t>
              </a: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4197096" y="8874252"/>
            <a:ext cx="301752" cy="150876"/>
            <a:chOff x="0" y="0"/>
            <a:chExt cx="402336" cy="201168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402336" cy="201168"/>
            </a:xfrm>
            <a:custGeom>
              <a:avLst/>
              <a:gdLst/>
              <a:ahLst/>
              <a:cxnLst/>
              <a:rect r="r" b="b" t="t" l="l"/>
              <a:pathLst>
                <a:path h="201168" w="402336">
                  <a:moveTo>
                    <a:pt x="0" y="100584"/>
                  </a:moveTo>
                  <a:lnTo>
                    <a:pt x="100584" y="100584"/>
                  </a:lnTo>
                  <a:lnTo>
                    <a:pt x="100584" y="0"/>
                  </a:lnTo>
                  <a:lnTo>
                    <a:pt x="301752" y="0"/>
                  </a:lnTo>
                  <a:lnTo>
                    <a:pt x="301752" y="100584"/>
                  </a:lnTo>
                  <a:lnTo>
                    <a:pt x="402336" y="100584"/>
                  </a:lnTo>
                  <a:lnTo>
                    <a:pt x="201168" y="201168"/>
                  </a:lnTo>
                  <a:close/>
                </a:path>
              </a:pathLst>
            </a:custGeom>
            <a:solidFill>
              <a:srgbClr val="22C55E"/>
            </a:solidFill>
          </p:spPr>
        </p:sp>
      </p:grpSp>
      <p:grpSp>
        <p:nvGrpSpPr>
          <p:cNvPr name="Group 90" id="90"/>
          <p:cNvGrpSpPr/>
          <p:nvPr/>
        </p:nvGrpSpPr>
        <p:grpSpPr>
          <a:xfrm rot="0">
            <a:off x="2743200" y="9038844"/>
            <a:ext cx="3154680" cy="685800"/>
            <a:chOff x="0" y="0"/>
            <a:chExt cx="4206240" cy="914400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4206240" cy="914400"/>
            </a:xfrm>
            <a:custGeom>
              <a:avLst/>
              <a:gdLst/>
              <a:ahLst/>
              <a:cxnLst/>
              <a:rect r="r" b="b" t="t" l="l"/>
              <a:pathLst>
                <a:path h="914400" w="420624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4096512" y="0"/>
                  </a:lnTo>
                  <a:cubicBezTo>
                    <a:pt x="4157091" y="0"/>
                    <a:pt x="4206240" y="49149"/>
                    <a:pt x="4206240" y="109728"/>
                  </a:cubicBezTo>
                  <a:lnTo>
                    <a:pt x="4206240" y="804672"/>
                  </a:lnTo>
                  <a:cubicBezTo>
                    <a:pt x="4206240" y="865251"/>
                    <a:pt x="4157091" y="914400"/>
                    <a:pt x="4096512" y="914400"/>
                  </a:cubicBezTo>
                  <a:lnTo>
                    <a:pt x="109728" y="914400"/>
                  </a:lnTo>
                  <a:cubicBezTo>
                    <a:pt x="49149" y="914400"/>
                    <a:pt x="0" y="865251"/>
                    <a:pt x="0" y="804672"/>
                  </a:cubicBezTo>
                  <a:close/>
                </a:path>
              </a:pathLst>
            </a:custGeom>
            <a:solidFill>
              <a:srgbClr val="22C55E"/>
            </a:solidFill>
          </p:spPr>
        </p:sp>
      </p:grpSp>
      <p:grpSp>
        <p:nvGrpSpPr>
          <p:cNvPr name="Group 92" id="92"/>
          <p:cNvGrpSpPr/>
          <p:nvPr/>
        </p:nvGrpSpPr>
        <p:grpSpPr>
          <a:xfrm rot="0">
            <a:off x="2784348" y="9038844"/>
            <a:ext cx="3072384" cy="685800"/>
            <a:chOff x="0" y="0"/>
            <a:chExt cx="4096512" cy="914400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4096512" cy="914400"/>
            </a:xfrm>
            <a:custGeom>
              <a:avLst/>
              <a:gdLst/>
              <a:ahLst/>
              <a:cxnLst/>
              <a:rect r="r" b="b" t="t" l="l"/>
              <a:pathLst>
                <a:path h="914400" w="4096512">
                  <a:moveTo>
                    <a:pt x="0" y="0"/>
                  </a:moveTo>
                  <a:lnTo>
                    <a:pt x="4096512" y="0"/>
                  </a:lnTo>
                  <a:lnTo>
                    <a:pt x="4096512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292" r="0" b="-37292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38100"/>
              <a:ext cx="4096512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09"/>
                </a:lnSpc>
              </a:pPr>
              <a:r>
                <a:rPr lang="en-US" sz="1425" b="true">
                  <a:solidFill>
                    <a:srgbClr val="0B1E3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SiWG917 RGB LED → GREEN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12344400" y="5582412"/>
            <a:ext cx="3154680" cy="685800"/>
            <a:chOff x="0" y="0"/>
            <a:chExt cx="4206240" cy="914400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4206240" cy="914400"/>
            </a:xfrm>
            <a:custGeom>
              <a:avLst/>
              <a:gdLst/>
              <a:ahLst/>
              <a:cxnLst/>
              <a:rect r="r" b="b" t="t" l="l"/>
              <a:pathLst>
                <a:path h="914400" w="420624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4096512" y="0"/>
                  </a:lnTo>
                  <a:cubicBezTo>
                    <a:pt x="4157091" y="0"/>
                    <a:pt x="4206240" y="49149"/>
                    <a:pt x="4206240" y="109728"/>
                  </a:cubicBezTo>
                  <a:lnTo>
                    <a:pt x="4206240" y="804672"/>
                  </a:lnTo>
                  <a:cubicBezTo>
                    <a:pt x="4206240" y="865251"/>
                    <a:pt x="4157091" y="914400"/>
                    <a:pt x="4096512" y="914400"/>
                  </a:cubicBezTo>
                  <a:lnTo>
                    <a:pt x="109728" y="914400"/>
                  </a:lnTo>
                  <a:cubicBezTo>
                    <a:pt x="49149" y="914400"/>
                    <a:pt x="0" y="865251"/>
                    <a:pt x="0" y="804672"/>
                  </a:cubicBezTo>
                  <a:close/>
                </a:path>
              </a:pathLst>
            </a:custGeom>
            <a:solidFill>
              <a:srgbClr val="6E1F1F"/>
            </a:solidFill>
          </p:spPr>
        </p:sp>
      </p:grpSp>
      <p:grpSp>
        <p:nvGrpSpPr>
          <p:cNvPr name="Group 97" id="97"/>
          <p:cNvGrpSpPr/>
          <p:nvPr/>
        </p:nvGrpSpPr>
        <p:grpSpPr>
          <a:xfrm rot="0">
            <a:off x="12385548" y="5582412"/>
            <a:ext cx="3072384" cy="685800"/>
            <a:chOff x="0" y="0"/>
            <a:chExt cx="4096512" cy="914400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4096512" cy="914400"/>
            </a:xfrm>
            <a:custGeom>
              <a:avLst/>
              <a:gdLst/>
              <a:ahLst/>
              <a:cxnLst/>
              <a:rect r="r" b="b" t="t" l="l"/>
              <a:pathLst>
                <a:path h="914400" w="4096512">
                  <a:moveTo>
                    <a:pt x="0" y="0"/>
                  </a:moveTo>
                  <a:lnTo>
                    <a:pt x="4096512" y="0"/>
                  </a:lnTo>
                  <a:lnTo>
                    <a:pt x="4096512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292" r="0" b="-37292"/>
              </a:stretch>
            </a:blipFill>
          </p:spPr>
        </p:sp>
        <p:sp>
          <p:nvSpPr>
            <p:cNvPr name="TextBox 99" id="99"/>
            <p:cNvSpPr txBox="true"/>
            <p:nvPr/>
          </p:nvSpPr>
          <p:spPr>
            <a:xfrm>
              <a:off x="0" y="-38100"/>
              <a:ext cx="4096512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09"/>
                </a:lnSpc>
              </a:pPr>
              <a:r>
                <a:rPr lang="en-US" sz="142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Unknown Face</a:t>
              </a:r>
            </a:p>
          </p:txBody>
        </p:sp>
      </p:grpSp>
      <p:grpSp>
        <p:nvGrpSpPr>
          <p:cNvPr name="Group 100" id="100"/>
          <p:cNvGrpSpPr/>
          <p:nvPr/>
        </p:nvGrpSpPr>
        <p:grpSpPr>
          <a:xfrm rot="0">
            <a:off x="13798296" y="6281928"/>
            <a:ext cx="301752" cy="150876"/>
            <a:chOff x="0" y="0"/>
            <a:chExt cx="402336" cy="201168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402336" cy="201168"/>
            </a:xfrm>
            <a:custGeom>
              <a:avLst/>
              <a:gdLst/>
              <a:ahLst/>
              <a:cxnLst/>
              <a:rect r="r" b="b" t="t" l="l"/>
              <a:pathLst>
                <a:path h="201168" w="402336">
                  <a:moveTo>
                    <a:pt x="0" y="100584"/>
                  </a:moveTo>
                  <a:lnTo>
                    <a:pt x="100584" y="100584"/>
                  </a:lnTo>
                  <a:lnTo>
                    <a:pt x="100584" y="0"/>
                  </a:lnTo>
                  <a:lnTo>
                    <a:pt x="301752" y="0"/>
                  </a:lnTo>
                  <a:lnTo>
                    <a:pt x="301752" y="100584"/>
                  </a:lnTo>
                  <a:lnTo>
                    <a:pt x="402336" y="100584"/>
                  </a:lnTo>
                  <a:lnTo>
                    <a:pt x="201168" y="201168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02" id="102"/>
          <p:cNvGrpSpPr/>
          <p:nvPr/>
        </p:nvGrpSpPr>
        <p:grpSpPr>
          <a:xfrm rot="0">
            <a:off x="12344400" y="6446520"/>
            <a:ext cx="3154680" cy="685800"/>
            <a:chOff x="0" y="0"/>
            <a:chExt cx="4206240" cy="914400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4206240" cy="914400"/>
            </a:xfrm>
            <a:custGeom>
              <a:avLst/>
              <a:gdLst/>
              <a:ahLst/>
              <a:cxnLst/>
              <a:rect r="r" b="b" t="t" l="l"/>
              <a:pathLst>
                <a:path h="914400" w="420624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4096512" y="0"/>
                  </a:lnTo>
                  <a:cubicBezTo>
                    <a:pt x="4157091" y="0"/>
                    <a:pt x="4206240" y="49149"/>
                    <a:pt x="4206240" y="109728"/>
                  </a:cubicBezTo>
                  <a:lnTo>
                    <a:pt x="4206240" y="804672"/>
                  </a:lnTo>
                  <a:cubicBezTo>
                    <a:pt x="4206240" y="865251"/>
                    <a:pt x="4157091" y="914400"/>
                    <a:pt x="4096512" y="914400"/>
                  </a:cubicBezTo>
                  <a:lnTo>
                    <a:pt x="109728" y="914400"/>
                  </a:lnTo>
                  <a:cubicBezTo>
                    <a:pt x="49149" y="914400"/>
                    <a:pt x="0" y="865251"/>
                    <a:pt x="0" y="804672"/>
                  </a:cubicBezTo>
                  <a:close/>
                </a:path>
              </a:pathLst>
            </a:custGeom>
            <a:solidFill>
              <a:srgbClr val="6E1F1F"/>
            </a:solidFill>
          </p:spPr>
        </p:sp>
      </p:grpSp>
      <p:grpSp>
        <p:nvGrpSpPr>
          <p:cNvPr name="Group 104" id="104"/>
          <p:cNvGrpSpPr/>
          <p:nvPr/>
        </p:nvGrpSpPr>
        <p:grpSpPr>
          <a:xfrm rot="0">
            <a:off x="12385548" y="6446520"/>
            <a:ext cx="3072384" cy="685800"/>
            <a:chOff x="0" y="0"/>
            <a:chExt cx="4096512" cy="914400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4096512" cy="914400"/>
            </a:xfrm>
            <a:custGeom>
              <a:avLst/>
              <a:gdLst/>
              <a:ahLst/>
              <a:cxnLst/>
              <a:rect r="r" b="b" t="t" l="l"/>
              <a:pathLst>
                <a:path h="914400" w="4096512">
                  <a:moveTo>
                    <a:pt x="0" y="0"/>
                  </a:moveTo>
                  <a:lnTo>
                    <a:pt x="4096512" y="0"/>
                  </a:lnTo>
                  <a:lnTo>
                    <a:pt x="4096512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292" r="0" b="-37292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38100"/>
              <a:ext cx="4096512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09"/>
                </a:lnSpc>
              </a:pPr>
              <a:r>
                <a:rPr lang="en-US" sz="142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Attendance Not Recorded</a:t>
              </a: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13798296" y="7146036"/>
            <a:ext cx="301752" cy="150876"/>
            <a:chOff x="0" y="0"/>
            <a:chExt cx="402336" cy="201168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402336" cy="201168"/>
            </a:xfrm>
            <a:custGeom>
              <a:avLst/>
              <a:gdLst/>
              <a:ahLst/>
              <a:cxnLst/>
              <a:rect r="r" b="b" t="t" l="l"/>
              <a:pathLst>
                <a:path h="201168" w="402336">
                  <a:moveTo>
                    <a:pt x="0" y="100584"/>
                  </a:moveTo>
                  <a:lnTo>
                    <a:pt x="100584" y="100584"/>
                  </a:lnTo>
                  <a:lnTo>
                    <a:pt x="100584" y="0"/>
                  </a:lnTo>
                  <a:lnTo>
                    <a:pt x="301752" y="0"/>
                  </a:lnTo>
                  <a:lnTo>
                    <a:pt x="301752" y="100584"/>
                  </a:lnTo>
                  <a:lnTo>
                    <a:pt x="402336" y="100584"/>
                  </a:lnTo>
                  <a:lnTo>
                    <a:pt x="201168" y="201168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09" id="109"/>
          <p:cNvGrpSpPr/>
          <p:nvPr/>
        </p:nvGrpSpPr>
        <p:grpSpPr>
          <a:xfrm rot="0">
            <a:off x="12344400" y="7310628"/>
            <a:ext cx="3154680" cy="685800"/>
            <a:chOff x="0" y="0"/>
            <a:chExt cx="4206240" cy="914400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4206240" cy="914400"/>
            </a:xfrm>
            <a:custGeom>
              <a:avLst/>
              <a:gdLst/>
              <a:ahLst/>
              <a:cxnLst/>
              <a:rect r="r" b="b" t="t" l="l"/>
              <a:pathLst>
                <a:path h="914400" w="420624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4096512" y="0"/>
                  </a:lnTo>
                  <a:cubicBezTo>
                    <a:pt x="4157091" y="0"/>
                    <a:pt x="4206240" y="49149"/>
                    <a:pt x="4206240" y="109728"/>
                  </a:cubicBezTo>
                  <a:lnTo>
                    <a:pt x="4206240" y="804672"/>
                  </a:lnTo>
                  <a:cubicBezTo>
                    <a:pt x="4206240" y="865251"/>
                    <a:pt x="4157091" y="914400"/>
                    <a:pt x="4096512" y="914400"/>
                  </a:cubicBezTo>
                  <a:lnTo>
                    <a:pt x="109728" y="914400"/>
                  </a:lnTo>
                  <a:cubicBezTo>
                    <a:pt x="49149" y="914400"/>
                    <a:pt x="0" y="865251"/>
                    <a:pt x="0" y="804672"/>
                  </a:cubicBez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11" id="111"/>
          <p:cNvGrpSpPr/>
          <p:nvPr/>
        </p:nvGrpSpPr>
        <p:grpSpPr>
          <a:xfrm rot="0">
            <a:off x="12385548" y="7310628"/>
            <a:ext cx="3072384" cy="685800"/>
            <a:chOff x="0" y="0"/>
            <a:chExt cx="4096512" cy="914400"/>
          </a:xfrm>
        </p:grpSpPr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4096512" cy="914400"/>
            </a:xfrm>
            <a:custGeom>
              <a:avLst/>
              <a:gdLst/>
              <a:ahLst/>
              <a:cxnLst/>
              <a:rect r="r" b="b" t="t" l="l"/>
              <a:pathLst>
                <a:path h="914400" w="4096512">
                  <a:moveTo>
                    <a:pt x="0" y="0"/>
                  </a:moveTo>
                  <a:lnTo>
                    <a:pt x="4096512" y="0"/>
                  </a:lnTo>
                  <a:lnTo>
                    <a:pt x="4096512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292" r="0" b="-37292"/>
              </a:stretch>
            </a:blipFill>
          </p:spPr>
        </p:sp>
        <p:sp>
          <p:nvSpPr>
            <p:cNvPr name="TextBox 113" id="113"/>
            <p:cNvSpPr txBox="true"/>
            <p:nvPr/>
          </p:nvSpPr>
          <p:spPr>
            <a:xfrm>
              <a:off x="0" y="-38100"/>
              <a:ext cx="4096512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09"/>
                </a:lnSpc>
              </a:pPr>
              <a:r>
                <a:rPr lang="en-US" sz="142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IoT Status → RED /</a:t>
              </a:r>
            </a:p>
            <a:p>
              <a:pPr algn="ctr">
                <a:lnSpc>
                  <a:spcPts val="1709"/>
                </a:lnSpc>
              </a:pPr>
              <a:r>
                <a:rPr lang="en-US" sz="142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No Access Signal</a:t>
              </a:r>
            </a:p>
          </p:txBody>
        </p:sp>
      </p:grpSp>
      <p:grpSp>
        <p:nvGrpSpPr>
          <p:cNvPr name="Group 114" id="114"/>
          <p:cNvGrpSpPr/>
          <p:nvPr/>
        </p:nvGrpSpPr>
        <p:grpSpPr>
          <a:xfrm rot="0">
            <a:off x="685800" y="9738360"/>
            <a:ext cx="9601200" cy="411480"/>
            <a:chOff x="0" y="0"/>
            <a:chExt cx="12801600" cy="548640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12801600" cy="548640"/>
            </a:xfrm>
            <a:custGeom>
              <a:avLst/>
              <a:gdLst/>
              <a:ahLst/>
              <a:cxnLst/>
              <a:rect r="r" b="b" t="t" l="l"/>
              <a:pathLst>
                <a:path h="548640" w="12801600">
                  <a:moveTo>
                    <a:pt x="0" y="0"/>
                  </a:moveTo>
                  <a:lnTo>
                    <a:pt x="12801600" y="0"/>
                  </a:lnTo>
                  <a:lnTo>
                    <a:pt x="128016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04650" r="0" b="-404650"/>
              </a:stretch>
            </a:blipFill>
          </p:spPr>
        </p:sp>
        <p:sp>
          <p:nvSpPr>
            <p:cNvPr name="TextBox 116" id="116"/>
            <p:cNvSpPr txBox="true"/>
            <p:nvPr/>
          </p:nvSpPr>
          <p:spPr>
            <a:xfrm>
              <a:off x="0" y="-19050"/>
              <a:ext cx="1280160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sz="1200" spc="150">
                  <a:solidFill>
                    <a:srgbClr val="9FB0C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SMART FACE ATTENDANCE &amp; ACCESS GATE SYSTEM</a:t>
              </a:r>
            </a:p>
          </p:txBody>
        </p:sp>
      </p:grpSp>
      <p:grpSp>
        <p:nvGrpSpPr>
          <p:cNvPr name="Group 117" id="117"/>
          <p:cNvGrpSpPr/>
          <p:nvPr/>
        </p:nvGrpSpPr>
        <p:grpSpPr>
          <a:xfrm rot="0">
            <a:off x="16915943" y="9738360"/>
            <a:ext cx="685800" cy="411480"/>
            <a:chOff x="0" y="0"/>
            <a:chExt cx="914400" cy="548640"/>
          </a:xfrm>
        </p:grpSpPr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19" id="119"/>
            <p:cNvSpPr txBox="true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9FB0C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08</a:t>
              </a:r>
            </a:p>
          </p:txBody>
        </p:sp>
      </p:grpSp>
      <p:sp>
        <p:nvSpPr>
          <p:cNvPr name="AutoShape 120" id="120"/>
          <p:cNvSpPr/>
          <p:nvPr/>
        </p:nvSpPr>
        <p:spPr>
          <a:xfrm flipH="true">
            <a:off x="4875960" y="5220455"/>
            <a:ext cx="2681556" cy="443267"/>
          </a:xfrm>
          <a:prstGeom prst="line">
            <a:avLst/>
          </a:prstGeom>
          <a:ln cap="rnd" w="19050">
            <a:solidFill>
              <a:srgbClr val="22C55E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85800"/>
            <a:ext cx="10972800" cy="480060"/>
            <a:chOff x="0" y="0"/>
            <a:chExt cx="146304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640080"/>
            </a:xfrm>
            <a:custGeom>
              <a:avLst/>
              <a:gdLst/>
              <a:ahLst/>
              <a:cxnLst/>
              <a:rect r="r" b="b" t="t" l="l"/>
              <a:pathLst>
                <a:path h="64008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95372" r="0" b="-39537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46304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300">
                  <a:solidFill>
                    <a:srgbClr val="22D3E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IOT COMMUNICATION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1165860"/>
            <a:ext cx="15773400" cy="960120"/>
            <a:chOff x="0" y="0"/>
            <a:chExt cx="21031200" cy="12801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0312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0111" r="0" b="-270111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1031200" cy="1299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IoT Communication &amp; RGB LED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2400300"/>
            <a:ext cx="822960" cy="822960"/>
            <a:chOff x="0" y="0"/>
            <a:chExt cx="1097280" cy="10972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22D3EE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036930" y="2614270"/>
            <a:ext cx="395021" cy="395021"/>
            <a:chOff x="0" y="0"/>
            <a:chExt cx="526694" cy="526694"/>
          </a:xfrm>
        </p:grpSpPr>
        <p:sp>
          <p:nvSpPr>
            <p:cNvPr name="Freeform 11" id="11" descr="/home/claude/ppt/icons/wifi_white.png"/>
            <p:cNvSpPr/>
            <p:nvPr/>
          </p:nvSpPr>
          <p:spPr>
            <a:xfrm flipH="false" flipV="false" rot="0">
              <a:off x="0" y="0"/>
              <a:ext cx="526669" cy="526669"/>
            </a:xfrm>
            <a:custGeom>
              <a:avLst/>
              <a:gdLst/>
              <a:ahLst/>
              <a:cxnLst/>
              <a:rect r="r" b="b" t="t" l="l"/>
              <a:pathLst>
                <a:path h="526669" w="526669">
                  <a:moveTo>
                    <a:pt x="0" y="0"/>
                  </a:moveTo>
                  <a:lnTo>
                    <a:pt x="526669" y="0"/>
                  </a:lnTo>
                  <a:lnTo>
                    <a:pt x="526669" y="526669"/>
                  </a:lnTo>
                  <a:lnTo>
                    <a:pt x="0" y="5266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4" b="-4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920240" y="2372868"/>
            <a:ext cx="7680960" cy="438912"/>
            <a:chOff x="0" y="0"/>
            <a:chExt cx="10241280" cy="58521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241280" cy="585216"/>
            </a:xfrm>
            <a:custGeom>
              <a:avLst/>
              <a:gdLst/>
              <a:ahLst/>
              <a:cxnLst/>
              <a:rect r="r" b="b" t="t" l="l"/>
              <a:pathLst>
                <a:path h="585216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90988" r="0" b="-290988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10241280" cy="6328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Wi-Fi Communication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920240" y="2811780"/>
            <a:ext cx="7818120" cy="754380"/>
            <a:chOff x="0" y="0"/>
            <a:chExt cx="10424160" cy="10058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42416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424160">
                  <a:moveTo>
                    <a:pt x="0" y="0"/>
                  </a:moveTo>
                  <a:lnTo>
                    <a:pt x="10424160" y="0"/>
                  </a:lnTo>
                  <a:lnTo>
                    <a:pt x="1042416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1935" r="0" b="-151935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10424160" cy="10534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73"/>
                </a:lnSpc>
              </a:pPr>
              <a:r>
                <a:rPr lang="en-US" sz="1575">
                  <a:solidFill>
                    <a:srgbClr val="A9BBD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The backend communicates with the IoT hardware using HTTP over Wi-Fi.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822960" y="3662172"/>
            <a:ext cx="822960" cy="822960"/>
            <a:chOff x="0" y="0"/>
            <a:chExt cx="1097280" cy="109728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22D3EE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036930" y="3876142"/>
            <a:ext cx="395021" cy="395021"/>
            <a:chOff x="0" y="0"/>
            <a:chExt cx="526694" cy="526694"/>
          </a:xfrm>
        </p:grpSpPr>
        <p:sp>
          <p:nvSpPr>
            <p:cNvPr name="Freeform 21" id="21" descr="/home/claude/ppt/icons/server_white.png"/>
            <p:cNvSpPr/>
            <p:nvPr/>
          </p:nvSpPr>
          <p:spPr>
            <a:xfrm flipH="false" flipV="false" rot="0">
              <a:off x="0" y="0"/>
              <a:ext cx="526669" cy="526669"/>
            </a:xfrm>
            <a:custGeom>
              <a:avLst/>
              <a:gdLst/>
              <a:ahLst/>
              <a:cxnLst/>
              <a:rect r="r" b="b" t="t" l="l"/>
              <a:pathLst>
                <a:path h="526669" w="526669">
                  <a:moveTo>
                    <a:pt x="0" y="0"/>
                  </a:moveTo>
                  <a:lnTo>
                    <a:pt x="526669" y="0"/>
                  </a:lnTo>
                  <a:lnTo>
                    <a:pt x="526669" y="526669"/>
                  </a:lnTo>
                  <a:lnTo>
                    <a:pt x="0" y="5266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4" b="-4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920240" y="3634740"/>
            <a:ext cx="7680960" cy="438912"/>
            <a:chOff x="0" y="0"/>
            <a:chExt cx="10241280" cy="58521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241280" cy="585216"/>
            </a:xfrm>
            <a:custGeom>
              <a:avLst/>
              <a:gdLst/>
              <a:ahLst/>
              <a:cxnLst/>
              <a:rect r="r" b="b" t="t" l="l"/>
              <a:pathLst>
                <a:path h="585216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90988" r="0" b="-290988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10241280" cy="6328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SiWx917 HTTP Server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920240" y="4073652"/>
            <a:ext cx="7818120" cy="754380"/>
            <a:chOff x="0" y="0"/>
            <a:chExt cx="10424160" cy="100584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42416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424160">
                  <a:moveTo>
                    <a:pt x="0" y="0"/>
                  </a:moveTo>
                  <a:lnTo>
                    <a:pt x="10424160" y="0"/>
                  </a:lnTo>
                  <a:lnTo>
                    <a:pt x="1042416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1935" r="0" b="-151935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47625"/>
              <a:ext cx="10424160" cy="10534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73"/>
                </a:lnSpc>
              </a:pPr>
              <a:r>
                <a:rPr lang="en-US" sz="1575">
                  <a:solidFill>
                    <a:srgbClr val="A9BBD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The board binds and starts a lightweight HTTP server and waits for commands.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822960" y="4924044"/>
            <a:ext cx="822960" cy="822960"/>
            <a:chOff x="0" y="0"/>
            <a:chExt cx="1097280" cy="109728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22D3EE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036930" y="5138014"/>
            <a:ext cx="395021" cy="395021"/>
            <a:chOff x="0" y="0"/>
            <a:chExt cx="526694" cy="526694"/>
          </a:xfrm>
        </p:grpSpPr>
        <p:sp>
          <p:nvSpPr>
            <p:cNvPr name="Freeform 31" id="31" descr="/home/claude/ppt/icons/globe_white.png"/>
            <p:cNvSpPr/>
            <p:nvPr/>
          </p:nvSpPr>
          <p:spPr>
            <a:xfrm flipH="false" flipV="false" rot="0">
              <a:off x="0" y="0"/>
              <a:ext cx="526669" cy="526669"/>
            </a:xfrm>
            <a:custGeom>
              <a:avLst/>
              <a:gdLst/>
              <a:ahLst/>
              <a:cxnLst/>
              <a:rect r="r" b="b" t="t" l="l"/>
              <a:pathLst>
                <a:path h="526669" w="526669">
                  <a:moveTo>
                    <a:pt x="0" y="0"/>
                  </a:moveTo>
                  <a:lnTo>
                    <a:pt x="526669" y="0"/>
                  </a:lnTo>
                  <a:lnTo>
                    <a:pt x="526669" y="526669"/>
                  </a:lnTo>
                  <a:lnTo>
                    <a:pt x="0" y="5266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4" b="-4"/>
              </a:stretch>
            </a:blip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920240" y="4896612"/>
            <a:ext cx="7680960" cy="438912"/>
            <a:chOff x="0" y="0"/>
            <a:chExt cx="10241280" cy="585216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241280" cy="585216"/>
            </a:xfrm>
            <a:custGeom>
              <a:avLst/>
              <a:gdLst/>
              <a:ahLst/>
              <a:cxnLst/>
              <a:rect r="r" b="b" t="t" l="l"/>
              <a:pathLst>
                <a:path h="585216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90988" r="0" b="-290988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47625"/>
              <a:ext cx="10241280" cy="6328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/health Endpoint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920240" y="5335524"/>
            <a:ext cx="7818120" cy="754380"/>
            <a:chOff x="0" y="0"/>
            <a:chExt cx="10424160" cy="100584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42416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424160">
                  <a:moveTo>
                    <a:pt x="0" y="0"/>
                  </a:moveTo>
                  <a:lnTo>
                    <a:pt x="10424160" y="0"/>
                  </a:lnTo>
                  <a:lnTo>
                    <a:pt x="1042416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1935" r="0" b="-151935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47625"/>
              <a:ext cx="10424160" cy="10534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73"/>
                </a:lnSpc>
              </a:pPr>
              <a:r>
                <a:rPr lang="en-US" sz="1575">
                  <a:solidFill>
                    <a:srgbClr val="A9BBD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Used to check whether the SiWG917 board is online.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822960" y="6185916"/>
            <a:ext cx="822960" cy="822960"/>
            <a:chOff x="0" y="0"/>
            <a:chExt cx="1097280" cy="109728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22D3EE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036930" y="6399886"/>
            <a:ext cx="395021" cy="395021"/>
            <a:chOff x="0" y="0"/>
            <a:chExt cx="526694" cy="526694"/>
          </a:xfrm>
        </p:grpSpPr>
        <p:sp>
          <p:nvSpPr>
            <p:cNvPr name="Freeform 41" id="41" descr="/home/claude/ppt/icons/plug_white.png"/>
            <p:cNvSpPr/>
            <p:nvPr/>
          </p:nvSpPr>
          <p:spPr>
            <a:xfrm flipH="false" flipV="false" rot="0">
              <a:off x="0" y="0"/>
              <a:ext cx="526669" cy="526669"/>
            </a:xfrm>
            <a:custGeom>
              <a:avLst/>
              <a:gdLst/>
              <a:ahLst/>
              <a:cxnLst/>
              <a:rect r="r" b="b" t="t" l="l"/>
              <a:pathLst>
                <a:path h="526669" w="526669">
                  <a:moveTo>
                    <a:pt x="0" y="0"/>
                  </a:moveTo>
                  <a:lnTo>
                    <a:pt x="526669" y="0"/>
                  </a:lnTo>
                  <a:lnTo>
                    <a:pt x="526669" y="526669"/>
                  </a:lnTo>
                  <a:lnTo>
                    <a:pt x="0" y="5266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-4" b="-4"/>
              </a:stretch>
            </a:blip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920240" y="6158484"/>
            <a:ext cx="7680960" cy="438912"/>
            <a:chOff x="0" y="0"/>
            <a:chExt cx="10241280" cy="585216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0241280" cy="585216"/>
            </a:xfrm>
            <a:custGeom>
              <a:avLst/>
              <a:gdLst/>
              <a:ahLst/>
              <a:cxnLst/>
              <a:rect r="r" b="b" t="t" l="l"/>
              <a:pathLst>
                <a:path h="585216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90988" r="0" b="-290988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47625"/>
              <a:ext cx="10241280" cy="6328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/led Endpoint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920240" y="6597396"/>
            <a:ext cx="7818120" cy="754380"/>
            <a:chOff x="0" y="0"/>
            <a:chExt cx="10424160" cy="100584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042416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424160">
                  <a:moveTo>
                    <a:pt x="0" y="0"/>
                  </a:moveTo>
                  <a:lnTo>
                    <a:pt x="10424160" y="0"/>
                  </a:lnTo>
                  <a:lnTo>
                    <a:pt x="1042416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1935" r="0" b="-151935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47625"/>
              <a:ext cx="10424160" cy="10534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73"/>
                </a:lnSpc>
              </a:pPr>
              <a:r>
                <a:rPr lang="en-US" sz="1575">
                  <a:solidFill>
                    <a:srgbClr val="A9BBD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Accepts a colour command — red, green or blue — to drive the RGB LED.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822960" y="7447788"/>
            <a:ext cx="822960" cy="822960"/>
            <a:chOff x="0" y="0"/>
            <a:chExt cx="1097280" cy="109728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22D3EE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1036930" y="7661758"/>
            <a:ext cx="395021" cy="395021"/>
            <a:chOff x="0" y="0"/>
            <a:chExt cx="526694" cy="526694"/>
          </a:xfrm>
        </p:grpSpPr>
        <p:sp>
          <p:nvSpPr>
            <p:cNvPr name="Freeform 51" id="51" descr="/home/claude/ppt/icons/key_white.png"/>
            <p:cNvSpPr/>
            <p:nvPr/>
          </p:nvSpPr>
          <p:spPr>
            <a:xfrm flipH="false" flipV="false" rot="0">
              <a:off x="0" y="0"/>
              <a:ext cx="526669" cy="526669"/>
            </a:xfrm>
            <a:custGeom>
              <a:avLst/>
              <a:gdLst/>
              <a:ahLst/>
              <a:cxnLst/>
              <a:rect r="r" b="b" t="t" l="l"/>
              <a:pathLst>
                <a:path h="526669" w="526669">
                  <a:moveTo>
                    <a:pt x="0" y="0"/>
                  </a:moveTo>
                  <a:lnTo>
                    <a:pt x="526669" y="0"/>
                  </a:lnTo>
                  <a:lnTo>
                    <a:pt x="526669" y="526669"/>
                  </a:lnTo>
                  <a:lnTo>
                    <a:pt x="0" y="5266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-4" b="-4"/>
              </a:stretch>
            </a:blip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1920240" y="7420356"/>
            <a:ext cx="7680960" cy="438912"/>
            <a:chOff x="0" y="0"/>
            <a:chExt cx="10241280" cy="585216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0241280" cy="585216"/>
            </a:xfrm>
            <a:custGeom>
              <a:avLst/>
              <a:gdLst/>
              <a:ahLst/>
              <a:cxnLst/>
              <a:rect r="r" b="b" t="t" l="l"/>
              <a:pathLst>
                <a:path h="585216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90988" r="0" b="-290988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47625"/>
              <a:ext cx="10241280" cy="6328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API-Key Authentication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1920240" y="7859268"/>
            <a:ext cx="7818120" cy="754380"/>
            <a:chOff x="0" y="0"/>
            <a:chExt cx="10424160" cy="100584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042416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424160">
                  <a:moveTo>
                    <a:pt x="0" y="0"/>
                  </a:moveTo>
                  <a:lnTo>
                    <a:pt x="10424160" y="0"/>
                  </a:lnTo>
                  <a:lnTo>
                    <a:pt x="1042416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1935" r="0" b="-151935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47625"/>
              <a:ext cx="10424160" cy="10534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73"/>
                </a:lnSpc>
              </a:pPr>
              <a:r>
                <a:rPr lang="en-US" sz="1575">
                  <a:solidFill>
                    <a:srgbClr val="A9BBD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Authenticated access is required to prevent unauthorized control requests.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10629900" y="2331720"/>
            <a:ext cx="6858000" cy="6858000"/>
            <a:chOff x="0" y="0"/>
            <a:chExt cx="9144000" cy="914400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9144000" cy="9144000"/>
            </a:xfrm>
            <a:custGeom>
              <a:avLst/>
              <a:gdLst/>
              <a:ahLst/>
              <a:cxnLst/>
              <a:rect r="r" b="b" t="t" l="l"/>
              <a:pathLst>
                <a:path h="9144000" w="914400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8924544" y="0"/>
                  </a:lnTo>
                  <a:cubicBezTo>
                    <a:pt x="9045702" y="0"/>
                    <a:pt x="9144000" y="98298"/>
                    <a:pt x="9144000" y="219456"/>
                  </a:cubicBezTo>
                  <a:lnTo>
                    <a:pt x="9144000" y="8924544"/>
                  </a:lnTo>
                  <a:cubicBezTo>
                    <a:pt x="9144000" y="9045701"/>
                    <a:pt x="9045702" y="9144000"/>
                    <a:pt x="8924544" y="9144000"/>
                  </a:cubicBezTo>
                  <a:lnTo>
                    <a:pt x="219456" y="9144000"/>
                  </a:lnTo>
                  <a:cubicBezTo>
                    <a:pt x="98298" y="9144000"/>
                    <a:pt x="0" y="9045702"/>
                    <a:pt x="0" y="8924544"/>
                  </a:cubicBezTo>
                  <a:close/>
                </a:path>
              </a:pathLst>
            </a:custGeom>
            <a:solidFill>
              <a:srgbClr val="1D3F70"/>
            </a:solid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13373100" y="2674620"/>
            <a:ext cx="1371600" cy="1371600"/>
            <a:chOff x="0" y="0"/>
            <a:chExt cx="1828800" cy="182880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18288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828800">
                  <a:moveTo>
                    <a:pt x="0" y="914400"/>
                  </a:moveTo>
                  <a:cubicBezTo>
                    <a:pt x="0" y="409448"/>
                    <a:pt x="409448" y="0"/>
                    <a:pt x="914400" y="0"/>
                  </a:cubicBezTo>
                  <a:cubicBezTo>
                    <a:pt x="1419352" y="0"/>
                    <a:pt x="1828800" y="409448"/>
                    <a:pt x="1828800" y="914400"/>
                  </a:cubicBezTo>
                  <a:cubicBezTo>
                    <a:pt x="1828800" y="1419352"/>
                    <a:pt x="1419352" y="1828800"/>
                    <a:pt x="914400" y="1828800"/>
                  </a:cubicBezTo>
                  <a:cubicBezTo>
                    <a:pt x="409448" y="1828800"/>
                    <a:pt x="0" y="1419352"/>
                    <a:pt x="0" y="914400"/>
                  </a:cubicBezTo>
                  <a:close/>
                </a:path>
              </a:pathLst>
            </a:custGeom>
            <a:solidFill>
              <a:srgbClr val="22D3EE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13729716" y="3031236"/>
            <a:ext cx="658368" cy="658368"/>
            <a:chOff x="0" y="0"/>
            <a:chExt cx="877824" cy="877824"/>
          </a:xfrm>
        </p:grpSpPr>
        <p:sp>
          <p:nvSpPr>
            <p:cNvPr name="Freeform 63" id="63" descr="/home/claude/ppt/icons/microchip_navy.png"/>
            <p:cNvSpPr/>
            <p:nvPr/>
          </p:nvSpPr>
          <p:spPr>
            <a:xfrm flipH="false" flipV="false" rot="0">
              <a:off x="0" y="0"/>
              <a:ext cx="877824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">
                  <a:moveTo>
                    <a:pt x="0" y="0"/>
                  </a:moveTo>
                  <a:lnTo>
                    <a:pt x="877824" y="0"/>
                  </a:lnTo>
                  <a:lnTo>
                    <a:pt x="877824" y="877824"/>
                  </a:lnTo>
                  <a:lnTo>
                    <a:pt x="0" y="8778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10972800" y="4183380"/>
            <a:ext cx="6035040" cy="480060"/>
            <a:chOff x="0" y="0"/>
            <a:chExt cx="8046720" cy="64008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8046720" cy="640080"/>
            </a:xfrm>
            <a:custGeom>
              <a:avLst/>
              <a:gdLst/>
              <a:ahLst/>
              <a:cxnLst/>
              <a:rect r="r" b="b" t="t" l="l"/>
              <a:pathLst>
                <a:path h="640080" w="8046720">
                  <a:moveTo>
                    <a:pt x="0" y="0"/>
                  </a:moveTo>
                  <a:lnTo>
                    <a:pt x="8046720" y="0"/>
                  </a:lnTo>
                  <a:lnTo>
                    <a:pt x="804672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4954" r="0" b="-194954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38100"/>
              <a:ext cx="804672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30"/>
                </a:lnSpc>
              </a:pPr>
              <a:r>
                <a:rPr lang="en-US" sz="202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SiWx917 / BRD2605A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10972800" y="4732020"/>
            <a:ext cx="6035040" cy="411480"/>
            <a:chOff x="0" y="0"/>
            <a:chExt cx="8046720" cy="54864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8046720" cy="548640"/>
            </a:xfrm>
            <a:custGeom>
              <a:avLst/>
              <a:gdLst/>
              <a:ahLst/>
              <a:cxnLst/>
              <a:rect r="r" b="b" t="t" l="l"/>
              <a:pathLst>
                <a:path h="548640" w="8046720">
                  <a:moveTo>
                    <a:pt x="0" y="0"/>
                  </a:moveTo>
                  <a:lnTo>
                    <a:pt x="8046720" y="0"/>
                  </a:lnTo>
                  <a:lnTo>
                    <a:pt x="80467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35780" r="0" b="-235780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19050"/>
              <a:ext cx="804672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b="true" sz="1575" spc="224">
                  <a:solidFill>
                    <a:srgbClr val="22D3E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RGB LED STATUS INDICATION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11178540" y="5431536"/>
            <a:ext cx="384048" cy="384048"/>
            <a:chOff x="0" y="0"/>
            <a:chExt cx="512064" cy="512064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512064" cy="512064"/>
            </a:xfrm>
            <a:custGeom>
              <a:avLst/>
              <a:gdLst/>
              <a:ahLst/>
              <a:cxnLst/>
              <a:rect r="r" b="b" t="t" l="l"/>
              <a:pathLst>
                <a:path h="512064" w="512064">
                  <a:moveTo>
                    <a:pt x="0" y="256032"/>
                  </a:moveTo>
                  <a:cubicBezTo>
                    <a:pt x="0" y="114681"/>
                    <a:pt x="114681" y="0"/>
                    <a:pt x="256032" y="0"/>
                  </a:cubicBezTo>
                  <a:cubicBezTo>
                    <a:pt x="397383" y="0"/>
                    <a:pt x="512064" y="114681"/>
                    <a:pt x="512064" y="256032"/>
                  </a:cubicBezTo>
                  <a:cubicBezTo>
                    <a:pt x="512064" y="397383"/>
                    <a:pt x="397383" y="512064"/>
                    <a:pt x="256032" y="512064"/>
                  </a:cubicBezTo>
                  <a:cubicBezTo>
                    <a:pt x="114681" y="512064"/>
                    <a:pt x="0" y="397383"/>
                    <a:pt x="0" y="256032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72" id="72"/>
          <p:cNvGrpSpPr/>
          <p:nvPr/>
        </p:nvGrpSpPr>
        <p:grpSpPr>
          <a:xfrm rot="0">
            <a:off x="11795760" y="5349240"/>
            <a:ext cx="1783080" cy="411480"/>
            <a:chOff x="0" y="0"/>
            <a:chExt cx="2377440" cy="54864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2377440" cy="548640"/>
            </a:xfrm>
            <a:custGeom>
              <a:avLst/>
              <a:gdLst/>
              <a:ahLst/>
              <a:cxnLst/>
              <a:rect r="r" b="b" t="t" l="l"/>
              <a:pathLst>
                <a:path h="548640" w="2377440">
                  <a:moveTo>
                    <a:pt x="0" y="0"/>
                  </a:moveTo>
                  <a:lnTo>
                    <a:pt x="2377440" y="0"/>
                  </a:lnTo>
                  <a:lnTo>
                    <a:pt x="23774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4435" r="0" b="-34435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38100"/>
              <a:ext cx="237744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BLUE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13647420" y="5349240"/>
            <a:ext cx="3566160" cy="548640"/>
            <a:chOff x="0" y="0"/>
            <a:chExt cx="4754880" cy="73152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4754880" cy="731520"/>
            </a:xfrm>
            <a:custGeom>
              <a:avLst/>
              <a:gdLst/>
              <a:ahLst/>
              <a:cxnLst/>
              <a:rect r="r" b="b" t="t" l="l"/>
              <a:pathLst>
                <a:path h="73152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6652" r="0" b="-76652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38100"/>
              <a:ext cx="475488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A9BBD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Normal / Idle state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11178540" y="6117336"/>
            <a:ext cx="384048" cy="384048"/>
            <a:chOff x="0" y="0"/>
            <a:chExt cx="512064" cy="512064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512064" cy="512064"/>
            </a:xfrm>
            <a:custGeom>
              <a:avLst/>
              <a:gdLst/>
              <a:ahLst/>
              <a:cxnLst/>
              <a:rect r="r" b="b" t="t" l="l"/>
              <a:pathLst>
                <a:path h="512064" w="512064">
                  <a:moveTo>
                    <a:pt x="0" y="256032"/>
                  </a:moveTo>
                  <a:cubicBezTo>
                    <a:pt x="0" y="114681"/>
                    <a:pt x="114681" y="0"/>
                    <a:pt x="256032" y="0"/>
                  </a:cubicBezTo>
                  <a:cubicBezTo>
                    <a:pt x="397383" y="0"/>
                    <a:pt x="512064" y="114681"/>
                    <a:pt x="512064" y="256032"/>
                  </a:cubicBezTo>
                  <a:cubicBezTo>
                    <a:pt x="512064" y="397383"/>
                    <a:pt x="397383" y="512064"/>
                    <a:pt x="256032" y="512064"/>
                  </a:cubicBezTo>
                  <a:cubicBezTo>
                    <a:pt x="114681" y="512064"/>
                    <a:pt x="0" y="397383"/>
                    <a:pt x="0" y="256032"/>
                  </a:cubicBezTo>
                  <a:close/>
                </a:path>
              </a:pathLst>
            </a:custGeom>
            <a:solidFill>
              <a:srgbClr val="22C55E"/>
            </a:solid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11795760" y="6035040"/>
            <a:ext cx="1783080" cy="411480"/>
            <a:chOff x="0" y="0"/>
            <a:chExt cx="2377440" cy="54864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2377440" cy="548640"/>
            </a:xfrm>
            <a:custGeom>
              <a:avLst/>
              <a:gdLst/>
              <a:ahLst/>
              <a:cxnLst/>
              <a:rect r="r" b="b" t="t" l="l"/>
              <a:pathLst>
                <a:path h="548640" w="2377440">
                  <a:moveTo>
                    <a:pt x="0" y="0"/>
                  </a:moveTo>
                  <a:lnTo>
                    <a:pt x="2377440" y="0"/>
                  </a:lnTo>
                  <a:lnTo>
                    <a:pt x="23774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4435" r="0" b="-34435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38100"/>
              <a:ext cx="237744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GREEN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13647420" y="6035040"/>
            <a:ext cx="3566160" cy="548640"/>
            <a:chOff x="0" y="0"/>
            <a:chExt cx="4754880" cy="73152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4754880" cy="731520"/>
            </a:xfrm>
            <a:custGeom>
              <a:avLst/>
              <a:gdLst/>
              <a:ahLst/>
              <a:cxnLst/>
              <a:rect r="r" b="b" t="t" l="l"/>
              <a:pathLst>
                <a:path h="73152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6652" r="0" b="-76652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38100"/>
              <a:ext cx="475488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A9BBD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Recognized / Authorized student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11178540" y="6803136"/>
            <a:ext cx="384048" cy="384048"/>
            <a:chOff x="0" y="0"/>
            <a:chExt cx="512064" cy="512064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512064" cy="512064"/>
            </a:xfrm>
            <a:custGeom>
              <a:avLst/>
              <a:gdLst/>
              <a:ahLst/>
              <a:cxnLst/>
              <a:rect r="r" b="b" t="t" l="l"/>
              <a:pathLst>
                <a:path h="512064" w="512064">
                  <a:moveTo>
                    <a:pt x="0" y="256032"/>
                  </a:moveTo>
                  <a:cubicBezTo>
                    <a:pt x="0" y="114681"/>
                    <a:pt x="114681" y="0"/>
                    <a:pt x="256032" y="0"/>
                  </a:cubicBezTo>
                  <a:cubicBezTo>
                    <a:pt x="397383" y="0"/>
                    <a:pt x="512064" y="114681"/>
                    <a:pt x="512064" y="256032"/>
                  </a:cubicBezTo>
                  <a:cubicBezTo>
                    <a:pt x="512064" y="397383"/>
                    <a:pt x="397383" y="512064"/>
                    <a:pt x="256032" y="512064"/>
                  </a:cubicBezTo>
                  <a:cubicBezTo>
                    <a:pt x="114681" y="512064"/>
                    <a:pt x="0" y="397383"/>
                    <a:pt x="0" y="256032"/>
                  </a:cubicBez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88" id="88"/>
          <p:cNvGrpSpPr/>
          <p:nvPr/>
        </p:nvGrpSpPr>
        <p:grpSpPr>
          <a:xfrm rot="0">
            <a:off x="11795760" y="6720840"/>
            <a:ext cx="1783080" cy="411480"/>
            <a:chOff x="0" y="0"/>
            <a:chExt cx="2377440" cy="548640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2377440" cy="548640"/>
            </a:xfrm>
            <a:custGeom>
              <a:avLst/>
              <a:gdLst/>
              <a:ahLst/>
              <a:cxnLst/>
              <a:rect r="r" b="b" t="t" l="l"/>
              <a:pathLst>
                <a:path h="548640" w="2377440">
                  <a:moveTo>
                    <a:pt x="0" y="0"/>
                  </a:moveTo>
                  <a:lnTo>
                    <a:pt x="2377440" y="0"/>
                  </a:lnTo>
                  <a:lnTo>
                    <a:pt x="23774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4435" r="0" b="-34435"/>
              </a:stretch>
            </a:blipFill>
          </p:spPr>
        </p:sp>
        <p:sp>
          <p:nvSpPr>
            <p:cNvPr name="TextBox 90" id="90"/>
            <p:cNvSpPr txBox="true"/>
            <p:nvPr/>
          </p:nvSpPr>
          <p:spPr>
            <a:xfrm>
              <a:off x="0" y="-38100"/>
              <a:ext cx="237744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RED</a:t>
              </a:r>
            </a:p>
          </p:txBody>
        </p:sp>
      </p:grpSp>
      <p:grpSp>
        <p:nvGrpSpPr>
          <p:cNvPr name="Group 91" id="91"/>
          <p:cNvGrpSpPr/>
          <p:nvPr/>
        </p:nvGrpSpPr>
        <p:grpSpPr>
          <a:xfrm rot="0">
            <a:off x="13647420" y="6720840"/>
            <a:ext cx="3566160" cy="548640"/>
            <a:chOff x="0" y="0"/>
            <a:chExt cx="4754880" cy="731520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4754880" cy="731520"/>
            </a:xfrm>
            <a:custGeom>
              <a:avLst/>
              <a:gdLst/>
              <a:ahLst/>
              <a:cxnLst/>
              <a:rect r="r" b="b" t="t" l="l"/>
              <a:pathLst>
                <a:path h="73152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6652" r="0" b="-76652"/>
              </a:stretch>
            </a:blipFill>
          </p:spPr>
        </p:sp>
        <p:sp>
          <p:nvSpPr>
            <p:cNvPr name="TextBox 93" id="93"/>
            <p:cNvSpPr txBox="true"/>
            <p:nvPr/>
          </p:nvSpPr>
          <p:spPr>
            <a:xfrm>
              <a:off x="0" y="-38100"/>
              <a:ext cx="475488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A9BBD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Unknown person / Error condition</a:t>
              </a:r>
            </a:p>
          </p:txBody>
        </p:sp>
      </p:grpSp>
      <p:grpSp>
        <p:nvGrpSpPr>
          <p:cNvPr name="Group 94" id="94"/>
          <p:cNvGrpSpPr/>
          <p:nvPr/>
        </p:nvGrpSpPr>
        <p:grpSpPr>
          <a:xfrm rot="0">
            <a:off x="685800" y="9738360"/>
            <a:ext cx="9601200" cy="411480"/>
            <a:chOff x="0" y="0"/>
            <a:chExt cx="12801600" cy="548640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12801600" cy="548640"/>
            </a:xfrm>
            <a:custGeom>
              <a:avLst/>
              <a:gdLst/>
              <a:ahLst/>
              <a:cxnLst/>
              <a:rect r="r" b="b" t="t" l="l"/>
              <a:pathLst>
                <a:path h="548640" w="12801600">
                  <a:moveTo>
                    <a:pt x="0" y="0"/>
                  </a:moveTo>
                  <a:lnTo>
                    <a:pt x="12801600" y="0"/>
                  </a:lnTo>
                  <a:lnTo>
                    <a:pt x="128016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04650" r="0" b="-404650"/>
              </a:stretch>
            </a:blipFill>
          </p:spPr>
        </p:sp>
        <p:sp>
          <p:nvSpPr>
            <p:cNvPr name="TextBox 96" id="96"/>
            <p:cNvSpPr txBox="true"/>
            <p:nvPr/>
          </p:nvSpPr>
          <p:spPr>
            <a:xfrm>
              <a:off x="0" y="-19050"/>
              <a:ext cx="1280160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sz="1200" spc="150">
                  <a:solidFill>
                    <a:srgbClr val="5B739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SMART FACE ATTENDANCE &amp; ACCESS GATE SYSTEM</a:t>
              </a:r>
            </a:p>
          </p:txBody>
        </p:sp>
      </p:grpSp>
      <p:grpSp>
        <p:nvGrpSpPr>
          <p:cNvPr name="Group 97" id="97"/>
          <p:cNvGrpSpPr/>
          <p:nvPr/>
        </p:nvGrpSpPr>
        <p:grpSpPr>
          <a:xfrm rot="0">
            <a:off x="16915943" y="9738360"/>
            <a:ext cx="685800" cy="411480"/>
            <a:chOff x="0" y="0"/>
            <a:chExt cx="914400" cy="548640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99" id="99"/>
            <p:cNvSpPr txBox="true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5B739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09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17220"/>
            <a:ext cx="10972800" cy="480060"/>
            <a:chOff x="0" y="0"/>
            <a:chExt cx="146304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640080"/>
            </a:xfrm>
            <a:custGeom>
              <a:avLst/>
              <a:gdLst/>
              <a:ahLst/>
              <a:cxnLst/>
              <a:rect r="r" b="b" t="t" l="l"/>
              <a:pathLst>
                <a:path h="64008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95372" r="0" b="-39537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46304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300">
                  <a:solidFill>
                    <a:srgbClr val="22D3E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WEB APPLICATION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1069848"/>
            <a:ext cx="15773400" cy="960120"/>
            <a:chOff x="0" y="0"/>
            <a:chExt cx="21031200" cy="12801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0312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0111" r="0" b="-270111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103120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0B1E3D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Web Dashboard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44855" y="2047875"/>
            <a:ext cx="9757410" cy="4888230"/>
            <a:chOff x="0" y="0"/>
            <a:chExt cx="13009880" cy="65176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3009880" cy="6517640"/>
            </a:xfrm>
            <a:custGeom>
              <a:avLst/>
              <a:gdLst/>
              <a:ahLst/>
              <a:cxnLst/>
              <a:rect r="r" b="b" t="t" l="l"/>
              <a:pathLst>
                <a:path h="6517640" w="13009880">
                  <a:moveTo>
                    <a:pt x="0" y="146939"/>
                  </a:moveTo>
                  <a:cubicBezTo>
                    <a:pt x="0" y="65786"/>
                    <a:pt x="65786" y="0"/>
                    <a:pt x="146939" y="0"/>
                  </a:cubicBezTo>
                  <a:lnTo>
                    <a:pt x="12862941" y="0"/>
                  </a:lnTo>
                  <a:cubicBezTo>
                    <a:pt x="12944094" y="0"/>
                    <a:pt x="13009880" y="65786"/>
                    <a:pt x="13009880" y="146939"/>
                  </a:cubicBezTo>
                  <a:lnTo>
                    <a:pt x="13009880" y="6370701"/>
                  </a:lnTo>
                  <a:cubicBezTo>
                    <a:pt x="13009880" y="6451854"/>
                    <a:pt x="12944094" y="6517640"/>
                    <a:pt x="12862941" y="6517640"/>
                  </a:cubicBezTo>
                  <a:lnTo>
                    <a:pt x="146939" y="6517640"/>
                  </a:lnTo>
                  <a:cubicBezTo>
                    <a:pt x="65786" y="6517640"/>
                    <a:pt x="0" y="6451854"/>
                    <a:pt x="0" y="6370701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CE5F0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960120" y="2263140"/>
            <a:ext cx="9326880" cy="4375404"/>
            <a:chOff x="0" y="0"/>
            <a:chExt cx="12435840" cy="5833872"/>
          </a:xfrm>
        </p:grpSpPr>
        <p:sp>
          <p:nvSpPr>
            <p:cNvPr name="Freeform 11" id="11" descr="/home/claude/media/media/image1.png"/>
            <p:cNvSpPr/>
            <p:nvPr/>
          </p:nvSpPr>
          <p:spPr>
            <a:xfrm flipH="false" flipV="false" rot="0">
              <a:off x="0" y="0"/>
              <a:ext cx="12435840" cy="5833872"/>
            </a:xfrm>
            <a:custGeom>
              <a:avLst/>
              <a:gdLst/>
              <a:ahLst/>
              <a:cxnLst/>
              <a:rect r="r" b="b" t="t" l="l"/>
              <a:pathLst>
                <a:path h="5833872" w="12435840">
                  <a:moveTo>
                    <a:pt x="0" y="0"/>
                  </a:moveTo>
                  <a:lnTo>
                    <a:pt x="12435840" y="0"/>
                  </a:lnTo>
                  <a:lnTo>
                    <a:pt x="12435840" y="5833872"/>
                  </a:lnTo>
                  <a:lnTo>
                    <a:pt x="0" y="58338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4" t="0" r="-4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754380" y="7022592"/>
            <a:ext cx="9738360" cy="411480"/>
            <a:chOff x="0" y="0"/>
            <a:chExt cx="12984480" cy="5486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984480" cy="548640"/>
            </a:xfrm>
            <a:custGeom>
              <a:avLst/>
              <a:gdLst/>
              <a:ahLst/>
              <a:cxnLst/>
              <a:rect r="r" b="b" t="t" l="l"/>
              <a:pathLst>
                <a:path h="548640" w="12984480">
                  <a:moveTo>
                    <a:pt x="0" y="0"/>
                  </a:moveTo>
                  <a:lnTo>
                    <a:pt x="12984480" y="0"/>
                  </a:lnTo>
                  <a:lnTo>
                    <a:pt x="129844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11145" r="0" b="-411145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298448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i="true">
                  <a:solidFill>
                    <a:srgbClr val="50607A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Dashboard — statistics, IoT device status &amp; today's attendance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757535" y="2047875"/>
            <a:ext cx="6739890" cy="2350770"/>
            <a:chOff x="0" y="0"/>
            <a:chExt cx="8986520" cy="313436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986520" cy="3134360"/>
            </a:xfrm>
            <a:custGeom>
              <a:avLst/>
              <a:gdLst/>
              <a:ahLst/>
              <a:cxnLst/>
              <a:rect r="r" b="b" t="t" l="l"/>
              <a:pathLst>
                <a:path h="3134360" w="8986520">
                  <a:moveTo>
                    <a:pt x="0" y="147447"/>
                  </a:moveTo>
                  <a:cubicBezTo>
                    <a:pt x="0" y="66040"/>
                    <a:pt x="66040" y="0"/>
                    <a:pt x="147447" y="0"/>
                  </a:cubicBezTo>
                  <a:lnTo>
                    <a:pt x="8839073" y="0"/>
                  </a:lnTo>
                  <a:cubicBezTo>
                    <a:pt x="8920480" y="0"/>
                    <a:pt x="8986520" y="66040"/>
                    <a:pt x="8986520" y="147447"/>
                  </a:cubicBezTo>
                  <a:lnTo>
                    <a:pt x="8986520" y="2986913"/>
                  </a:lnTo>
                  <a:cubicBezTo>
                    <a:pt x="8986520" y="3068320"/>
                    <a:pt x="8920480" y="3134360"/>
                    <a:pt x="8839073" y="3134360"/>
                  </a:cubicBezTo>
                  <a:lnTo>
                    <a:pt x="147447" y="3134360"/>
                  </a:lnTo>
                  <a:cubicBezTo>
                    <a:pt x="66040" y="3134360"/>
                    <a:pt x="0" y="3068320"/>
                    <a:pt x="0" y="2986913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CE5F0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10945368" y="2194560"/>
            <a:ext cx="6364224" cy="2029968"/>
            <a:chOff x="0" y="0"/>
            <a:chExt cx="8485632" cy="2706624"/>
          </a:xfrm>
        </p:grpSpPr>
        <p:sp>
          <p:nvSpPr>
            <p:cNvPr name="Freeform 18" id="18" descr="/home/claude/media/media/image4.png"/>
            <p:cNvSpPr/>
            <p:nvPr/>
          </p:nvSpPr>
          <p:spPr>
            <a:xfrm flipH="false" flipV="false" rot="0">
              <a:off x="0" y="0"/>
              <a:ext cx="8485632" cy="2706624"/>
            </a:xfrm>
            <a:custGeom>
              <a:avLst/>
              <a:gdLst/>
              <a:ahLst/>
              <a:cxnLst/>
              <a:rect r="r" b="b" t="t" l="l"/>
              <a:pathLst>
                <a:path h="2706624" w="8485632">
                  <a:moveTo>
                    <a:pt x="0" y="0"/>
                  </a:moveTo>
                  <a:lnTo>
                    <a:pt x="8485632" y="0"/>
                  </a:lnTo>
                  <a:lnTo>
                    <a:pt x="8485632" y="2706624"/>
                  </a:lnTo>
                  <a:lnTo>
                    <a:pt x="0" y="27066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29378" r="0" b="-29377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0757535" y="4585335"/>
            <a:ext cx="6739890" cy="2350770"/>
            <a:chOff x="0" y="0"/>
            <a:chExt cx="8986520" cy="313436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986520" cy="3134360"/>
            </a:xfrm>
            <a:custGeom>
              <a:avLst/>
              <a:gdLst/>
              <a:ahLst/>
              <a:cxnLst/>
              <a:rect r="r" b="b" t="t" l="l"/>
              <a:pathLst>
                <a:path h="3134360" w="8986520">
                  <a:moveTo>
                    <a:pt x="0" y="147447"/>
                  </a:moveTo>
                  <a:cubicBezTo>
                    <a:pt x="0" y="66040"/>
                    <a:pt x="66040" y="0"/>
                    <a:pt x="147447" y="0"/>
                  </a:cubicBezTo>
                  <a:lnTo>
                    <a:pt x="8839073" y="0"/>
                  </a:lnTo>
                  <a:cubicBezTo>
                    <a:pt x="8920480" y="0"/>
                    <a:pt x="8986520" y="66040"/>
                    <a:pt x="8986520" y="147447"/>
                  </a:cubicBezTo>
                  <a:lnTo>
                    <a:pt x="8986520" y="2986913"/>
                  </a:lnTo>
                  <a:cubicBezTo>
                    <a:pt x="8986520" y="3068320"/>
                    <a:pt x="8920480" y="3134360"/>
                    <a:pt x="8839073" y="3134360"/>
                  </a:cubicBezTo>
                  <a:lnTo>
                    <a:pt x="147447" y="3134360"/>
                  </a:lnTo>
                  <a:cubicBezTo>
                    <a:pt x="66040" y="3134360"/>
                    <a:pt x="0" y="3068320"/>
                    <a:pt x="0" y="2986913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CE5F0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10945368" y="4732020"/>
            <a:ext cx="6364224" cy="2057400"/>
            <a:chOff x="0" y="0"/>
            <a:chExt cx="8485632" cy="2743200"/>
          </a:xfrm>
        </p:grpSpPr>
        <p:sp>
          <p:nvSpPr>
            <p:cNvPr name="Freeform 22" id="22" descr="/home/claude/media/media/image6.png"/>
            <p:cNvSpPr/>
            <p:nvPr/>
          </p:nvSpPr>
          <p:spPr>
            <a:xfrm flipH="false" flipV="false" rot="0">
              <a:off x="0" y="0"/>
              <a:ext cx="8485632" cy="2743200"/>
            </a:xfrm>
            <a:custGeom>
              <a:avLst/>
              <a:gdLst/>
              <a:ahLst/>
              <a:cxnLst/>
              <a:rect r="r" b="b" t="t" l="l"/>
              <a:pathLst>
                <a:path h="2743200" w="8485632">
                  <a:moveTo>
                    <a:pt x="0" y="0"/>
                  </a:moveTo>
                  <a:lnTo>
                    <a:pt x="8485632" y="0"/>
                  </a:lnTo>
                  <a:lnTo>
                    <a:pt x="8485632" y="2743200"/>
                  </a:lnTo>
                  <a:lnTo>
                    <a:pt x="0" y="274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0476" t="0" r="-20476" b="0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0767060" y="4416552"/>
            <a:ext cx="6720840" cy="342900"/>
            <a:chOff x="0" y="0"/>
            <a:chExt cx="8961120" cy="4572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961120" cy="457200"/>
            </a:xfrm>
            <a:custGeom>
              <a:avLst/>
              <a:gdLst/>
              <a:ahLst/>
              <a:cxnLst/>
              <a:rect r="r" b="b" t="t" l="l"/>
              <a:pathLst>
                <a:path h="457200" w="8961120">
                  <a:moveTo>
                    <a:pt x="0" y="0"/>
                  </a:moveTo>
                  <a:lnTo>
                    <a:pt x="8961120" y="0"/>
                  </a:lnTo>
                  <a:lnTo>
                    <a:pt x="896112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1906" r="0" b="-331906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8961120" cy="495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09"/>
                </a:lnSpc>
              </a:pPr>
              <a:r>
                <a:rPr lang="en-US" sz="1425" i="true">
                  <a:solidFill>
                    <a:srgbClr val="50607A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Student Registration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0767060" y="7022592"/>
            <a:ext cx="6720840" cy="342900"/>
            <a:chOff x="0" y="0"/>
            <a:chExt cx="8961120" cy="4572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961120" cy="457200"/>
            </a:xfrm>
            <a:custGeom>
              <a:avLst/>
              <a:gdLst/>
              <a:ahLst/>
              <a:cxnLst/>
              <a:rect r="r" b="b" t="t" l="l"/>
              <a:pathLst>
                <a:path h="457200" w="8961120">
                  <a:moveTo>
                    <a:pt x="0" y="0"/>
                  </a:moveTo>
                  <a:lnTo>
                    <a:pt x="8961120" y="0"/>
                  </a:lnTo>
                  <a:lnTo>
                    <a:pt x="896112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1906" r="0" b="-331906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8961120" cy="495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09"/>
                </a:lnSpc>
              </a:pPr>
              <a:r>
                <a:rPr lang="en-US" sz="1425" i="true">
                  <a:solidFill>
                    <a:srgbClr val="50607A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Registered Students List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744855" y="7602855"/>
            <a:ext cx="16752570" cy="1802130"/>
            <a:chOff x="0" y="0"/>
            <a:chExt cx="22336760" cy="240284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2336761" cy="2402840"/>
            </a:xfrm>
            <a:custGeom>
              <a:avLst/>
              <a:gdLst/>
              <a:ahLst/>
              <a:cxnLst/>
              <a:rect r="r" b="b" t="t" l="l"/>
              <a:pathLst>
                <a:path h="2402840" w="22336761">
                  <a:moveTo>
                    <a:pt x="0" y="147828"/>
                  </a:moveTo>
                  <a:cubicBezTo>
                    <a:pt x="0" y="66167"/>
                    <a:pt x="66167" y="0"/>
                    <a:pt x="147828" y="0"/>
                  </a:cubicBezTo>
                  <a:lnTo>
                    <a:pt x="22188932" y="0"/>
                  </a:lnTo>
                  <a:cubicBezTo>
                    <a:pt x="22270594" y="0"/>
                    <a:pt x="22336761" y="66167"/>
                    <a:pt x="22336761" y="147828"/>
                  </a:cubicBezTo>
                  <a:lnTo>
                    <a:pt x="22336761" y="2255012"/>
                  </a:lnTo>
                  <a:cubicBezTo>
                    <a:pt x="22336761" y="2336673"/>
                    <a:pt x="22270594" y="2402840"/>
                    <a:pt x="22188932" y="2402840"/>
                  </a:cubicBezTo>
                  <a:lnTo>
                    <a:pt x="147828" y="2402840"/>
                  </a:lnTo>
                  <a:cubicBezTo>
                    <a:pt x="66167" y="2402840"/>
                    <a:pt x="0" y="2336673"/>
                    <a:pt x="0" y="2255012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CE5F0"/>
              </a:solidFill>
              <a:prstDash val="solid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1028700" y="7749540"/>
            <a:ext cx="10972800" cy="1508760"/>
            <a:chOff x="0" y="0"/>
            <a:chExt cx="14630400" cy="2011680"/>
          </a:xfrm>
        </p:grpSpPr>
        <p:sp>
          <p:nvSpPr>
            <p:cNvPr name="Freeform 32" id="32" descr="/home/claude/media/media/image5.png"/>
            <p:cNvSpPr/>
            <p:nvPr/>
          </p:nvSpPr>
          <p:spPr>
            <a:xfrm flipH="false" flipV="false" rot="0">
              <a:off x="0" y="0"/>
              <a:ext cx="14630400" cy="2011680"/>
            </a:xfrm>
            <a:custGeom>
              <a:avLst/>
              <a:gdLst/>
              <a:ahLst/>
              <a:cxnLst/>
              <a:rect r="r" b="b" t="t" l="l"/>
              <a:pathLst>
                <a:path h="201168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2011680"/>
                  </a:lnTo>
                  <a:lnTo>
                    <a:pt x="0" y="20116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88864" r="0" b="-88864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2893040" y="8023860"/>
            <a:ext cx="960120" cy="960120"/>
            <a:chOff x="0" y="0"/>
            <a:chExt cx="1280160" cy="128016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640080"/>
                  </a:moveTo>
                  <a:cubicBezTo>
                    <a:pt x="0" y="286512"/>
                    <a:pt x="286512" y="0"/>
                    <a:pt x="640080" y="0"/>
                  </a:cubicBezTo>
                  <a:cubicBezTo>
                    <a:pt x="993648" y="0"/>
                    <a:pt x="1280160" y="286512"/>
                    <a:pt x="1280160" y="640080"/>
                  </a:cubicBezTo>
                  <a:cubicBezTo>
                    <a:pt x="1280160" y="993648"/>
                    <a:pt x="993648" y="1280160"/>
                    <a:pt x="640080" y="1280160"/>
                  </a:cubicBezTo>
                  <a:cubicBezTo>
                    <a:pt x="286512" y="1280160"/>
                    <a:pt x="0" y="993648"/>
                    <a:pt x="0" y="640080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3142671" y="8273491"/>
            <a:ext cx="460858" cy="460858"/>
            <a:chOff x="0" y="0"/>
            <a:chExt cx="614477" cy="614477"/>
          </a:xfrm>
        </p:grpSpPr>
        <p:sp>
          <p:nvSpPr>
            <p:cNvPr name="Freeform 36" id="36" descr="/home/claude/ppt/icons/filecsv_white.png"/>
            <p:cNvSpPr/>
            <p:nvPr/>
          </p:nvSpPr>
          <p:spPr>
            <a:xfrm flipH="false" flipV="false" rot="0">
              <a:off x="0" y="0"/>
              <a:ext cx="614426" cy="614426"/>
            </a:xfrm>
            <a:custGeom>
              <a:avLst/>
              <a:gdLst/>
              <a:ahLst/>
              <a:cxnLst/>
              <a:rect r="r" b="b" t="t" l="l"/>
              <a:pathLst>
                <a:path h="614426" w="614426">
                  <a:moveTo>
                    <a:pt x="0" y="0"/>
                  </a:moveTo>
                  <a:lnTo>
                    <a:pt x="614426" y="0"/>
                  </a:lnTo>
                  <a:lnTo>
                    <a:pt x="614426" y="614426"/>
                  </a:lnTo>
                  <a:lnTo>
                    <a:pt x="0" y="6144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-8" b="-8"/>
              </a:stretch>
            </a:blip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3990320" y="8092440"/>
            <a:ext cx="3291840" cy="822960"/>
            <a:chOff x="0" y="0"/>
            <a:chExt cx="4389120" cy="109728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43891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940" r="0" b="-27940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4389120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 b="true">
                  <a:solidFill>
                    <a:srgbClr val="0B1E3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Attendance Records &amp; CSV Download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685800" y="9738360"/>
            <a:ext cx="9601200" cy="411480"/>
            <a:chOff x="0" y="0"/>
            <a:chExt cx="12801600" cy="54864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2801600" cy="548640"/>
            </a:xfrm>
            <a:custGeom>
              <a:avLst/>
              <a:gdLst/>
              <a:ahLst/>
              <a:cxnLst/>
              <a:rect r="r" b="b" t="t" l="l"/>
              <a:pathLst>
                <a:path h="548640" w="12801600">
                  <a:moveTo>
                    <a:pt x="0" y="0"/>
                  </a:moveTo>
                  <a:lnTo>
                    <a:pt x="12801600" y="0"/>
                  </a:lnTo>
                  <a:lnTo>
                    <a:pt x="128016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04650" r="0" b="-40465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19050"/>
              <a:ext cx="1280160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sz="1200" spc="150">
                  <a:solidFill>
                    <a:srgbClr val="9FB0C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SMART FACE ATTENDANCE &amp; ACCESS GATE SYSTEM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6915943" y="9738360"/>
            <a:ext cx="685800" cy="411480"/>
            <a:chOff x="0" y="0"/>
            <a:chExt cx="914400" cy="54864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9FB0C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10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85800"/>
            <a:ext cx="10972800" cy="480060"/>
            <a:chOff x="0" y="0"/>
            <a:chExt cx="146304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640080"/>
            </a:xfrm>
            <a:custGeom>
              <a:avLst/>
              <a:gdLst/>
              <a:ahLst/>
              <a:cxnLst/>
              <a:rect r="r" b="b" t="t" l="l"/>
              <a:pathLst>
                <a:path h="64008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95372" r="0" b="-39537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46304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300">
                  <a:solidFill>
                    <a:srgbClr val="22D3E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END-TO-END FLOW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1165860"/>
            <a:ext cx="15773400" cy="960120"/>
            <a:chOff x="0" y="0"/>
            <a:chExt cx="21031200" cy="12801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0312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0111" r="0" b="-270111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1031200" cy="1299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Data Flow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341082" y="2537460"/>
            <a:ext cx="1303020" cy="1303020"/>
            <a:chOff x="0" y="0"/>
            <a:chExt cx="1737360" cy="173736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737360" cy="1737360"/>
            </a:xfrm>
            <a:custGeom>
              <a:avLst/>
              <a:gdLst/>
              <a:ahLst/>
              <a:cxnLst/>
              <a:rect r="r" b="b" t="t" l="l"/>
              <a:pathLst>
                <a:path h="1737360" w="1737360">
                  <a:moveTo>
                    <a:pt x="0" y="868680"/>
                  </a:moveTo>
                  <a:cubicBezTo>
                    <a:pt x="0" y="388874"/>
                    <a:pt x="388874" y="0"/>
                    <a:pt x="868680" y="0"/>
                  </a:cubicBezTo>
                  <a:cubicBezTo>
                    <a:pt x="1348486" y="0"/>
                    <a:pt x="1737360" y="388874"/>
                    <a:pt x="1737360" y="868680"/>
                  </a:cubicBezTo>
                  <a:cubicBezTo>
                    <a:pt x="1737360" y="1348486"/>
                    <a:pt x="1348486" y="1737360"/>
                    <a:pt x="868680" y="1737360"/>
                  </a:cubicBezTo>
                  <a:cubicBezTo>
                    <a:pt x="388874" y="1737360"/>
                    <a:pt x="0" y="1348486"/>
                    <a:pt x="0" y="868680"/>
                  </a:cubicBezTo>
                  <a:close/>
                </a:path>
              </a:pathLst>
            </a:custGeom>
            <a:solidFill>
              <a:srgbClr val="22D3EE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679867" y="2876245"/>
            <a:ext cx="625450" cy="625450"/>
            <a:chOff x="0" y="0"/>
            <a:chExt cx="833933" cy="833933"/>
          </a:xfrm>
        </p:grpSpPr>
        <p:sp>
          <p:nvSpPr>
            <p:cNvPr name="Freeform 11" id="11" descr="/home/claude/ppt/icons/idbadge_navy.png"/>
            <p:cNvSpPr/>
            <p:nvPr/>
          </p:nvSpPr>
          <p:spPr>
            <a:xfrm flipH="false" flipV="false" rot="0">
              <a:off x="0" y="0"/>
              <a:ext cx="833882" cy="833882"/>
            </a:xfrm>
            <a:custGeom>
              <a:avLst/>
              <a:gdLst/>
              <a:ahLst/>
              <a:cxnLst/>
              <a:rect r="r" b="b" t="t" l="l"/>
              <a:pathLst>
                <a:path h="833882" w="833882">
                  <a:moveTo>
                    <a:pt x="0" y="0"/>
                  </a:moveTo>
                  <a:lnTo>
                    <a:pt x="833882" y="0"/>
                  </a:lnTo>
                  <a:lnTo>
                    <a:pt x="833882" y="833882"/>
                  </a:lnTo>
                  <a:lnTo>
                    <a:pt x="0" y="8338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6" b="-6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685800" y="3977640"/>
            <a:ext cx="2613584" cy="754380"/>
            <a:chOff x="0" y="0"/>
            <a:chExt cx="3484778" cy="10058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484778" cy="1005840"/>
            </a:xfrm>
            <a:custGeom>
              <a:avLst/>
              <a:gdLst/>
              <a:ahLst/>
              <a:cxnLst/>
              <a:rect r="r" b="b" t="t" l="l"/>
              <a:pathLst>
                <a:path h="1005840" w="3484778">
                  <a:moveTo>
                    <a:pt x="0" y="0"/>
                  </a:moveTo>
                  <a:lnTo>
                    <a:pt x="3484778" y="0"/>
                  </a:lnTo>
                  <a:lnTo>
                    <a:pt x="3484778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506" r="0" b="-17506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3484778" cy="10344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4"/>
                </a:lnSpc>
              </a:pPr>
              <a:r>
                <a:rPr lang="en-US" sz="157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Student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3244520" y="3106674"/>
            <a:ext cx="356616" cy="301752"/>
            <a:chOff x="0" y="0"/>
            <a:chExt cx="475488" cy="40233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75488" cy="402336"/>
            </a:xfrm>
            <a:custGeom>
              <a:avLst/>
              <a:gdLst/>
              <a:ahLst/>
              <a:cxnLst/>
              <a:rect r="r" b="b" t="t" l="l"/>
              <a:pathLst>
                <a:path h="402336" w="475488">
                  <a:moveTo>
                    <a:pt x="0" y="100584"/>
                  </a:moveTo>
                  <a:lnTo>
                    <a:pt x="274320" y="100584"/>
                  </a:lnTo>
                  <a:lnTo>
                    <a:pt x="274320" y="0"/>
                  </a:lnTo>
                  <a:lnTo>
                    <a:pt x="475488" y="201168"/>
                  </a:lnTo>
                  <a:lnTo>
                    <a:pt x="274320" y="402336"/>
                  </a:lnTo>
                  <a:lnTo>
                    <a:pt x="274320" y="301752"/>
                  </a:lnTo>
                  <a:lnTo>
                    <a:pt x="0" y="301752"/>
                  </a:lnTo>
                  <a:close/>
                </a:path>
              </a:pathLst>
            </a:custGeom>
            <a:solidFill>
              <a:srgbClr val="5B7CA6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4201554" y="2537460"/>
            <a:ext cx="1303020" cy="1303020"/>
            <a:chOff x="0" y="0"/>
            <a:chExt cx="1737360" cy="173736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737360" cy="1737360"/>
            </a:xfrm>
            <a:custGeom>
              <a:avLst/>
              <a:gdLst/>
              <a:ahLst/>
              <a:cxnLst/>
              <a:rect r="r" b="b" t="t" l="l"/>
              <a:pathLst>
                <a:path h="1737360" w="1737360">
                  <a:moveTo>
                    <a:pt x="0" y="868680"/>
                  </a:moveTo>
                  <a:cubicBezTo>
                    <a:pt x="0" y="388874"/>
                    <a:pt x="388874" y="0"/>
                    <a:pt x="868680" y="0"/>
                  </a:cubicBezTo>
                  <a:cubicBezTo>
                    <a:pt x="1348486" y="0"/>
                    <a:pt x="1737360" y="388874"/>
                    <a:pt x="1737360" y="868680"/>
                  </a:cubicBezTo>
                  <a:cubicBezTo>
                    <a:pt x="1737360" y="1348486"/>
                    <a:pt x="1348486" y="1737360"/>
                    <a:pt x="868680" y="1737360"/>
                  </a:cubicBezTo>
                  <a:cubicBezTo>
                    <a:pt x="388874" y="1737360"/>
                    <a:pt x="0" y="1348486"/>
                    <a:pt x="0" y="868680"/>
                  </a:cubicBezTo>
                  <a:close/>
                </a:path>
              </a:pathLst>
            </a:custGeom>
            <a:solidFill>
              <a:srgbClr val="22D3EE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4540339" y="2876245"/>
            <a:ext cx="625450" cy="625450"/>
            <a:chOff x="0" y="0"/>
            <a:chExt cx="833933" cy="833933"/>
          </a:xfrm>
        </p:grpSpPr>
        <p:sp>
          <p:nvSpPr>
            <p:cNvPr name="Freeform 20" id="20" descr="/home/claude/ppt/icons/camera_navy.png"/>
            <p:cNvSpPr/>
            <p:nvPr/>
          </p:nvSpPr>
          <p:spPr>
            <a:xfrm flipH="false" flipV="false" rot="0">
              <a:off x="0" y="0"/>
              <a:ext cx="833882" cy="833882"/>
            </a:xfrm>
            <a:custGeom>
              <a:avLst/>
              <a:gdLst/>
              <a:ahLst/>
              <a:cxnLst/>
              <a:rect r="r" b="b" t="t" l="l"/>
              <a:pathLst>
                <a:path h="833882" w="833882">
                  <a:moveTo>
                    <a:pt x="0" y="0"/>
                  </a:moveTo>
                  <a:lnTo>
                    <a:pt x="833882" y="0"/>
                  </a:lnTo>
                  <a:lnTo>
                    <a:pt x="833882" y="833882"/>
                  </a:lnTo>
                  <a:lnTo>
                    <a:pt x="0" y="8338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6" b="-6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3546272" y="3977640"/>
            <a:ext cx="2613584" cy="754380"/>
            <a:chOff x="0" y="0"/>
            <a:chExt cx="3484778" cy="100584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484778" cy="1005840"/>
            </a:xfrm>
            <a:custGeom>
              <a:avLst/>
              <a:gdLst/>
              <a:ahLst/>
              <a:cxnLst/>
              <a:rect r="r" b="b" t="t" l="l"/>
              <a:pathLst>
                <a:path h="1005840" w="3484778">
                  <a:moveTo>
                    <a:pt x="0" y="0"/>
                  </a:moveTo>
                  <a:lnTo>
                    <a:pt x="3484778" y="0"/>
                  </a:lnTo>
                  <a:lnTo>
                    <a:pt x="3484778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506" r="0" b="-17506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28575"/>
              <a:ext cx="3484778" cy="10344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4"/>
                </a:lnSpc>
              </a:pPr>
              <a:r>
                <a:rPr lang="en-US" sz="157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Webcam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6104992" y="3106674"/>
            <a:ext cx="356616" cy="301752"/>
            <a:chOff x="0" y="0"/>
            <a:chExt cx="475488" cy="402336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75488" cy="402336"/>
            </a:xfrm>
            <a:custGeom>
              <a:avLst/>
              <a:gdLst/>
              <a:ahLst/>
              <a:cxnLst/>
              <a:rect r="r" b="b" t="t" l="l"/>
              <a:pathLst>
                <a:path h="402336" w="475488">
                  <a:moveTo>
                    <a:pt x="0" y="100584"/>
                  </a:moveTo>
                  <a:lnTo>
                    <a:pt x="274320" y="100584"/>
                  </a:lnTo>
                  <a:lnTo>
                    <a:pt x="274320" y="0"/>
                  </a:lnTo>
                  <a:lnTo>
                    <a:pt x="475488" y="201168"/>
                  </a:lnTo>
                  <a:lnTo>
                    <a:pt x="274320" y="402336"/>
                  </a:lnTo>
                  <a:lnTo>
                    <a:pt x="274320" y="301752"/>
                  </a:lnTo>
                  <a:lnTo>
                    <a:pt x="0" y="301752"/>
                  </a:lnTo>
                  <a:close/>
                </a:path>
              </a:pathLst>
            </a:custGeom>
            <a:solidFill>
              <a:srgbClr val="5B7CA6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7062025" y="2537460"/>
            <a:ext cx="1303020" cy="1303020"/>
            <a:chOff x="0" y="0"/>
            <a:chExt cx="1737360" cy="173736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737360" cy="1737360"/>
            </a:xfrm>
            <a:custGeom>
              <a:avLst/>
              <a:gdLst/>
              <a:ahLst/>
              <a:cxnLst/>
              <a:rect r="r" b="b" t="t" l="l"/>
              <a:pathLst>
                <a:path h="1737360" w="1737360">
                  <a:moveTo>
                    <a:pt x="0" y="868680"/>
                  </a:moveTo>
                  <a:cubicBezTo>
                    <a:pt x="0" y="388874"/>
                    <a:pt x="388874" y="0"/>
                    <a:pt x="868680" y="0"/>
                  </a:cubicBezTo>
                  <a:cubicBezTo>
                    <a:pt x="1348486" y="0"/>
                    <a:pt x="1737360" y="388874"/>
                    <a:pt x="1737360" y="868680"/>
                  </a:cubicBezTo>
                  <a:cubicBezTo>
                    <a:pt x="1737360" y="1348486"/>
                    <a:pt x="1348486" y="1737360"/>
                    <a:pt x="868680" y="1737360"/>
                  </a:cubicBezTo>
                  <a:cubicBezTo>
                    <a:pt x="388874" y="1737360"/>
                    <a:pt x="0" y="1348486"/>
                    <a:pt x="0" y="868680"/>
                  </a:cubicBezTo>
                  <a:close/>
                </a:path>
              </a:pathLst>
            </a:custGeom>
            <a:solidFill>
              <a:srgbClr val="22D3EE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7400811" y="2876245"/>
            <a:ext cx="625450" cy="625450"/>
            <a:chOff x="0" y="0"/>
            <a:chExt cx="833933" cy="833933"/>
          </a:xfrm>
        </p:grpSpPr>
        <p:sp>
          <p:nvSpPr>
            <p:cNvPr name="Freeform 29" id="29" descr="/home/claude/ppt/icons/code_navy.png"/>
            <p:cNvSpPr/>
            <p:nvPr/>
          </p:nvSpPr>
          <p:spPr>
            <a:xfrm flipH="false" flipV="false" rot="0">
              <a:off x="0" y="0"/>
              <a:ext cx="833882" cy="833882"/>
            </a:xfrm>
            <a:custGeom>
              <a:avLst/>
              <a:gdLst/>
              <a:ahLst/>
              <a:cxnLst/>
              <a:rect r="r" b="b" t="t" l="l"/>
              <a:pathLst>
                <a:path h="833882" w="833882">
                  <a:moveTo>
                    <a:pt x="0" y="0"/>
                  </a:moveTo>
                  <a:lnTo>
                    <a:pt x="833882" y="0"/>
                  </a:lnTo>
                  <a:lnTo>
                    <a:pt x="833882" y="833882"/>
                  </a:lnTo>
                  <a:lnTo>
                    <a:pt x="0" y="8338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6" b="-6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6406744" y="3977640"/>
            <a:ext cx="2613584" cy="754380"/>
            <a:chOff x="0" y="0"/>
            <a:chExt cx="3484778" cy="100584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3484778" cy="1005840"/>
            </a:xfrm>
            <a:custGeom>
              <a:avLst/>
              <a:gdLst/>
              <a:ahLst/>
              <a:cxnLst/>
              <a:rect r="r" b="b" t="t" l="l"/>
              <a:pathLst>
                <a:path h="1005840" w="3484778">
                  <a:moveTo>
                    <a:pt x="0" y="0"/>
                  </a:moveTo>
                  <a:lnTo>
                    <a:pt x="3484778" y="0"/>
                  </a:lnTo>
                  <a:lnTo>
                    <a:pt x="3484778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506" r="0" b="-17506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28575"/>
              <a:ext cx="3484778" cy="10344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4"/>
                </a:lnSpc>
              </a:pPr>
              <a:r>
                <a:rPr lang="en-US" sz="157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Python /</a:t>
              </a:r>
            </a:p>
            <a:p>
              <a:pPr algn="ctr">
                <a:lnSpc>
                  <a:spcPts val="1984"/>
                </a:lnSpc>
              </a:pPr>
              <a:r>
                <a:rPr lang="en-US" sz="157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FastAPI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8965463" y="3106674"/>
            <a:ext cx="356616" cy="301752"/>
            <a:chOff x="0" y="0"/>
            <a:chExt cx="475488" cy="402336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475488" cy="402336"/>
            </a:xfrm>
            <a:custGeom>
              <a:avLst/>
              <a:gdLst/>
              <a:ahLst/>
              <a:cxnLst/>
              <a:rect r="r" b="b" t="t" l="l"/>
              <a:pathLst>
                <a:path h="402336" w="475488">
                  <a:moveTo>
                    <a:pt x="0" y="100584"/>
                  </a:moveTo>
                  <a:lnTo>
                    <a:pt x="274320" y="100584"/>
                  </a:lnTo>
                  <a:lnTo>
                    <a:pt x="274320" y="0"/>
                  </a:lnTo>
                  <a:lnTo>
                    <a:pt x="475488" y="201168"/>
                  </a:lnTo>
                  <a:lnTo>
                    <a:pt x="274320" y="402336"/>
                  </a:lnTo>
                  <a:lnTo>
                    <a:pt x="274320" y="301752"/>
                  </a:lnTo>
                  <a:lnTo>
                    <a:pt x="0" y="301752"/>
                  </a:lnTo>
                  <a:close/>
                </a:path>
              </a:pathLst>
            </a:custGeom>
            <a:solidFill>
              <a:srgbClr val="5B7CA6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9922497" y="2537460"/>
            <a:ext cx="1303020" cy="1303020"/>
            <a:chOff x="0" y="0"/>
            <a:chExt cx="1737360" cy="173736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737360" cy="1737360"/>
            </a:xfrm>
            <a:custGeom>
              <a:avLst/>
              <a:gdLst/>
              <a:ahLst/>
              <a:cxnLst/>
              <a:rect r="r" b="b" t="t" l="l"/>
              <a:pathLst>
                <a:path h="1737360" w="1737360">
                  <a:moveTo>
                    <a:pt x="0" y="868680"/>
                  </a:moveTo>
                  <a:cubicBezTo>
                    <a:pt x="0" y="388874"/>
                    <a:pt x="388874" y="0"/>
                    <a:pt x="868680" y="0"/>
                  </a:cubicBezTo>
                  <a:cubicBezTo>
                    <a:pt x="1348486" y="0"/>
                    <a:pt x="1737360" y="388874"/>
                    <a:pt x="1737360" y="868680"/>
                  </a:cubicBezTo>
                  <a:cubicBezTo>
                    <a:pt x="1737360" y="1348486"/>
                    <a:pt x="1348486" y="1737360"/>
                    <a:pt x="868680" y="1737360"/>
                  </a:cubicBezTo>
                  <a:cubicBezTo>
                    <a:pt x="388874" y="1737360"/>
                    <a:pt x="0" y="1348486"/>
                    <a:pt x="0" y="868680"/>
                  </a:cubicBezTo>
                  <a:close/>
                </a:path>
              </a:pathLst>
            </a:custGeom>
            <a:solidFill>
              <a:srgbClr val="22D3EE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0261282" y="2876245"/>
            <a:ext cx="625450" cy="625450"/>
            <a:chOff x="0" y="0"/>
            <a:chExt cx="833933" cy="833933"/>
          </a:xfrm>
        </p:grpSpPr>
        <p:sp>
          <p:nvSpPr>
            <p:cNvPr name="Freeform 38" id="38" descr="/home/claude/ppt/icons/eye_navy.png"/>
            <p:cNvSpPr/>
            <p:nvPr/>
          </p:nvSpPr>
          <p:spPr>
            <a:xfrm flipH="false" flipV="false" rot="0">
              <a:off x="0" y="0"/>
              <a:ext cx="833882" cy="833882"/>
            </a:xfrm>
            <a:custGeom>
              <a:avLst/>
              <a:gdLst/>
              <a:ahLst/>
              <a:cxnLst/>
              <a:rect r="r" b="b" t="t" l="l"/>
              <a:pathLst>
                <a:path h="833882" w="833882">
                  <a:moveTo>
                    <a:pt x="0" y="0"/>
                  </a:moveTo>
                  <a:lnTo>
                    <a:pt x="833882" y="0"/>
                  </a:lnTo>
                  <a:lnTo>
                    <a:pt x="833882" y="833882"/>
                  </a:lnTo>
                  <a:lnTo>
                    <a:pt x="0" y="8338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-6" b="-6"/>
              </a:stretch>
            </a:blip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9267215" y="3977640"/>
            <a:ext cx="2613584" cy="754380"/>
            <a:chOff x="0" y="0"/>
            <a:chExt cx="3484778" cy="100584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3484778" cy="1005840"/>
            </a:xfrm>
            <a:custGeom>
              <a:avLst/>
              <a:gdLst/>
              <a:ahLst/>
              <a:cxnLst/>
              <a:rect r="r" b="b" t="t" l="l"/>
              <a:pathLst>
                <a:path h="1005840" w="3484778">
                  <a:moveTo>
                    <a:pt x="0" y="0"/>
                  </a:moveTo>
                  <a:lnTo>
                    <a:pt x="3484778" y="0"/>
                  </a:lnTo>
                  <a:lnTo>
                    <a:pt x="3484778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506" r="0" b="-17506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28575"/>
              <a:ext cx="3484778" cy="10344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4"/>
                </a:lnSpc>
              </a:pPr>
              <a:r>
                <a:rPr lang="en-US" sz="157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OpenCV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1825935" y="3106674"/>
            <a:ext cx="356616" cy="301752"/>
            <a:chOff x="0" y="0"/>
            <a:chExt cx="475488" cy="402336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475488" cy="402336"/>
            </a:xfrm>
            <a:custGeom>
              <a:avLst/>
              <a:gdLst/>
              <a:ahLst/>
              <a:cxnLst/>
              <a:rect r="r" b="b" t="t" l="l"/>
              <a:pathLst>
                <a:path h="402336" w="475488">
                  <a:moveTo>
                    <a:pt x="0" y="100584"/>
                  </a:moveTo>
                  <a:lnTo>
                    <a:pt x="274320" y="100584"/>
                  </a:lnTo>
                  <a:lnTo>
                    <a:pt x="274320" y="0"/>
                  </a:lnTo>
                  <a:lnTo>
                    <a:pt x="475488" y="201168"/>
                  </a:lnTo>
                  <a:lnTo>
                    <a:pt x="274320" y="402336"/>
                  </a:lnTo>
                  <a:lnTo>
                    <a:pt x="274320" y="301752"/>
                  </a:lnTo>
                  <a:lnTo>
                    <a:pt x="0" y="301752"/>
                  </a:lnTo>
                  <a:close/>
                </a:path>
              </a:pathLst>
            </a:custGeom>
            <a:solidFill>
              <a:srgbClr val="5B7CA6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2782969" y="2537460"/>
            <a:ext cx="1303020" cy="1303020"/>
            <a:chOff x="0" y="0"/>
            <a:chExt cx="1737360" cy="173736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737360" cy="1737360"/>
            </a:xfrm>
            <a:custGeom>
              <a:avLst/>
              <a:gdLst/>
              <a:ahLst/>
              <a:cxnLst/>
              <a:rect r="r" b="b" t="t" l="l"/>
              <a:pathLst>
                <a:path h="1737360" w="1737360">
                  <a:moveTo>
                    <a:pt x="0" y="868680"/>
                  </a:moveTo>
                  <a:cubicBezTo>
                    <a:pt x="0" y="388874"/>
                    <a:pt x="388874" y="0"/>
                    <a:pt x="868680" y="0"/>
                  </a:cubicBezTo>
                  <a:cubicBezTo>
                    <a:pt x="1348486" y="0"/>
                    <a:pt x="1737360" y="388874"/>
                    <a:pt x="1737360" y="868680"/>
                  </a:cubicBezTo>
                  <a:cubicBezTo>
                    <a:pt x="1737360" y="1348486"/>
                    <a:pt x="1348486" y="1737360"/>
                    <a:pt x="868680" y="1737360"/>
                  </a:cubicBezTo>
                  <a:cubicBezTo>
                    <a:pt x="388874" y="1737360"/>
                    <a:pt x="0" y="1348486"/>
                    <a:pt x="0" y="868680"/>
                  </a:cubicBezTo>
                  <a:close/>
                </a:path>
              </a:pathLst>
            </a:custGeom>
            <a:solidFill>
              <a:srgbClr val="22D3EE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3121754" y="2876245"/>
            <a:ext cx="625450" cy="625450"/>
            <a:chOff x="0" y="0"/>
            <a:chExt cx="833933" cy="833933"/>
          </a:xfrm>
        </p:grpSpPr>
        <p:sp>
          <p:nvSpPr>
            <p:cNvPr name="Freeform 47" id="47" descr="/home/claude/ppt/icons/fingerprint_navy.png"/>
            <p:cNvSpPr/>
            <p:nvPr/>
          </p:nvSpPr>
          <p:spPr>
            <a:xfrm flipH="false" flipV="false" rot="0">
              <a:off x="0" y="0"/>
              <a:ext cx="833882" cy="833882"/>
            </a:xfrm>
            <a:custGeom>
              <a:avLst/>
              <a:gdLst/>
              <a:ahLst/>
              <a:cxnLst/>
              <a:rect r="r" b="b" t="t" l="l"/>
              <a:pathLst>
                <a:path h="833882" w="833882">
                  <a:moveTo>
                    <a:pt x="0" y="0"/>
                  </a:moveTo>
                  <a:lnTo>
                    <a:pt x="833882" y="0"/>
                  </a:lnTo>
                  <a:lnTo>
                    <a:pt x="833882" y="833882"/>
                  </a:lnTo>
                  <a:lnTo>
                    <a:pt x="0" y="8338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-6" b="-6"/>
              </a:stretch>
            </a:blip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12127687" y="3977640"/>
            <a:ext cx="2613584" cy="754380"/>
            <a:chOff x="0" y="0"/>
            <a:chExt cx="3484778" cy="100584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3484778" cy="1005840"/>
            </a:xfrm>
            <a:custGeom>
              <a:avLst/>
              <a:gdLst/>
              <a:ahLst/>
              <a:cxnLst/>
              <a:rect r="r" b="b" t="t" l="l"/>
              <a:pathLst>
                <a:path h="1005840" w="3484778">
                  <a:moveTo>
                    <a:pt x="0" y="0"/>
                  </a:moveTo>
                  <a:lnTo>
                    <a:pt x="3484778" y="0"/>
                  </a:lnTo>
                  <a:lnTo>
                    <a:pt x="3484778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506" r="0" b="-17506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28575"/>
              <a:ext cx="3484778" cy="10344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4"/>
                </a:lnSpc>
              </a:pPr>
              <a:r>
                <a:rPr lang="en-US" sz="157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InsightFace /</a:t>
              </a:r>
            </a:p>
            <a:p>
              <a:pPr algn="ctr">
                <a:lnSpc>
                  <a:spcPts val="1984"/>
                </a:lnSpc>
              </a:pPr>
              <a:r>
                <a:rPr lang="en-US" sz="157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ONNX Runtime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4686407" y="3106674"/>
            <a:ext cx="356616" cy="301752"/>
            <a:chOff x="0" y="0"/>
            <a:chExt cx="475488" cy="402336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475488" cy="402336"/>
            </a:xfrm>
            <a:custGeom>
              <a:avLst/>
              <a:gdLst/>
              <a:ahLst/>
              <a:cxnLst/>
              <a:rect r="r" b="b" t="t" l="l"/>
              <a:pathLst>
                <a:path h="402336" w="475488">
                  <a:moveTo>
                    <a:pt x="0" y="100584"/>
                  </a:moveTo>
                  <a:lnTo>
                    <a:pt x="274320" y="100584"/>
                  </a:lnTo>
                  <a:lnTo>
                    <a:pt x="274320" y="0"/>
                  </a:lnTo>
                  <a:lnTo>
                    <a:pt x="475488" y="201168"/>
                  </a:lnTo>
                  <a:lnTo>
                    <a:pt x="274320" y="402336"/>
                  </a:lnTo>
                  <a:lnTo>
                    <a:pt x="274320" y="301752"/>
                  </a:lnTo>
                  <a:lnTo>
                    <a:pt x="0" y="301752"/>
                  </a:lnTo>
                  <a:close/>
                </a:path>
              </a:pathLst>
            </a:custGeom>
            <a:solidFill>
              <a:srgbClr val="5B7CA6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15643441" y="2537460"/>
            <a:ext cx="1303020" cy="1303020"/>
            <a:chOff x="0" y="0"/>
            <a:chExt cx="1737360" cy="173736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737360" cy="1737360"/>
            </a:xfrm>
            <a:custGeom>
              <a:avLst/>
              <a:gdLst/>
              <a:ahLst/>
              <a:cxnLst/>
              <a:rect r="r" b="b" t="t" l="l"/>
              <a:pathLst>
                <a:path h="1737360" w="1737360">
                  <a:moveTo>
                    <a:pt x="0" y="868680"/>
                  </a:moveTo>
                  <a:cubicBezTo>
                    <a:pt x="0" y="388874"/>
                    <a:pt x="388874" y="0"/>
                    <a:pt x="868680" y="0"/>
                  </a:cubicBezTo>
                  <a:cubicBezTo>
                    <a:pt x="1348486" y="0"/>
                    <a:pt x="1737360" y="388874"/>
                    <a:pt x="1737360" y="868680"/>
                  </a:cubicBezTo>
                  <a:cubicBezTo>
                    <a:pt x="1737360" y="1348486"/>
                    <a:pt x="1348486" y="1737360"/>
                    <a:pt x="868680" y="1737360"/>
                  </a:cubicBezTo>
                  <a:cubicBezTo>
                    <a:pt x="388874" y="1737360"/>
                    <a:pt x="0" y="1348486"/>
                    <a:pt x="0" y="868680"/>
                  </a:cubicBezTo>
                  <a:close/>
                </a:path>
              </a:pathLst>
            </a:custGeom>
            <a:solidFill>
              <a:srgbClr val="22D3EE"/>
            </a:solid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15982226" y="2876245"/>
            <a:ext cx="625450" cy="625450"/>
            <a:chOff x="0" y="0"/>
            <a:chExt cx="833933" cy="833933"/>
          </a:xfrm>
        </p:grpSpPr>
        <p:sp>
          <p:nvSpPr>
            <p:cNvPr name="Freeform 56" id="56" descr="/home/claude/ppt/icons/cube_navy.png"/>
            <p:cNvSpPr/>
            <p:nvPr/>
          </p:nvSpPr>
          <p:spPr>
            <a:xfrm flipH="false" flipV="false" rot="0">
              <a:off x="0" y="0"/>
              <a:ext cx="833882" cy="833882"/>
            </a:xfrm>
            <a:custGeom>
              <a:avLst/>
              <a:gdLst/>
              <a:ahLst/>
              <a:cxnLst/>
              <a:rect r="r" b="b" t="t" l="l"/>
              <a:pathLst>
                <a:path h="833882" w="833882">
                  <a:moveTo>
                    <a:pt x="0" y="0"/>
                  </a:moveTo>
                  <a:lnTo>
                    <a:pt x="833882" y="0"/>
                  </a:lnTo>
                  <a:lnTo>
                    <a:pt x="833882" y="833882"/>
                  </a:lnTo>
                  <a:lnTo>
                    <a:pt x="0" y="8338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-6" b="-6"/>
              </a:stretch>
            </a:blip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14988159" y="3977640"/>
            <a:ext cx="2613584" cy="754380"/>
            <a:chOff x="0" y="0"/>
            <a:chExt cx="3484778" cy="100584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3484778" cy="1005840"/>
            </a:xfrm>
            <a:custGeom>
              <a:avLst/>
              <a:gdLst/>
              <a:ahLst/>
              <a:cxnLst/>
              <a:rect r="r" b="b" t="t" l="l"/>
              <a:pathLst>
                <a:path h="1005840" w="3484778">
                  <a:moveTo>
                    <a:pt x="0" y="0"/>
                  </a:moveTo>
                  <a:lnTo>
                    <a:pt x="3484778" y="0"/>
                  </a:lnTo>
                  <a:lnTo>
                    <a:pt x="3484778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506" r="0" b="-17506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28575"/>
              <a:ext cx="3484778" cy="10344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4"/>
                </a:lnSpc>
              </a:pPr>
              <a:r>
                <a:rPr lang="en-US" sz="157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Face</a:t>
              </a:r>
            </a:p>
            <a:p>
              <a:pPr algn="ctr">
                <a:lnSpc>
                  <a:spcPts val="1984"/>
                </a:lnSpc>
              </a:pPr>
              <a:r>
                <a:rPr lang="en-US" sz="157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Embedding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1341082" y="5692140"/>
            <a:ext cx="1303020" cy="1303020"/>
            <a:chOff x="0" y="0"/>
            <a:chExt cx="1737360" cy="173736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1737360" cy="1737360"/>
            </a:xfrm>
            <a:custGeom>
              <a:avLst/>
              <a:gdLst/>
              <a:ahLst/>
              <a:cxnLst/>
              <a:rect r="r" b="b" t="t" l="l"/>
              <a:pathLst>
                <a:path h="1737360" w="1737360">
                  <a:moveTo>
                    <a:pt x="0" y="868680"/>
                  </a:moveTo>
                  <a:cubicBezTo>
                    <a:pt x="0" y="388874"/>
                    <a:pt x="388874" y="0"/>
                    <a:pt x="868680" y="0"/>
                  </a:cubicBezTo>
                  <a:cubicBezTo>
                    <a:pt x="1348486" y="0"/>
                    <a:pt x="1737360" y="388874"/>
                    <a:pt x="1737360" y="868680"/>
                  </a:cubicBezTo>
                  <a:cubicBezTo>
                    <a:pt x="1737360" y="1348486"/>
                    <a:pt x="1348486" y="1737360"/>
                    <a:pt x="868680" y="1737360"/>
                  </a:cubicBezTo>
                  <a:cubicBezTo>
                    <a:pt x="388874" y="1737360"/>
                    <a:pt x="0" y="1348486"/>
                    <a:pt x="0" y="868680"/>
                  </a:cubicBezTo>
                  <a:close/>
                </a:path>
              </a:pathLst>
            </a:custGeom>
            <a:solidFill>
              <a:srgbClr val="22D3EE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1679867" y="6030925"/>
            <a:ext cx="625450" cy="625450"/>
            <a:chOff x="0" y="0"/>
            <a:chExt cx="833933" cy="833933"/>
          </a:xfrm>
        </p:grpSpPr>
        <p:sp>
          <p:nvSpPr>
            <p:cNvPr name="Freeform 63" id="63" descr="/home/claude/ppt/icons/gauge_navy.png"/>
            <p:cNvSpPr/>
            <p:nvPr/>
          </p:nvSpPr>
          <p:spPr>
            <a:xfrm flipH="false" flipV="false" rot="0">
              <a:off x="0" y="0"/>
              <a:ext cx="833882" cy="833882"/>
            </a:xfrm>
            <a:custGeom>
              <a:avLst/>
              <a:gdLst/>
              <a:ahLst/>
              <a:cxnLst/>
              <a:rect r="r" b="b" t="t" l="l"/>
              <a:pathLst>
                <a:path h="833882" w="833882">
                  <a:moveTo>
                    <a:pt x="0" y="0"/>
                  </a:moveTo>
                  <a:lnTo>
                    <a:pt x="833882" y="0"/>
                  </a:lnTo>
                  <a:lnTo>
                    <a:pt x="833882" y="833882"/>
                  </a:lnTo>
                  <a:lnTo>
                    <a:pt x="0" y="8338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-6" b="-6"/>
              </a:stretch>
            </a:blip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685800" y="7132320"/>
            <a:ext cx="2613584" cy="754380"/>
            <a:chOff x="0" y="0"/>
            <a:chExt cx="3484778" cy="100584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3484778" cy="1005840"/>
            </a:xfrm>
            <a:custGeom>
              <a:avLst/>
              <a:gdLst/>
              <a:ahLst/>
              <a:cxnLst/>
              <a:rect r="r" b="b" t="t" l="l"/>
              <a:pathLst>
                <a:path h="1005840" w="3484778">
                  <a:moveTo>
                    <a:pt x="0" y="0"/>
                  </a:moveTo>
                  <a:lnTo>
                    <a:pt x="3484778" y="0"/>
                  </a:lnTo>
                  <a:lnTo>
                    <a:pt x="3484778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506" r="0" b="-17506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28575"/>
              <a:ext cx="3484778" cy="10344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4"/>
                </a:lnSpc>
              </a:pPr>
              <a:r>
                <a:rPr lang="en-US" sz="157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Similarity</a:t>
              </a:r>
            </a:p>
            <a:p>
              <a:pPr algn="ctr">
                <a:lnSpc>
                  <a:spcPts val="1984"/>
                </a:lnSpc>
              </a:pPr>
              <a:r>
                <a:rPr lang="en-US" sz="157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Matching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3244520" y="6261354"/>
            <a:ext cx="356616" cy="301752"/>
            <a:chOff x="0" y="0"/>
            <a:chExt cx="475488" cy="402336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475488" cy="402336"/>
            </a:xfrm>
            <a:custGeom>
              <a:avLst/>
              <a:gdLst/>
              <a:ahLst/>
              <a:cxnLst/>
              <a:rect r="r" b="b" t="t" l="l"/>
              <a:pathLst>
                <a:path h="402336" w="475488">
                  <a:moveTo>
                    <a:pt x="0" y="100584"/>
                  </a:moveTo>
                  <a:lnTo>
                    <a:pt x="274320" y="100584"/>
                  </a:lnTo>
                  <a:lnTo>
                    <a:pt x="274320" y="0"/>
                  </a:lnTo>
                  <a:lnTo>
                    <a:pt x="475488" y="201168"/>
                  </a:lnTo>
                  <a:lnTo>
                    <a:pt x="274320" y="402336"/>
                  </a:lnTo>
                  <a:lnTo>
                    <a:pt x="274320" y="301752"/>
                  </a:lnTo>
                  <a:lnTo>
                    <a:pt x="0" y="301752"/>
                  </a:lnTo>
                  <a:close/>
                </a:path>
              </a:pathLst>
            </a:custGeom>
            <a:solidFill>
              <a:srgbClr val="5B7CA6"/>
            </a:solidFill>
          </p:spPr>
        </p:sp>
      </p:grpSp>
      <p:grpSp>
        <p:nvGrpSpPr>
          <p:cNvPr name="Group 69" id="69"/>
          <p:cNvGrpSpPr/>
          <p:nvPr/>
        </p:nvGrpSpPr>
        <p:grpSpPr>
          <a:xfrm rot="0">
            <a:off x="4201554" y="5692140"/>
            <a:ext cx="1303020" cy="1303020"/>
            <a:chOff x="0" y="0"/>
            <a:chExt cx="1737360" cy="173736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1737360" cy="1737360"/>
            </a:xfrm>
            <a:custGeom>
              <a:avLst/>
              <a:gdLst/>
              <a:ahLst/>
              <a:cxnLst/>
              <a:rect r="r" b="b" t="t" l="l"/>
              <a:pathLst>
                <a:path h="1737360" w="1737360">
                  <a:moveTo>
                    <a:pt x="0" y="868680"/>
                  </a:moveTo>
                  <a:cubicBezTo>
                    <a:pt x="0" y="388874"/>
                    <a:pt x="388874" y="0"/>
                    <a:pt x="868680" y="0"/>
                  </a:cubicBezTo>
                  <a:cubicBezTo>
                    <a:pt x="1348486" y="0"/>
                    <a:pt x="1737360" y="388874"/>
                    <a:pt x="1737360" y="868680"/>
                  </a:cubicBezTo>
                  <a:cubicBezTo>
                    <a:pt x="1737360" y="1348486"/>
                    <a:pt x="1348486" y="1737360"/>
                    <a:pt x="868680" y="1737360"/>
                  </a:cubicBezTo>
                  <a:cubicBezTo>
                    <a:pt x="388874" y="1737360"/>
                    <a:pt x="0" y="1348486"/>
                    <a:pt x="0" y="868680"/>
                  </a:cubicBezTo>
                  <a:close/>
                </a:path>
              </a:pathLst>
            </a:custGeom>
            <a:solidFill>
              <a:srgbClr val="22D3EE"/>
            </a:solid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4540339" y="6030925"/>
            <a:ext cx="625450" cy="625450"/>
            <a:chOff x="0" y="0"/>
            <a:chExt cx="833933" cy="833933"/>
          </a:xfrm>
        </p:grpSpPr>
        <p:sp>
          <p:nvSpPr>
            <p:cNvPr name="Freeform 72" id="72" descr="/home/claude/ppt/icons/database_navy.png"/>
            <p:cNvSpPr/>
            <p:nvPr/>
          </p:nvSpPr>
          <p:spPr>
            <a:xfrm flipH="false" flipV="false" rot="0">
              <a:off x="0" y="0"/>
              <a:ext cx="833882" cy="833882"/>
            </a:xfrm>
            <a:custGeom>
              <a:avLst/>
              <a:gdLst/>
              <a:ahLst/>
              <a:cxnLst/>
              <a:rect r="r" b="b" t="t" l="l"/>
              <a:pathLst>
                <a:path h="833882" w="833882">
                  <a:moveTo>
                    <a:pt x="0" y="0"/>
                  </a:moveTo>
                  <a:lnTo>
                    <a:pt x="833882" y="0"/>
                  </a:lnTo>
                  <a:lnTo>
                    <a:pt x="833882" y="833882"/>
                  </a:lnTo>
                  <a:lnTo>
                    <a:pt x="0" y="8338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-6" b="-6"/>
              </a:stretch>
            </a:blipFill>
          </p:spPr>
        </p:sp>
      </p:grpSp>
      <p:grpSp>
        <p:nvGrpSpPr>
          <p:cNvPr name="Group 73" id="73"/>
          <p:cNvGrpSpPr/>
          <p:nvPr/>
        </p:nvGrpSpPr>
        <p:grpSpPr>
          <a:xfrm rot="0">
            <a:off x="3546272" y="7132320"/>
            <a:ext cx="2613584" cy="754380"/>
            <a:chOff x="0" y="0"/>
            <a:chExt cx="3484778" cy="100584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3484778" cy="1005840"/>
            </a:xfrm>
            <a:custGeom>
              <a:avLst/>
              <a:gdLst/>
              <a:ahLst/>
              <a:cxnLst/>
              <a:rect r="r" b="b" t="t" l="l"/>
              <a:pathLst>
                <a:path h="1005840" w="3484778">
                  <a:moveTo>
                    <a:pt x="0" y="0"/>
                  </a:moveTo>
                  <a:lnTo>
                    <a:pt x="3484778" y="0"/>
                  </a:lnTo>
                  <a:lnTo>
                    <a:pt x="3484778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506" r="0" b="-17506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28575"/>
              <a:ext cx="3484778" cy="10344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4"/>
                </a:lnSpc>
              </a:pPr>
              <a:r>
                <a:rPr lang="en-US" sz="157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SQLite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6104992" y="6261354"/>
            <a:ext cx="356616" cy="301752"/>
            <a:chOff x="0" y="0"/>
            <a:chExt cx="475488" cy="402336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475488" cy="402336"/>
            </a:xfrm>
            <a:custGeom>
              <a:avLst/>
              <a:gdLst/>
              <a:ahLst/>
              <a:cxnLst/>
              <a:rect r="r" b="b" t="t" l="l"/>
              <a:pathLst>
                <a:path h="402336" w="475488">
                  <a:moveTo>
                    <a:pt x="0" y="100584"/>
                  </a:moveTo>
                  <a:lnTo>
                    <a:pt x="274320" y="100584"/>
                  </a:lnTo>
                  <a:lnTo>
                    <a:pt x="274320" y="0"/>
                  </a:lnTo>
                  <a:lnTo>
                    <a:pt x="475488" y="201168"/>
                  </a:lnTo>
                  <a:lnTo>
                    <a:pt x="274320" y="402336"/>
                  </a:lnTo>
                  <a:lnTo>
                    <a:pt x="274320" y="301752"/>
                  </a:lnTo>
                  <a:lnTo>
                    <a:pt x="0" y="301752"/>
                  </a:lnTo>
                  <a:close/>
                </a:path>
              </a:pathLst>
            </a:custGeom>
            <a:solidFill>
              <a:srgbClr val="5B7CA6"/>
            </a:solidFill>
          </p:spPr>
        </p:sp>
      </p:grpSp>
      <p:grpSp>
        <p:nvGrpSpPr>
          <p:cNvPr name="Group 78" id="78"/>
          <p:cNvGrpSpPr/>
          <p:nvPr/>
        </p:nvGrpSpPr>
        <p:grpSpPr>
          <a:xfrm rot="0">
            <a:off x="7062025" y="5692140"/>
            <a:ext cx="1303020" cy="1303020"/>
            <a:chOff x="0" y="0"/>
            <a:chExt cx="1737360" cy="173736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1737360" cy="1737360"/>
            </a:xfrm>
            <a:custGeom>
              <a:avLst/>
              <a:gdLst/>
              <a:ahLst/>
              <a:cxnLst/>
              <a:rect r="r" b="b" t="t" l="l"/>
              <a:pathLst>
                <a:path h="1737360" w="1737360">
                  <a:moveTo>
                    <a:pt x="0" y="868680"/>
                  </a:moveTo>
                  <a:cubicBezTo>
                    <a:pt x="0" y="388874"/>
                    <a:pt x="388874" y="0"/>
                    <a:pt x="868680" y="0"/>
                  </a:cubicBezTo>
                  <a:cubicBezTo>
                    <a:pt x="1348486" y="0"/>
                    <a:pt x="1737360" y="388874"/>
                    <a:pt x="1737360" y="868680"/>
                  </a:cubicBezTo>
                  <a:cubicBezTo>
                    <a:pt x="1737360" y="1348486"/>
                    <a:pt x="1348486" y="1737360"/>
                    <a:pt x="868680" y="1737360"/>
                  </a:cubicBezTo>
                  <a:cubicBezTo>
                    <a:pt x="388874" y="1737360"/>
                    <a:pt x="0" y="1348486"/>
                    <a:pt x="0" y="868680"/>
                  </a:cubicBezTo>
                  <a:close/>
                </a:path>
              </a:pathLst>
            </a:custGeom>
            <a:solidFill>
              <a:srgbClr val="22D3EE"/>
            </a:solid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7400811" y="6030925"/>
            <a:ext cx="625450" cy="625450"/>
            <a:chOff x="0" y="0"/>
            <a:chExt cx="833933" cy="833933"/>
          </a:xfrm>
        </p:grpSpPr>
        <p:sp>
          <p:nvSpPr>
            <p:cNvPr name="Freeform 81" id="81" descr="/home/claude/ppt/icons/check_navy.png"/>
            <p:cNvSpPr/>
            <p:nvPr/>
          </p:nvSpPr>
          <p:spPr>
            <a:xfrm flipH="false" flipV="false" rot="0">
              <a:off x="0" y="0"/>
              <a:ext cx="833882" cy="833882"/>
            </a:xfrm>
            <a:custGeom>
              <a:avLst/>
              <a:gdLst/>
              <a:ahLst/>
              <a:cxnLst/>
              <a:rect r="r" b="b" t="t" l="l"/>
              <a:pathLst>
                <a:path h="833882" w="833882">
                  <a:moveTo>
                    <a:pt x="0" y="0"/>
                  </a:moveTo>
                  <a:lnTo>
                    <a:pt x="833882" y="0"/>
                  </a:lnTo>
                  <a:lnTo>
                    <a:pt x="833882" y="833882"/>
                  </a:lnTo>
                  <a:lnTo>
                    <a:pt x="0" y="8338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-6" b="-6"/>
              </a:stretch>
            </a:blipFill>
          </p:spPr>
        </p:sp>
      </p:grpSp>
      <p:grpSp>
        <p:nvGrpSpPr>
          <p:cNvPr name="Group 82" id="82"/>
          <p:cNvGrpSpPr/>
          <p:nvPr/>
        </p:nvGrpSpPr>
        <p:grpSpPr>
          <a:xfrm rot="0">
            <a:off x="6406744" y="7132320"/>
            <a:ext cx="2613584" cy="754380"/>
            <a:chOff x="0" y="0"/>
            <a:chExt cx="3484778" cy="1005840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3484778" cy="1005840"/>
            </a:xfrm>
            <a:custGeom>
              <a:avLst/>
              <a:gdLst/>
              <a:ahLst/>
              <a:cxnLst/>
              <a:rect r="r" b="b" t="t" l="l"/>
              <a:pathLst>
                <a:path h="1005840" w="3484778">
                  <a:moveTo>
                    <a:pt x="0" y="0"/>
                  </a:moveTo>
                  <a:lnTo>
                    <a:pt x="3484778" y="0"/>
                  </a:lnTo>
                  <a:lnTo>
                    <a:pt x="3484778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506" r="0" b="-17506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28575"/>
              <a:ext cx="3484778" cy="10344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4"/>
                </a:lnSpc>
              </a:pPr>
              <a:r>
                <a:rPr lang="en-US" sz="157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Attendance</a:t>
              </a:r>
            </a:p>
            <a:p>
              <a:pPr algn="ctr">
                <a:lnSpc>
                  <a:spcPts val="1984"/>
                </a:lnSpc>
              </a:pPr>
              <a:r>
                <a:rPr lang="en-US" sz="157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Confirmation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8965463" y="6261354"/>
            <a:ext cx="356616" cy="301752"/>
            <a:chOff x="0" y="0"/>
            <a:chExt cx="475488" cy="402336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475488" cy="402336"/>
            </a:xfrm>
            <a:custGeom>
              <a:avLst/>
              <a:gdLst/>
              <a:ahLst/>
              <a:cxnLst/>
              <a:rect r="r" b="b" t="t" l="l"/>
              <a:pathLst>
                <a:path h="402336" w="475488">
                  <a:moveTo>
                    <a:pt x="0" y="100584"/>
                  </a:moveTo>
                  <a:lnTo>
                    <a:pt x="274320" y="100584"/>
                  </a:lnTo>
                  <a:lnTo>
                    <a:pt x="274320" y="0"/>
                  </a:lnTo>
                  <a:lnTo>
                    <a:pt x="475488" y="201168"/>
                  </a:lnTo>
                  <a:lnTo>
                    <a:pt x="274320" y="402336"/>
                  </a:lnTo>
                  <a:lnTo>
                    <a:pt x="274320" y="301752"/>
                  </a:lnTo>
                  <a:lnTo>
                    <a:pt x="0" y="301752"/>
                  </a:lnTo>
                  <a:close/>
                </a:path>
              </a:pathLst>
            </a:custGeom>
            <a:solidFill>
              <a:srgbClr val="5B7CA6"/>
            </a:solidFill>
          </p:spPr>
        </p:sp>
      </p:grpSp>
      <p:grpSp>
        <p:nvGrpSpPr>
          <p:cNvPr name="Group 87" id="87"/>
          <p:cNvGrpSpPr/>
          <p:nvPr/>
        </p:nvGrpSpPr>
        <p:grpSpPr>
          <a:xfrm rot="0">
            <a:off x="9922497" y="5692140"/>
            <a:ext cx="1303020" cy="1303020"/>
            <a:chOff x="0" y="0"/>
            <a:chExt cx="1737360" cy="1737360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1737360" cy="1737360"/>
            </a:xfrm>
            <a:custGeom>
              <a:avLst/>
              <a:gdLst/>
              <a:ahLst/>
              <a:cxnLst/>
              <a:rect r="r" b="b" t="t" l="l"/>
              <a:pathLst>
                <a:path h="1737360" w="1737360">
                  <a:moveTo>
                    <a:pt x="0" y="868680"/>
                  </a:moveTo>
                  <a:cubicBezTo>
                    <a:pt x="0" y="388874"/>
                    <a:pt x="388874" y="0"/>
                    <a:pt x="868680" y="0"/>
                  </a:cubicBezTo>
                  <a:cubicBezTo>
                    <a:pt x="1348486" y="0"/>
                    <a:pt x="1737360" y="388874"/>
                    <a:pt x="1737360" y="868680"/>
                  </a:cubicBezTo>
                  <a:cubicBezTo>
                    <a:pt x="1737360" y="1348486"/>
                    <a:pt x="1348486" y="1737360"/>
                    <a:pt x="868680" y="1737360"/>
                  </a:cubicBezTo>
                  <a:cubicBezTo>
                    <a:pt x="388874" y="1737360"/>
                    <a:pt x="0" y="1348486"/>
                    <a:pt x="0" y="868680"/>
                  </a:cubicBezTo>
                  <a:close/>
                </a:path>
              </a:pathLst>
            </a:custGeom>
            <a:solidFill>
              <a:srgbClr val="22D3EE"/>
            </a:solidFill>
          </p:spPr>
        </p:sp>
      </p:grpSp>
      <p:grpSp>
        <p:nvGrpSpPr>
          <p:cNvPr name="Group 89" id="89"/>
          <p:cNvGrpSpPr/>
          <p:nvPr/>
        </p:nvGrpSpPr>
        <p:grpSpPr>
          <a:xfrm rot="0">
            <a:off x="10261282" y="6030925"/>
            <a:ext cx="625450" cy="625450"/>
            <a:chOff x="0" y="0"/>
            <a:chExt cx="833933" cy="833933"/>
          </a:xfrm>
        </p:grpSpPr>
        <p:sp>
          <p:nvSpPr>
            <p:cNvPr name="Freeform 90" id="90" descr="/home/claude/ppt/icons/wifi_navy.png"/>
            <p:cNvSpPr/>
            <p:nvPr/>
          </p:nvSpPr>
          <p:spPr>
            <a:xfrm flipH="false" flipV="false" rot="0">
              <a:off x="0" y="0"/>
              <a:ext cx="833882" cy="833882"/>
            </a:xfrm>
            <a:custGeom>
              <a:avLst/>
              <a:gdLst/>
              <a:ahLst/>
              <a:cxnLst/>
              <a:rect r="r" b="b" t="t" l="l"/>
              <a:pathLst>
                <a:path h="833882" w="833882">
                  <a:moveTo>
                    <a:pt x="0" y="0"/>
                  </a:moveTo>
                  <a:lnTo>
                    <a:pt x="833882" y="0"/>
                  </a:lnTo>
                  <a:lnTo>
                    <a:pt x="833882" y="833882"/>
                  </a:lnTo>
                  <a:lnTo>
                    <a:pt x="0" y="8338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-6" b="-6"/>
              </a:stretch>
            </a:blipFill>
          </p:spPr>
        </p:sp>
      </p:grpSp>
      <p:grpSp>
        <p:nvGrpSpPr>
          <p:cNvPr name="Group 91" id="91"/>
          <p:cNvGrpSpPr/>
          <p:nvPr/>
        </p:nvGrpSpPr>
        <p:grpSpPr>
          <a:xfrm rot="0">
            <a:off x="9267215" y="7132320"/>
            <a:ext cx="2613584" cy="754380"/>
            <a:chOff x="0" y="0"/>
            <a:chExt cx="3484778" cy="1005840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3484778" cy="1005840"/>
            </a:xfrm>
            <a:custGeom>
              <a:avLst/>
              <a:gdLst/>
              <a:ahLst/>
              <a:cxnLst/>
              <a:rect r="r" b="b" t="t" l="l"/>
              <a:pathLst>
                <a:path h="1005840" w="3484778">
                  <a:moveTo>
                    <a:pt x="0" y="0"/>
                  </a:moveTo>
                  <a:lnTo>
                    <a:pt x="3484778" y="0"/>
                  </a:lnTo>
                  <a:lnTo>
                    <a:pt x="3484778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506" r="0" b="-17506"/>
              </a:stretch>
            </a:blipFill>
          </p:spPr>
        </p:sp>
        <p:sp>
          <p:nvSpPr>
            <p:cNvPr name="TextBox 93" id="93"/>
            <p:cNvSpPr txBox="true"/>
            <p:nvPr/>
          </p:nvSpPr>
          <p:spPr>
            <a:xfrm>
              <a:off x="0" y="-28575"/>
              <a:ext cx="3484778" cy="10344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4"/>
                </a:lnSpc>
              </a:pPr>
              <a:r>
                <a:rPr lang="en-US" sz="157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Wi-Fi</a:t>
              </a:r>
            </a:p>
          </p:txBody>
        </p:sp>
      </p:grpSp>
      <p:grpSp>
        <p:nvGrpSpPr>
          <p:cNvPr name="Group 94" id="94"/>
          <p:cNvGrpSpPr/>
          <p:nvPr/>
        </p:nvGrpSpPr>
        <p:grpSpPr>
          <a:xfrm rot="0">
            <a:off x="11825935" y="6261354"/>
            <a:ext cx="356616" cy="301752"/>
            <a:chOff x="0" y="0"/>
            <a:chExt cx="475488" cy="402336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475488" cy="402336"/>
            </a:xfrm>
            <a:custGeom>
              <a:avLst/>
              <a:gdLst/>
              <a:ahLst/>
              <a:cxnLst/>
              <a:rect r="r" b="b" t="t" l="l"/>
              <a:pathLst>
                <a:path h="402336" w="475488">
                  <a:moveTo>
                    <a:pt x="0" y="100584"/>
                  </a:moveTo>
                  <a:lnTo>
                    <a:pt x="274320" y="100584"/>
                  </a:lnTo>
                  <a:lnTo>
                    <a:pt x="274320" y="0"/>
                  </a:lnTo>
                  <a:lnTo>
                    <a:pt x="475488" y="201168"/>
                  </a:lnTo>
                  <a:lnTo>
                    <a:pt x="274320" y="402336"/>
                  </a:lnTo>
                  <a:lnTo>
                    <a:pt x="274320" y="301752"/>
                  </a:lnTo>
                  <a:lnTo>
                    <a:pt x="0" y="301752"/>
                  </a:lnTo>
                  <a:close/>
                </a:path>
              </a:pathLst>
            </a:custGeom>
            <a:solidFill>
              <a:srgbClr val="5B7CA6"/>
            </a:solidFill>
          </p:spPr>
        </p:sp>
      </p:grpSp>
      <p:grpSp>
        <p:nvGrpSpPr>
          <p:cNvPr name="Group 96" id="96"/>
          <p:cNvGrpSpPr/>
          <p:nvPr/>
        </p:nvGrpSpPr>
        <p:grpSpPr>
          <a:xfrm rot="0">
            <a:off x="12782969" y="5692140"/>
            <a:ext cx="1303020" cy="1303020"/>
            <a:chOff x="0" y="0"/>
            <a:chExt cx="1737360" cy="1737360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1737360" cy="1737360"/>
            </a:xfrm>
            <a:custGeom>
              <a:avLst/>
              <a:gdLst/>
              <a:ahLst/>
              <a:cxnLst/>
              <a:rect r="r" b="b" t="t" l="l"/>
              <a:pathLst>
                <a:path h="1737360" w="1737360">
                  <a:moveTo>
                    <a:pt x="0" y="868680"/>
                  </a:moveTo>
                  <a:cubicBezTo>
                    <a:pt x="0" y="388874"/>
                    <a:pt x="388874" y="0"/>
                    <a:pt x="868680" y="0"/>
                  </a:cubicBezTo>
                  <a:cubicBezTo>
                    <a:pt x="1348486" y="0"/>
                    <a:pt x="1737360" y="388874"/>
                    <a:pt x="1737360" y="868680"/>
                  </a:cubicBezTo>
                  <a:cubicBezTo>
                    <a:pt x="1737360" y="1348486"/>
                    <a:pt x="1348486" y="1737360"/>
                    <a:pt x="868680" y="1737360"/>
                  </a:cubicBezTo>
                  <a:cubicBezTo>
                    <a:pt x="388874" y="1737360"/>
                    <a:pt x="0" y="1348486"/>
                    <a:pt x="0" y="868680"/>
                  </a:cubicBezTo>
                  <a:close/>
                </a:path>
              </a:pathLst>
            </a:custGeom>
            <a:solidFill>
              <a:srgbClr val="22D3EE"/>
            </a:solidFill>
          </p:spPr>
        </p:sp>
      </p:grpSp>
      <p:grpSp>
        <p:nvGrpSpPr>
          <p:cNvPr name="Group 98" id="98"/>
          <p:cNvGrpSpPr/>
          <p:nvPr/>
        </p:nvGrpSpPr>
        <p:grpSpPr>
          <a:xfrm rot="0">
            <a:off x="13121754" y="6030925"/>
            <a:ext cx="625450" cy="625450"/>
            <a:chOff x="0" y="0"/>
            <a:chExt cx="833933" cy="833933"/>
          </a:xfrm>
        </p:grpSpPr>
        <p:sp>
          <p:nvSpPr>
            <p:cNvPr name="Freeform 99" id="99" descr="/home/claude/ppt/icons/microchip_navy.png"/>
            <p:cNvSpPr/>
            <p:nvPr/>
          </p:nvSpPr>
          <p:spPr>
            <a:xfrm flipH="false" flipV="false" rot="0">
              <a:off x="0" y="0"/>
              <a:ext cx="833882" cy="833882"/>
            </a:xfrm>
            <a:custGeom>
              <a:avLst/>
              <a:gdLst/>
              <a:ahLst/>
              <a:cxnLst/>
              <a:rect r="r" b="b" t="t" l="l"/>
              <a:pathLst>
                <a:path h="833882" w="833882">
                  <a:moveTo>
                    <a:pt x="0" y="0"/>
                  </a:moveTo>
                  <a:lnTo>
                    <a:pt x="833882" y="0"/>
                  </a:lnTo>
                  <a:lnTo>
                    <a:pt x="833882" y="833882"/>
                  </a:lnTo>
                  <a:lnTo>
                    <a:pt x="0" y="8338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-6" b="-6"/>
              </a:stretch>
            </a:blipFill>
          </p:spPr>
        </p:sp>
      </p:grpSp>
      <p:grpSp>
        <p:nvGrpSpPr>
          <p:cNvPr name="Group 100" id="100"/>
          <p:cNvGrpSpPr/>
          <p:nvPr/>
        </p:nvGrpSpPr>
        <p:grpSpPr>
          <a:xfrm rot="0">
            <a:off x="12127687" y="7132320"/>
            <a:ext cx="2613584" cy="754380"/>
            <a:chOff x="0" y="0"/>
            <a:chExt cx="3484778" cy="1005840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3484778" cy="1005840"/>
            </a:xfrm>
            <a:custGeom>
              <a:avLst/>
              <a:gdLst/>
              <a:ahLst/>
              <a:cxnLst/>
              <a:rect r="r" b="b" t="t" l="l"/>
              <a:pathLst>
                <a:path h="1005840" w="3484778">
                  <a:moveTo>
                    <a:pt x="0" y="0"/>
                  </a:moveTo>
                  <a:lnTo>
                    <a:pt x="3484778" y="0"/>
                  </a:lnTo>
                  <a:lnTo>
                    <a:pt x="3484778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506" r="0" b="-17506"/>
              </a:stretch>
            </a:blipFill>
          </p:spPr>
        </p:sp>
        <p:sp>
          <p:nvSpPr>
            <p:cNvPr name="TextBox 102" id="102"/>
            <p:cNvSpPr txBox="true"/>
            <p:nvPr/>
          </p:nvSpPr>
          <p:spPr>
            <a:xfrm>
              <a:off x="0" y="-28575"/>
              <a:ext cx="3484778" cy="10344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4"/>
                </a:lnSpc>
              </a:pPr>
              <a:r>
                <a:rPr lang="en-US" sz="157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SiWx917 /</a:t>
              </a:r>
            </a:p>
            <a:p>
              <a:pPr algn="ctr">
                <a:lnSpc>
                  <a:spcPts val="1984"/>
                </a:lnSpc>
              </a:pPr>
              <a:r>
                <a:rPr lang="en-US" sz="157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BRD2605A</a:t>
              </a:r>
            </a:p>
          </p:txBody>
        </p:sp>
      </p:grpSp>
      <p:grpSp>
        <p:nvGrpSpPr>
          <p:cNvPr name="Group 103" id="103"/>
          <p:cNvGrpSpPr/>
          <p:nvPr/>
        </p:nvGrpSpPr>
        <p:grpSpPr>
          <a:xfrm rot="0">
            <a:off x="14686407" y="6261354"/>
            <a:ext cx="356616" cy="301752"/>
            <a:chOff x="0" y="0"/>
            <a:chExt cx="475488" cy="402336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475488" cy="402336"/>
            </a:xfrm>
            <a:custGeom>
              <a:avLst/>
              <a:gdLst/>
              <a:ahLst/>
              <a:cxnLst/>
              <a:rect r="r" b="b" t="t" l="l"/>
              <a:pathLst>
                <a:path h="402336" w="475488">
                  <a:moveTo>
                    <a:pt x="0" y="100584"/>
                  </a:moveTo>
                  <a:lnTo>
                    <a:pt x="274320" y="100584"/>
                  </a:lnTo>
                  <a:lnTo>
                    <a:pt x="274320" y="0"/>
                  </a:lnTo>
                  <a:lnTo>
                    <a:pt x="475488" y="201168"/>
                  </a:lnTo>
                  <a:lnTo>
                    <a:pt x="274320" y="402336"/>
                  </a:lnTo>
                  <a:lnTo>
                    <a:pt x="274320" y="301752"/>
                  </a:lnTo>
                  <a:lnTo>
                    <a:pt x="0" y="301752"/>
                  </a:lnTo>
                  <a:close/>
                </a:path>
              </a:pathLst>
            </a:custGeom>
            <a:solidFill>
              <a:srgbClr val="5B7CA6"/>
            </a:solidFill>
          </p:spPr>
        </p:sp>
      </p:grpSp>
      <p:grpSp>
        <p:nvGrpSpPr>
          <p:cNvPr name="Group 105" id="105"/>
          <p:cNvGrpSpPr/>
          <p:nvPr/>
        </p:nvGrpSpPr>
        <p:grpSpPr>
          <a:xfrm rot="0">
            <a:off x="15643441" y="5692140"/>
            <a:ext cx="1303020" cy="1303020"/>
            <a:chOff x="0" y="0"/>
            <a:chExt cx="1737360" cy="1737360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1737360" cy="1737360"/>
            </a:xfrm>
            <a:custGeom>
              <a:avLst/>
              <a:gdLst/>
              <a:ahLst/>
              <a:cxnLst/>
              <a:rect r="r" b="b" t="t" l="l"/>
              <a:pathLst>
                <a:path h="1737360" w="1737360">
                  <a:moveTo>
                    <a:pt x="0" y="868680"/>
                  </a:moveTo>
                  <a:cubicBezTo>
                    <a:pt x="0" y="388874"/>
                    <a:pt x="388874" y="0"/>
                    <a:pt x="868680" y="0"/>
                  </a:cubicBezTo>
                  <a:cubicBezTo>
                    <a:pt x="1348486" y="0"/>
                    <a:pt x="1737360" y="388874"/>
                    <a:pt x="1737360" y="868680"/>
                  </a:cubicBezTo>
                  <a:cubicBezTo>
                    <a:pt x="1737360" y="1348486"/>
                    <a:pt x="1348486" y="1737360"/>
                    <a:pt x="868680" y="1737360"/>
                  </a:cubicBezTo>
                  <a:cubicBezTo>
                    <a:pt x="388874" y="1737360"/>
                    <a:pt x="0" y="1348486"/>
                    <a:pt x="0" y="868680"/>
                  </a:cubicBezTo>
                  <a:close/>
                </a:path>
              </a:pathLst>
            </a:custGeom>
            <a:solidFill>
              <a:srgbClr val="22D3EE"/>
            </a:solidFill>
          </p:spPr>
        </p:sp>
      </p:grpSp>
      <p:grpSp>
        <p:nvGrpSpPr>
          <p:cNvPr name="Group 107" id="107"/>
          <p:cNvGrpSpPr/>
          <p:nvPr/>
        </p:nvGrpSpPr>
        <p:grpSpPr>
          <a:xfrm rot="0">
            <a:off x="15982226" y="6030925"/>
            <a:ext cx="625450" cy="625450"/>
            <a:chOff x="0" y="0"/>
            <a:chExt cx="833933" cy="833933"/>
          </a:xfrm>
        </p:grpSpPr>
        <p:sp>
          <p:nvSpPr>
            <p:cNvPr name="Freeform 108" id="108" descr="/home/claude/ppt/icons/led_navy.png"/>
            <p:cNvSpPr/>
            <p:nvPr/>
          </p:nvSpPr>
          <p:spPr>
            <a:xfrm flipH="false" flipV="false" rot="0">
              <a:off x="0" y="0"/>
              <a:ext cx="833882" cy="833882"/>
            </a:xfrm>
            <a:custGeom>
              <a:avLst/>
              <a:gdLst/>
              <a:ahLst/>
              <a:cxnLst/>
              <a:rect r="r" b="b" t="t" l="l"/>
              <a:pathLst>
                <a:path h="833882" w="833882">
                  <a:moveTo>
                    <a:pt x="0" y="0"/>
                  </a:moveTo>
                  <a:lnTo>
                    <a:pt x="833882" y="0"/>
                  </a:lnTo>
                  <a:lnTo>
                    <a:pt x="833882" y="833882"/>
                  </a:lnTo>
                  <a:lnTo>
                    <a:pt x="0" y="8338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-6" b="-6"/>
              </a:stretch>
            </a:blipFill>
          </p:spPr>
        </p:sp>
      </p:grpSp>
      <p:grpSp>
        <p:nvGrpSpPr>
          <p:cNvPr name="Group 109" id="109"/>
          <p:cNvGrpSpPr/>
          <p:nvPr/>
        </p:nvGrpSpPr>
        <p:grpSpPr>
          <a:xfrm rot="0">
            <a:off x="14988159" y="7132320"/>
            <a:ext cx="2613584" cy="754380"/>
            <a:chOff x="0" y="0"/>
            <a:chExt cx="3484778" cy="1005840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3484778" cy="1005840"/>
            </a:xfrm>
            <a:custGeom>
              <a:avLst/>
              <a:gdLst/>
              <a:ahLst/>
              <a:cxnLst/>
              <a:rect r="r" b="b" t="t" l="l"/>
              <a:pathLst>
                <a:path h="1005840" w="3484778">
                  <a:moveTo>
                    <a:pt x="0" y="0"/>
                  </a:moveTo>
                  <a:lnTo>
                    <a:pt x="3484778" y="0"/>
                  </a:lnTo>
                  <a:lnTo>
                    <a:pt x="3484778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506" r="0" b="-17506"/>
              </a:stretch>
            </a:blipFill>
          </p:spPr>
        </p:sp>
        <p:sp>
          <p:nvSpPr>
            <p:cNvPr name="TextBox 111" id="111"/>
            <p:cNvSpPr txBox="true"/>
            <p:nvPr/>
          </p:nvSpPr>
          <p:spPr>
            <a:xfrm>
              <a:off x="0" y="-28575"/>
              <a:ext cx="3484778" cy="10344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4"/>
                </a:lnSpc>
              </a:pPr>
              <a:r>
                <a:rPr lang="en-US" sz="157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RGB LED</a:t>
              </a:r>
            </a:p>
            <a:p>
              <a:pPr algn="ctr">
                <a:lnSpc>
                  <a:spcPts val="1984"/>
                </a:lnSpc>
              </a:pPr>
              <a:r>
                <a:rPr lang="en-US" sz="157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Status</a:t>
              </a:r>
            </a:p>
          </p:txBody>
        </p:sp>
      </p:grpSp>
      <p:grpSp>
        <p:nvGrpSpPr>
          <p:cNvPr name="Group 112" id="112"/>
          <p:cNvGrpSpPr/>
          <p:nvPr/>
        </p:nvGrpSpPr>
        <p:grpSpPr>
          <a:xfrm rot="0">
            <a:off x="16274377" y="4732020"/>
            <a:ext cx="41148" cy="137160"/>
            <a:chOff x="0" y="0"/>
            <a:chExt cx="54864" cy="182880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54864" cy="182880"/>
            </a:xfrm>
            <a:custGeom>
              <a:avLst/>
              <a:gdLst/>
              <a:ahLst/>
              <a:cxnLst/>
              <a:rect r="r" b="b" t="t" l="l"/>
              <a:pathLst>
                <a:path h="182880" w="54864">
                  <a:moveTo>
                    <a:pt x="0" y="9144"/>
                  </a:moveTo>
                  <a:cubicBezTo>
                    <a:pt x="0" y="4064"/>
                    <a:pt x="4064" y="0"/>
                    <a:pt x="9144" y="0"/>
                  </a:cubicBezTo>
                  <a:lnTo>
                    <a:pt x="45720" y="0"/>
                  </a:lnTo>
                  <a:cubicBezTo>
                    <a:pt x="50800" y="0"/>
                    <a:pt x="54864" y="4064"/>
                    <a:pt x="54864" y="9144"/>
                  </a:cubicBezTo>
                  <a:lnTo>
                    <a:pt x="54864" y="173736"/>
                  </a:lnTo>
                  <a:cubicBezTo>
                    <a:pt x="54864" y="178816"/>
                    <a:pt x="50800" y="182880"/>
                    <a:pt x="45720" y="182880"/>
                  </a:cubicBezTo>
                  <a:lnTo>
                    <a:pt x="9144" y="182880"/>
                  </a:lnTo>
                  <a:cubicBezTo>
                    <a:pt x="4064" y="182880"/>
                    <a:pt x="0" y="178816"/>
                    <a:pt x="0" y="173736"/>
                  </a:cubicBezTo>
                  <a:close/>
                </a:path>
              </a:pathLst>
            </a:custGeom>
            <a:solidFill>
              <a:srgbClr val="22D3EE"/>
            </a:solidFill>
          </p:spPr>
        </p:sp>
      </p:grpSp>
      <p:grpSp>
        <p:nvGrpSpPr>
          <p:cNvPr name="Group 114" id="114"/>
          <p:cNvGrpSpPr/>
          <p:nvPr/>
        </p:nvGrpSpPr>
        <p:grpSpPr>
          <a:xfrm rot="0">
            <a:off x="1972018" y="4869180"/>
            <a:ext cx="41148" cy="630936"/>
            <a:chOff x="0" y="0"/>
            <a:chExt cx="54864" cy="841248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54864" cy="841248"/>
            </a:xfrm>
            <a:custGeom>
              <a:avLst/>
              <a:gdLst/>
              <a:ahLst/>
              <a:cxnLst/>
              <a:rect r="r" b="b" t="t" l="l"/>
              <a:pathLst>
                <a:path h="841248" w="54864">
                  <a:moveTo>
                    <a:pt x="0" y="9144"/>
                  </a:moveTo>
                  <a:cubicBezTo>
                    <a:pt x="0" y="4064"/>
                    <a:pt x="4064" y="0"/>
                    <a:pt x="9144" y="0"/>
                  </a:cubicBezTo>
                  <a:lnTo>
                    <a:pt x="45720" y="0"/>
                  </a:lnTo>
                  <a:cubicBezTo>
                    <a:pt x="50800" y="0"/>
                    <a:pt x="54864" y="4064"/>
                    <a:pt x="54864" y="9144"/>
                  </a:cubicBezTo>
                  <a:lnTo>
                    <a:pt x="54864" y="832104"/>
                  </a:lnTo>
                  <a:cubicBezTo>
                    <a:pt x="54864" y="837184"/>
                    <a:pt x="50800" y="841248"/>
                    <a:pt x="45720" y="841248"/>
                  </a:cubicBezTo>
                  <a:lnTo>
                    <a:pt x="9144" y="841248"/>
                  </a:lnTo>
                  <a:cubicBezTo>
                    <a:pt x="4064" y="841248"/>
                    <a:pt x="0" y="837184"/>
                    <a:pt x="0" y="832104"/>
                  </a:cubicBezTo>
                  <a:close/>
                </a:path>
              </a:pathLst>
            </a:custGeom>
            <a:solidFill>
              <a:srgbClr val="22D3EE"/>
            </a:solidFill>
          </p:spPr>
        </p:sp>
      </p:grpSp>
      <p:grpSp>
        <p:nvGrpSpPr>
          <p:cNvPr name="Group 116" id="116"/>
          <p:cNvGrpSpPr/>
          <p:nvPr/>
        </p:nvGrpSpPr>
        <p:grpSpPr>
          <a:xfrm rot="0">
            <a:off x="1992592" y="4848606"/>
            <a:ext cx="14302359" cy="41148"/>
            <a:chOff x="0" y="0"/>
            <a:chExt cx="19069812" cy="54864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19069811" cy="54864"/>
            </a:xfrm>
            <a:custGeom>
              <a:avLst/>
              <a:gdLst/>
              <a:ahLst/>
              <a:cxnLst/>
              <a:rect r="r" b="b" t="t" l="l"/>
              <a:pathLst>
                <a:path h="54864" w="19069811">
                  <a:moveTo>
                    <a:pt x="0" y="9144"/>
                  </a:moveTo>
                  <a:cubicBezTo>
                    <a:pt x="0" y="4064"/>
                    <a:pt x="4064" y="0"/>
                    <a:pt x="9144" y="0"/>
                  </a:cubicBezTo>
                  <a:lnTo>
                    <a:pt x="19060668" y="0"/>
                  </a:lnTo>
                  <a:cubicBezTo>
                    <a:pt x="19065748" y="0"/>
                    <a:pt x="19069811" y="4064"/>
                    <a:pt x="19069811" y="9144"/>
                  </a:cubicBezTo>
                  <a:lnTo>
                    <a:pt x="19069811" y="45720"/>
                  </a:lnTo>
                  <a:cubicBezTo>
                    <a:pt x="19069811" y="50800"/>
                    <a:pt x="19065748" y="54864"/>
                    <a:pt x="19060668" y="54864"/>
                  </a:cubicBezTo>
                  <a:lnTo>
                    <a:pt x="9144" y="54864"/>
                  </a:lnTo>
                  <a:cubicBezTo>
                    <a:pt x="4064" y="54864"/>
                    <a:pt x="0" y="50800"/>
                    <a:pt x="0" y="45720"/>
                  </a:cubicBezTo>
                  <a:close/>
                </a:path>
              </a:pathLst>
            </a:custGeom>
            <a:solidFill>
              <a:srgbClr val="22D3EE"/>
            </a:solidFill>
          </p:spPr>
        </p:sp>
      </p:grpSp>
      <p:grpSp>
        <p:nvGrpSpPr>
          <p:cNvPr name="Group 118" id="118"/>
          <p:cNvGrpSpPr/>
          <p:nvPr/>
        </p:nvGrpSpPr>
        <p:grpSpPr>
          <a:xfrm rot="0">
            <a:off x="1869148" y="5472684"/>
            <a:ext cx="246888" cy="219456"/>
            <a:chOff x="0" y="0"/>
            <a:chExt cx="329184" cy="292608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0" y="0"/>
              <a:ext cx="329184" cy="292608"/>
            </a:xfrm>
            <a:custGeom>
              <a:avLst/>
              <a:gdLst/>
              <a:ahLst/>
              <a:cxnLst/>
              <a:rect r="r" b="b" t="t" l="l"/>
              <a:pathLst>
                <a:path h="292608" w="329184">
                  <a:moveTo>
                    <a:pt x="0" y="146304"/>
                  </a:moveTo>
                  <a:lnTo>
                    <a:pt x="82296" y="146304"/>
                  </a:lnTo>
                  <a:lnTo>
                    <a:pt x="82296" y="0"/>
                  </a:lnTo>
                  <a:lnTo>
                    <a:pt x="246888" y="0"/>
                  </a:lnTo>
                  <a:lnTo>
                    <a:pt x="246888" y="146304"/>
                  </a:lnTo>
                  <a:lnTo>
                    <a:pt x="329184" y="146304"/>
                  </a:lnTo>
                  <a:lnTo>
                    <a:pt x="164592" y="292608"/>
                  </a:lnTo>
                  <a:close/>
                </a:path>
              </a:pathLst>
            </a:custGeom>
            <a:solidFill>
              <a:srgbClr val="22D3EE"/>
            </a:solidFill>
          </p:spPr>
        </p:sp>
      </p:grpSp>
      <p:grpSp>
        <p:nvGrpSpPr>
          <p:cNvPr name="Group 120" id="120"/>
          <p:cNvGrpSpPr/>
          <p:nvPr/>
        </p:nvGrpSpPr>
        <p:grpSpPr>
          <a:xfrm rot="0">
            <a:off x="1371600" y="8709660"/>
            <a:ext cx="15499080" cy="850392"/>
            <a:chOff x="0" y="0"/>
            <a:chExt cx="20665440" cy="1133856"/>
          </a:xfrm>
        </p:grpSpPr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20665441" cy="1133856"/>
            </a:xfrm>
            <a:custGeom>
              <a:avLst/>
              <a:gdLst/>
              <a:ahLst/>
              <a:cxnLst/>
              <a:rect r="r" b="b" t="t" l="l"/>
              <a:pathLst>
                <a:path h="1133856" w="20665441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20482561" y="0"/>
                  </a:lnTo>
                  <a:cubicBezTo>
                    <a:pt x="20583525" y="0"/>
                    <a:pt x="20665441" y="81915"/>
                    <a:pt x="20665441" y="182880"/>
                  </a:cubicBezTo>
                  <a:lnTo>
                    <a:pt x="20665441" y="950976"/>
                  </a:lnTo>
                  <a:cubicBezTo>
                    <a:pt x="20665441" y="1051941"/>
                    <a:pt x="20583525" y="1133856"/>
                    <a:pt x="20482561" y="1133856"/>
                  </a:cubicBezTo>
                  <a:lnTo>
                    <a:pt x="182880" y="1133856"/>
                  </a:lnTo>
                  <a:cubicBezTo>
                    <a:pt x="81915" y="1133856"/>
                    <a:pt x="0" y="1051941"/>
                    <a:pt x="0" y="950976"/>
                  </a:cubicBezTo>
                  <a:close/>
                </a:path>
              </a:pathLst>
            </a:custGeom>
            <a:solidFill>
              <a:srgbClr val="1D3F70"/>
            </a:solidFill>
          </p:spPr>
        </p:sp>
      </p:grpSp>
      <p:grpSp>
        <p:nvGrpSpPr>
          <p:cNvPr name="Group 122" id="122"/>
          <p:cNvGrpSpPr/>
          <p:nvPr/>
        </p:nvGrpSpPr>
        <p:grpSpPr>
          <a:xfrm rot="0">
            <a:off x="1645920" y="8709660"/>
            <a:ext cx="14950440" cy="850392"/>
            <a:chOff x="0" y="0"/>
            <a:chExt cx="19933920" cy="1133856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0" y="0"/>
              <a:ext cx="19933920" cy="1133856"/>
            </a:xfrm>
            <a:custGeom>
              <a:avLst/>
              <a:gdLst/>
              <a:ahLst/>
              <a:cxnLst/>
              <a:rect r="r" b="b" t="t" l="l"/>
              <a:pathLst>
                <a:path h="1133856" w="19933920">
                  <a:moveTo>
                    <a:pt x="0" y="0"/>
                  </a:moveTo>
                  <a:lnTo>
                    <a:pt x="19933920" y="0"/>
                  </a:lnTo>
                  <a:lnTo>
                    <a:pt x="1993392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92559" r="0" b="-292559"/>
              </a:stretch>
            </a:blipFill>
          </p:spPr>
        </p:sp>
        <p:sp>
          <p:nvSpPr>
            <p:cNvPr name="TextBox 124" id="124"/>
            <p:cNvSpPr txBox="true"/>
            <p:nvPr/>
          </p:nvSpPr>
          <p:spPr>
            <a:xfrm>
              <a:off x="0" y="-38100"/>
              <a:ext cx="19933920" cy="11719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b="true" sz="1800" i="true">
                  <a:solidFill>
                    <a:srgbClr val="22D3EE"/>
                  </a:solidFill>
                  <a:latin typeface="Calibri (MS) Bold Italics"/>
                  <a:ea typeface="Calibri (MS) Bold Italics"/>
                  <a:cs typeface="Calibri (MS) Bold Italics"/>
                  <a:sym typeface="Calibri (MS) Bold Italics"/>
                </a:rPr>
                <a:t>Student → Camera → Face Recognition → Attendance Database → Wi-Fi → SiWx917 → RGB LED / Access Indication</a:t>
              </a:r>
            </a:p>
          </p:txBody>
        </p:sp>
      </p:grpSp>
      <p:grpSp>
        <p:nvGrpSpPr>
          <p:cNvPr name="Group 125" id="125"/>
          <p:cNvGrpSpPr/>
          <p:nvPr/>
        </p:nvGrpSpPr>
        <p:grpSpPr>
          <a:xfrm rot="0">
            <a:off x="685800" y="9738360"/>
            <a:ext cx="9601200" cy="411480"/>
            <a:chOff x="0" y="0"/>
            <a:chExt cx="12801600" cy="548640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0" y="0"/>
              <a:ext cx="12801600" cy="548640"/>
            </a:xfrm>
            <a:custGeom>
              <a:avLst/>
              <a:gdLst/>
              <a:ahLst/>
              <a:cxnLst/>
              <a:rect r="r" b="b" t="t" l="l"/>
              <a:pathLst>
                <a:path h="548640" w="12801600">
                  <a:moveTo>
                    <a:pt x="0" y="0"/>
                  </a:moveTo>
                  <a:lnTo>
                    <a:pt x="12801600" y="0"/>
                  </a:lnTo>
                  <a:lnTo>
                    <a:pt x="128016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04650" r="0" b="-404650"/>
              </a:stretch>
            </a:blipFill>
          </p:spPr>
        </p:sp>
        <p:sp>
          <p:nvSpPr>
            <p:cNvPr name="TextBox 127" id="127"/>
            <p:cNvSpPr txBox="true"/>
            <p:nvPr/>
          </p:nvSpPr>
          <p:spPr>
            <a:xfrm>
              <a:off x="0" y="-19050"/>
              <a:ext cx="1280160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sz="1200" spc="150">
                  <a:solidFill>
                    <a:srgbClr val="5B739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SMART FACE ATTENDANCE &amp; ACCESS GATE SYSTEM</a:t>
              </a:r>
            </a:p>
          </p:txBody>
        </p:sp>
      </p:grpSp>
      <p:grpSp>
        <p:nvGrpSpPr>
          <p:cNvPr name="Group 128" id="128"/>
          <p:cNvGrpSpPr/>
          <p:nvPr/>
        </p:nvGrpSpPr>
        <p:grpSpPr>
          <a:xfrm rot="0">
            <a:off x="16915943" y="9738360"/>
            <a:ext cx="685800" cy="411480"/>
            <a:chOff x="0" y="0"/>
            <a:chExt cx="914400" cy="548640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30" id="130"/>
            <p:cNvSpPr txBox="true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5B739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11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85800"/>
            <a:ext cx="10972800" cy="480060"/>
            <a:chOff x="0" y="0"/>
            <a:chExt cx="146304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640080"/>
            </a:xfrm>
            <a:custGeom>
              <a:avLst/>
              <a:gdLst/>
              <a:ahLst/>
              <a:cxnLst/>
              <a:rect r="r" b="b" t="t" l="l"/>
              <a:pathLst>
                <a:path h="64008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95372" r="0" b="-39537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46304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300">
                  <a:solidFill>
                    <a:srgbClr val="22D3E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OUTPUT &amp; RESULTS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1165860"/>
            <a:ext cx="15773400" cy="960120"/>
            <a:chOff x="0" y="0"/>
            <a:chExt cx="21031200" cy="12801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0312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0111" r="0" b="-270111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1031200" cy="1299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0B1E3D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Output Result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2331720"/>
            <a:ext cx="8778240" cy="7063740"/>
            <a:chOff x="0" y="0"/>
            <a:chExt cx="11704320" cy="94183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704320" cy="9418320"/>
            </a:xfrm>
            <a:custGeom>
              <a:avLst/>
              <a:gdLst/>
              <a:ahLst/>
              <a:cxnLst/>
              <a:rect r="r" b="b" t="t" l="l"/>
              <a:pathLst>
                <a:path h="9418320" w="1170432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11521440" y="0"/>
                  </a:lnTo>
                  <a:cubicBezTo>
                    <a:pt x="11622405" y="0"/>
                    <a:pt x="11704320" y="81915"/>
                    <a:pt x="11704320" y="182880"/>
                  </a:cubicBezTo>
                  <a:lnTo>
                    <a:pt x="11704320" y="9235440"/>
                  </a:lnTo>
                  <a:cubicBezTo>
                    <a:pt x="11704320" y="9336405"/>
                    <a:pt x="11622405" y="9418320"/>
                    <a:pt x="11521440" y="9418320"/>
                  </a:cubicBezTo>
                  <a:lnTo>
                    <a:pt x="182880" y="9418320"/>
                  </a:lnTo>
                  <a:cubicBezTo>
                    <a:pt x="81915" y="9418320"/>
                    <a:pt x="0" y="9336405"/>
                    <a:pt x="0" y="9235440"/>
                  </a:cubicBezTo>
                  <a:close/>
                </a:path>
              </a:pathLst>
            </a:custGeom>
            <a:solidFill>
              <a:srgbClr val="0A1628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65860" y="2606040"/>
            <a:ext cx="192024" cy="192024"/>
            <a:chOff x="0" y="0"/>
            <a:chExt cx="256032" cy="25603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56032" cy="256032"/>
            </a:xfrm>
            <a:custGeom>
              <a:avLst/>
              <a:gdLst/>
              <a:ahLst/>
              <a:cxnLst/>
              <a:rect r="r" b="b" t="t" l="l"/>
              <a:pathLst>
                <a:path h="256032" w="256032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cubicBezTo>
                    <a:pt x="198755" y="0"/>
                    <a:pt x="256032" y="57277"/>
                    <a:pt x="256032" y="128016"/>
                  </a:cubicBezTo>
                  <a:cubicBezTo>
                    <a:pt x="256032" y="198755"/>
                    <a:pt x="198755" y="256032"/>
                    <a:pt x="128016" y="256032"/>
                  </a:cubicBezTo>
                  <a:cubicBezTo>
                    <a:pt x="57277" y="256032"/>
                    <a:pt x="0" y="198755"/>
                    <a:pt x="0" y="128016"/>
                  </a:cubicBez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453896" y="2606040"/>
            <a:ext cx="192024" cy="192024"/>
            <a:chOff x="0" y="0"/>
            <a:chExt cx="256032" cy="25603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56032" cy="256032"/>
            </a:xfrm>
            <a:custGeom>
              <a:avLst/>
              <a:gdLst/>
              <a:ahLst/>
              <a:cxnLst/>
              <a:rect r="r" b="b" t="t" l="l"/>
              <a:pathLst>
                <a:path h="256032" w="256032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cubicBezTo>
                    <a:pt x="198755" y="0"/>
                    <a:pt x="256032" y="57277"/>
                    <a:pt x="256032" y="128016"/>
                  </a:cubicBezTo>
                  <a:cubicBezTo>
                    <a:pt x="256032" y="198755"/>
                    <a:pt x="198755" y="256032"/>
                    <a:pt x="128016" y="256032"/>
                  </a:cubicBezTo>
                  <a:cubicBezTo>
                    <a:pt x="57277" y="256032"/>
                    <a:pt x="0" y="198755"/>
                    <a:pt x="0" y="128016"/>
                  </a:cubicBezTo>
                  <a:close/>
                </a:path>
              </a:pathLst>
            </a:custGeom>
            <a:solidFill>
              <a:srgbClr val="F5C518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741932" y="2606040"/>
            <a:ext cx="192024" cy="192024"/>
            <a:chOff x="0" y="0"/>
            <a:chExt cx="256032" cy="25603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56032" cy="256032"/>
            </a:xfrm>
            <a:custGeom>
              <a:avLst/>
              <a:gdLst/>
              <a:ahLst/>
              <a:cxnLst/>
              <a:rect r="r" b="b" t="t" l="l"/>
              <a:pathLst>
                <a:path h="256032" w="256032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cubicBezTo>
                    <a:pt x="198755" y="0"/>
                    <a:pt x="256032" y="57277"/>
                    <a:pt x="256032" y="128016"/>
                  </a:cubicBezTo>
                  <a:cubicBezTo>
                    <a:pt x="256032" y="198755"/>
                    <a:pt x="198755" y="256032"/>
                    <a:pt x="128016" y="256032"/>
                  </a:cubicBezTo>
                  <a:cubicBezTo>
                    <a:pt x="57277" y="256032"/>
                    <a:pt x="0" y="198755"/>
                    <a:pt x="0" y="128016"/>
                  </a:cubicBezTo>
                  <a:close/>
                </a:path>
              </a:pathLst>
            </a:custGeom>
            <a:solidFill>
              <a:srgbClr val="22C55E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2057400" y="2537460"/>
            <a:ext cx="7269480" cy="329184"/>
            <a:chOff x="0" y="0"/>
            <a:chExt cx="9692640" cy="43891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692640" cy="438912"/>
            </a:xfrm>
            <a:custGeom>
              <a:avLst/>
              <a:gdLst/>
              <a:ahLst/>
              <a:cxnLst/>
              <a:rect r="r" b="b" t="t" l="l"/>
              <a:pathLst>
                <a:path h="438912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80294" r="0" b="-380294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9525"/>
              <a:ext cx="9692640" cy="4484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b="true">
                  <a:solidFill>
                    <a:srgbClr val="7FA0C4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SIMPLICITY STUDIO CONSOLE</a:t>
              </a: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257300" y="3162300"/>
            <a:ext cx="7909560" cy="5981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0"/>
              </a:lnSpc>
            </a:pPr>
            <a:r>
              <a:rPr lang="en-US" sz="1575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SiWG917 Face Attendance Application</a:t>
            </a:r>
          </a:p>
          <a:p>
            <a:pPr algn="l">
              <a:lnSpc>
                <a:spcPts val="2230"/>
              </a:lnSpc>
            </a:pPr>
            <a:r>
              <a:rPr lang="en-US" sz="1575">
                <a:solidFill>
                  <a:srgbClr val="A9BBD1"/>
                </a:solidFill>
                <a:latin typeface="Courier New"/>
                <a:ea typeface="Courier New"/>
                <a:cs typeface="Courier New"/>
                <a:sym typeface="Courier New"/>
              </a:rPr>
              <a:t>BRD2605A — Application Started</a:t>
            </a:r>
          </a:p>
          <a:p>
            <a:pPr algn="l">
              <a:lnSpc>
                <a:spcPts val="2230"/>
              </a:lnSpc>
            </a:pPr>
            <a:r>
              <a:rPr lang="en-US" sz="1575">
                <a:solidFill>
                  <a:srgbClr val="A9BBD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</a:p>
          <a:p>
            <a:pPr algn="l">
              <a:lnSpc>
                <a:spcPts val="2230"/>
              </a:lnSpc>
            </a:pPr>
            <a:r>
              <a:rPr lang="en-US" sz="1575">
                <a:solidFill>
                  <a:srgbClr val="22C55E"/>
                </a:solidFill>
                <a:latin typeface="Courier New"/>
                <a:ea typeface="Courier New"/>
                <a:cs typeface="Courier New"/>
                <a:sym typeface="Courier New"/>
              </a:rPr>
              <a:t>RGB LED initialized</a:t>
            </a:r>
          </a:p>
          <a:p>
            <a:pPr algn="l">
              <a:lnSpc>
                <a:spcPts val="2230"/>
              </a:lnSpc>
            </a:pPr>
            <a:r>
              <a:rPr lang="en-US" sz="1575">
                <a:solidFill>
                  <a:srgbClr val="3B82F6"/>
                </a:solidFill>
                <a:latin typeface="Courier New"/>
                <a:ea typeface="Courier New"/>
                <a:cs typeface="Courier New"/>
                <a:sym typeface="Courier New"/>
              </a:rPr>
              <a:t>Normal state: BLUE</a:t>
            </a:r>
          </a:p>
          <a:p>
            <a:pPr algn="l">
              <a:lnSpc>
                <a:spcPts val="2230"/>
              </a:lnSpc>
            </a:pPr>
            <a:r>
              <a:rPr lang="en-US" sz="1575">
                <a:solidFill>
                  <a:srgbClr val="A9BBD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</a:p>
          <a:p>
            <a:pPr algn="l">
              <a:lnSpc>
                <a:spcPts val="2230"/>
              </a:lnSpc>
            </a:pPr>
            <a:r>
              <a:rPr lang="en-US" sz="1575">
                <a:solidFill>
                  <a:srgbClr val="A9BBD1"/>
                </a:solidFill>
                <a:latin typeface="Courier New"/>
                <a:ea typeface="Courier New"/>
                <a:cs typeface="Courier New"/>
                <a:sym typeface="Courier New"/>
              </a:rPr>
              <a:t>Initializing Wi-Fi...</a:t>
            </a:r>
          </a:p>
          <a:p>
            <a:pPr algn="l">
              <a:lnSpc>
                <a:spcPts val="2230"/>
              </a:lnSpc>
            </a:pPr>
            <a:r>
              <a:rPr lang="en-US" sz="1575">
                <a:solidFill>
                  <a:srgbClr val="A9BBD1"/>
                </a:solidFill>
                <a:latin typeface="Courier New"/>
                <a:ea typeface="Courier New"/>
                <a:cs typeface="Courier New"/>
                <a:sym typeface="Courier New"/>
              </a:rPr>
              <a:t>Wi-Fi interface initialized</a:t>
            </a:r>
          </a:p>
          <a:p>
            <a:pPr algn="l">
              <a:lnSpc>
                <a:spcPts val="2230"/>
              </a:lnSpc>
            </a:pPr>
            <a:r>
              <a:rPr lang="en-US" sz="1575">
                <a:solidFill>
                  <a:srgbClr val="22C55E"/>
                </a:solidFill>
                <a:latin typeface="Courier New"/>
                <a:ea typeface="Courier New"/>
                <a:cs typeface="Courier New"/>
                <a:sym typeface="Courier New"/>
              </a:rPr>
              <a:t>Wi-Fi connected successfully!</a:t>
            </a:r>
          </a:p>
          <a:p>
            <a:pPr algn="l">
              <a:lnSpc>
                <a:spcPts val="2230"/>
              </a:lnSpc>
            </a:pPr>
            <a:r>
              <a:rPr lang="en-US" sz="1575">
                <a:solidFill>
                  <a:srgbClr val="A9BBD1"/>
                </a:solidFill>
                <a:latin typeface="Courier New"/>
                <a:ea typeface="Courier New"/>
                <a:cs typeface="Courier New"/>
                <a:sym typeface="Courier New"/>
              </a:rPr>
              <a:t>SiWG917 IPv4 Address: 192.168.2.143</a:t>
            </a:r>
          </a:p>
          <a:p>
            <a:pPr algn="l">
              <a:lnSpc>
                <a:spcPts val="2230"/>
              </a:lnSpc>
            </a:pPr>
            <a:r>
              <a:rPr lang="en-US" sz="1575">
                <a:solidFill>
                  <a:srgbClr val="A9BBD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</a:p>
          <a:p>
            <a:pPr algn="l">
              <a:lnSpc>
                <a:spcPts val="2230"/>
              </a:lnSpc>
            </a:pPr>
            <a:r>
              <a:rPr lang="en-US" sz="1575">
                <a:solidFill>
                  <a:srgbClr val="A9BBD1"/>
                </a:solidFill>
                <a:latin typeface="Courier New"/>
                <a:ea typeface="Courier New"/>
                <a:cs typeface="Courier New"/>
                <a:sym typeface="Courier New"/>
              </a:rPr>
              <a:t>Binding HTTP server...</a:t>
            </a:r>
          </a:p>
          <a:p>
            <a:pPr algn="l">
              <a:lnSpc>
                <a:spcPts val="2230"/>
              </a:lnSpc>
            </a:pPr>
            <a:r>
              <a:rPr lang="en-US" sz="1575">
                <a:solidFill>
                  <a:srgbClr val="A9BBD1"/>
                </a:solidFill>
                <a:latin typeface="Courier New"/>
                <a:ea typeface="Courier New"/>
                <a:cs typeface="Courier New"/>
                <a:sym typeface="Courier New"/>
              </a:rPr>
              <a:t>HTTP server initialized</a:t>
            </a:r>
          </a:p>
          <a:p>
            <a:pPr algn="l">
              <a:lnSpc>
                <a:spcPts val="2230"/>
              </a:lnSpc>
            </a:pPr>
            <a:r>
              <a:rPr lang="en-US" sz="1575">
                <a:solidFill>
                  <a:srgbClr val="22C55E"/>
                </a:solidFill>
                <a:latin typeface="Courier New"/>
                <a:ea typeface="Courier New"/>
                <a:cs typeface="Courier New"/>
                <a:sym typeface="Courier New"/>
              </a:rPr>
              <a:t>HTTP SERVER STARTED — PORT: 80</a:t>
            </a:r>
          </a:p>
          <a:p>
            <a:pPr algn="l">
              <a:lnSpc>
                <a:spcPts val="2230"/>
              </a:lnSpc>
            </a:pPr>
            <a:r>
              <a:rPr lang="en-US" sz="1575">
                <a:solidFill>
                  <a:srgbClr val="22C55E"/>
                </a:solidFill>
                <a:latin typeface="Courier New"/>
                <a:ea typeface="Courier New"/>
                <a:cs typeface="Courier New"/>
                <a:sym typeface="Courier New"/>
              </a:rPr>
              <a:t>DEVICE: SiWG917 + BRD2605A — STATUS: ONLINE</a:t>
            </a:r>
          </a:p>
          <a:p>
            <a:pPr algn="l">
              <a:lnSpc>
                <a:spcPts val="2230"/>
              </a:lnSpc>
            </a:pPr>
            <a:r>
              <a:rPr lang="en-US" sz="1575">
                <a:solidFill>
                  <a:srgbClr val="A9BBD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</a:p>
          <a:p>
            <a:pPr algn="l">
              <a:lnSpc>
                <a:spcPts val="2230"/>
              </a:lnSpc>
            </a:pPr>
            <a:r>
              <a:rPr lang="en-US" sz="1575">
                <a:solidFill>
                  <a:srgbClr val="7FA0C4"/>
                </a:solidFill>
                <a:latin typeface="Courier New"/>
                <a:ea typeface="Courier New"/>
                <a:cs typeface="Courier New"/>
                <a:sym typeface="Courier New"/>
              </a:rPr>
              <a:t>/health?key=&lt;API_KEY&gt;</a:t>
            </a:r>
          </a:p>
          <a:p>
            <a:pPr algn="l">
              <a:lnSpc>
                <a:spcPts val="2230"/>
              </a:lnSpc>
            </a:pPr>
            <a:r>
              <a:rPr lang="en-US" sz="1575">
                <a:solidFill>
                  <a:srgbClr val="7FA0C4"/>
                </a:solidFill>
                <a:latin typeface="Courier New"/>
                <a:ea typeface="Courier New"/>
                <a:cs typeface="Courier New"/>
                <a:sym typeface="Courier New"/>
              </a:rPr>
              <a:t>/led?color=red|green|blue&amp;key=&lt;API_KEY&gt;</a:t>
            </a:r>
          </a:p>
          <a:p>
            <a:pPr algn="l">
              <a:lnSpc>
                <a:spcPts val="2230"/>
              </a:lnSpc>
            </a:pPr>
            <a:r>
              <a:rPr lang="en-US" sz="1575">
                <a:solidFill>
                  <a:srgbClr val="A9BBD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</a:p>
          <a:p>
            <a:pPr algn="l">
              <a:lnSpc>
                <a:spcPts val="2230"/>
              </a:lnSpc>
            </a:pPr>
            <a:r>
              <a:rPr lang="en-US" sz="1575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FACE ATTENDANCE GATE READY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0003155" y="2322195"/>
            <a:ext cx="7494270" cy="4202430"/>
            <a:chOff x="0" y="0"/>
            <a:chExt cx="9992360" cy="56032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992360" cy="5603240"/>
            </a:xfrm>
            <a:custGeom>
              <a:avLst/>
              <a:gdLst/>
              <a:ahLst/>
              <a:cxnLst/>
              <a:rect r="r" b="b" t="t" l="l"/>
              <a:pathLst>
                <a:path h="5603240" w="9992360">
                  <a:moveTo>
                    <a:pt x="0" y="183769"/>
                  </a:moveTo>
                  <a:cubicBezTo>
                    <a:pt x="0" y="82296"/>
                    <a:pt x="82296" y="0"/>
                    <a:pt x="183769" y="0"/>
                  </a:cubicBezTo>
                  <a:lnTo>
                    <a:pt x="9808591" y="0"/>
                  </a:lnTo>
                  <a:cubicBezTo>
                    <a:pt x="9910064" y="0"/>
                    <a:pt x="9992360" y="82296"/>
                    <a:pt x="9992360" y="183769"/>
                  </a:cubicBezTo>
                  <a:lnTo>
                    <a:pt x="9992360" y="5419471"/>
                  </a:lnTo>
                  <a:cubicBezTo>
                    <a:pt x="9992360" y="5520944"/>
                    <a:pt x="9910064" y="5603240"/>
                    <a:pt x="9808591" y="5603240"/>
                  </a:cubicBezTo>
                  <a:lnTo>
                    <a:pt x="183769" y="5603240"/>
                  </a:lnTo>
                  <a:cubicBezTo>
                    <a:pt x="82296" y="5603240"/>
                    <a:pt x="0" y="5520944"/>
                    <a:pt x="0" y="5419471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CE5F0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10218420" y="2537460"/>
            <a:ext cx="7063740" cy="3319272"/>
            <a:chOff x="0" y="0"/>
            <a:chExt cx="9418320" cy="4425696"/>
          </a:xfrm>
        </p:grpSpPr>
        <p:sp>
          <p:nvSpPr>
            <p:cNvPr name="Freeform 23" id="23" descr="/home/claude/media/media/image1.png"/>
            <p:cNvSpPr/>
            <p:nvPr/>
          </p:nvSpPr>
          <p:spPr>
            <a:xfrm flipH="false" flipV="false" rot="0">
              <a:off x="0" y="0"/>
              <a:ext cx="9418320" cy="4425696"/>
            </a:xfrm>
            <a:custGeom>
              <a:avLst/>
              <a:gdLst/>
              <a:ahLst/>
              <a:cxnLst/>
              <a:rect r="r" b="b" t="t" l="l"/>
              <a:pathLst>
                <a:path h="4425696" w="9418320">
                  <a:moveTo>
                    <a:pt x="0" y="0"/>
                  </a:moveTo>
                  <a:lnTo>
                    <a:pt x="9418320" y="0"/>
                  </a:lnTo>
                  <a:lnTo>
                    <a:pt x="9418320" y="4425696"/>
                  </a:lnTo>
                  <a:lnTo>
                    <a:pt x="0" y="44256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88" t="0" r="-88" b="0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0012680" y="5966460"/>
            <a:ext cx="7475220" cy="411480"/>
            <a:chOff x="0" y="0"/>
            <a:chExt cx="9966960" cy="54864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9966960" cy="548640"/>
            </a:xfrm>
            <a:custGeom>
              <a:avLst/>
              <a:gdLst/>
              <a:ahLst/>
              <a:cxnLst/>
              <a:rect r="r" b="b" t="t" l="l"/>
              <a:pathLst>
                <a:path h="548640" w="9966960">
                  <a:moveTo>
                    <a:pt x="0" y="0"/>
                  </a:moveTo>
                  <a:lnTo>
                    <a:pt x="9966960" y="0"/>
                  </a:lnTo>
                  <a:lnTo>
                    <a:pt x="996696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03978" r="0" b="-303978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28575"/>
              <a:ext cx="996696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0B1E3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Web Dashboard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0012680" y="6652260"/>
            <a:ext cx="7475220" cy="2743200"/>
            <a:chOff x="0" y="0"/>
            <a:chExt cx="9966960" cy="36576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9966960" cy="3657600"/>
            </a:xfrm>
            <a:custGeom>
              <a:avLst/>
              <a:gdLst/>
              <a:ahLst/>
              <a:cxnLst/>
              <a:rect r="r" b="b" t="t" l="l"/>
              <a:pathLst>
                <a:path h="3657600" w="996696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9784080" y="0"/>
                  </a:lnTo>
                  <a:cubicBezTo>
                    <a:pt x="9885045" y="0"/>
                    <a:pt x="9966960" y="81915"/>
                    <a:pt x="9966960" y="182880"/>
                  </a:cubicBezTo>
                  <a:lnTo>
                    <a:pt x="9966960" y="3474720"/>
                  </a:lnTo>
                  <a:cubicBezTo>
                    <a:pt x="9966960" y="3575685"/>
                    <a:pt x="9885045" y="3657600"/>
                    <a:pt x="9784080" y="3657600"/>
                  </a:cubicBezTo>
                  <a:lnTo>
                    <a:pt x="182880" y="3657600"/>
                  </a:lnTo>
                  <a:cubicBezTo>
                    <a:pt x="81915" y="3657600"/>
                    <a:pt x="0" y="3575685"/>
                    <a:pt x="0" y="3474720"/>
                  </a:cubicBezTo>
                  <a:close/>
                </a:path>
              </a:pathLst>
            </a:custGeom>
            <a:solidFill>
              <a:srgbClr val="0B1E3D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0287000" y="6926580"/>
            <a:ext cx="466344" cy="466344"/>
            <a:chOff x="0" y="0"/>
            <a:chExt cx="621792" cy="621792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21792" cy="621792"/>
            </a:xfrm>
            <a:custGeom>
              <a:avLst/>
              <a:gdLst/>
              <a:ahLst/>
              <a:cxnLst/>
              <a:rect r="r" b="b" t="t" l="l"/>
              <a:pathLst>
                <a:path h="621792" w="621792">
                  <a:moveTo>
                    <a:pt x="0" y="310896"/>
                  </a:moveTo>
                  <a:cubicBezTo>
                    <a:pt x="0" y="139192"/>
                    <a:pt x="139192" y="0"/>
                    <a:pt x="310896" y="0"/>
                  </a:cubicBezTo>
                  <a:cubicBezTo>
                    <a:pt x="482600" y="0"/>
                    <a:pt x="621792" y="139192"/>
                    <a:pt x="621792" y="310896"/>
                  </a:cubicBezTo>
                  <a:cubicBezTo>
                    <a:pt x="621792" y="482600"/>
                    <a:pt x="482600" y="621792"/>
                    <a:pt x="310896" y="621792"/>
                  </a:cubicBezTo>
                  <a:cubicBezTo>
                    <a:pt x="139192" y="621792"/>
                    <a:pt x="0" y="482600"/>
                    <a:pt x="0" y="310896"/>
                  </a:cubicBezTo>
                  <a:close/>
                </a:path>
              </a:pathLst>
            </a:custGeom>
            <a:solidFill>
              <a:srgbClr val="22C55E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0408253" y="7047833"/>
            <a:ext cx="223847" cy="223847"/>
            <a:chOff x="0" y="0"/>
            <a:chExt cx="298463" cy="298463"/>
          </a:xfrm>
        </p:grpSpPr>
        <p:sp>
          <p:nvSpPr>
            <p:cNvPr name="Freeform 32" id="32" descr="/home/claude/ppt/icons/check_navy.png"/>
            <p:cNvSpPr/>
            <p:nvPr/>
          </p:nvSpPr>
          <p:spPr>
            <a:xfrm flipH="false" flipV="false" rot="0">
              <a:off x="0" y="0"/>
              <a:ext cx="298450" cy="298450"/>
            </a:xfrm>
            <a:custGeom>
              <a:avLst/>
              <a:gdLst/>
              <a:ahLst/>
              <a:cxnLst/>
              <a:rect r="r" b="b" t="t" l="l"/>
              <a:pathLst>
                <a:path h="298450" w="298450">
                  <a:moveTo>
                    <a:pt x="0" y="0"/>
                  </a:moveTo>
                  <a:lnTo>
                    <a:pt x="298450" y="0"/>
                  </a:lnTo>
                  <a:lnTo>
                    <a:pt x="298450" y="298450"/>
                  </a:lnTo>
                  <a:lnTo>
                    <a:pt x="0" y="2984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4" b="-4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0904220" y="6885432"/>
            <a:ext cx="6309360" cy="548640"/>
            <a:chOff x="0" y="0"/>
            <a:chExt cx="8412480" cy="73152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8412480" cy="731520"/>
            </a:xfrm>
            <a:custGeom>
              <a:avLst/>
              <a:gdLst/>
              <a:ahLst/>
              <a:cxnLst/>
              <a:rect r="r" b="b" t="t" l="l"/>
              <a:pathLst>
                <a:path h="731520" w="8412480">
                  <a:moveTo>
                    <a:pt x="0" y="0"/>
                  </a:moveTo>
                  <a:lnTo>
                    <a:pt x="8412480" y="0"/>
                  </a:lnTo>
                  <a:lnTo>
                    <a:pt x="84124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4077" r="0" b="-174077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19050"/>
              <a:ext cx="841248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Wi-Fi connected successfully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0287000" y="7530084"/>
            <a:ext cx="466344" cy="466344"/>
            <a:chOff x="0" y="0"/>
            <a:chExt cx="621792" cy="621792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621792" cy="621792"/>
            </a:xfrm>
            <a:custGeom>
              <a:avLst/>
              <a:gdLst/>
              <a:ahLst/>
              <a:cxnLst/>
              <a:rect r="r" b="b" t="t" l="l"/>
              <a:pathLst>
                <a:path h="621792" w="621792">
                  <a:moveTo>
                    <a:pt x="0" y="310896"/>
                  </a:moveTo>
                  <a:cubicBezTo>
                    <a:pt x="0" y="139192"/>
                    <a:pt x="139192" y="0"/>
                    <a:pt x="310896" y="0"/>
                  </a:cubicBezTo>
                  <a:cubicBezTo>
                    <a:pt x="482600" y="0"/>
                    <a:pt x="621792" y="139192"/>
                    <a:pt x="621792" y="310896"/>
                  </a:cubicBezTo>
                  <a:cubicBezTo>
                    <a:pt x="621792" y="482600"/>
                    <a:pt x="482600" y="621792"/>
                    <a:pt x="310896" y="621792"/>
                  </a:cubicBezTo>
                  <a:cubicBezTo>
                    <a:pt x="139192" y="621792"/>
                    <a:pt x="0" y="482600"/>
                    <a:pt x="0" y="310896"/>
                  </a:cubicBezTo>
                  <a:close/>
                </a:path>
              </a:pathLst>
            </a:custGeom>
            <a:solidFill>
              <a:srgbClr val="22C55E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0408253" y="7651337"/>
            <a:ext cx="223847" cy="223847"/>
            <a:chOff x="0" y="0"/>
            <a:chExt cx="298463" cy="298463"/>
          </a:xfrm>
        </p:grpSpPr>
        <p:sp>
          <p:nvSpPr>
            <p:cNvPr name="Freeform 39" id="39" descr="/home/claude/ppt/icons/check_navy.png"/>
            <p:cNvSpPr/>
            <p:nvPr/>
          </p:nvSpPr>
          <p:spPr>
            <a:xfrm flipH="false" flipV="false" rot="0">
              <a:off x="0" y="0"/>
              <a:ext cx="298450" cy="298450"/>
            </a:xfrm>
            <a:custGeom>
              <a:avLst/>
              <a:gdLst/>
              <a:ahLst/>
              <a:cxnLst/>
              <a:rect r="r" b="b" t="t" l="l"/>
              <a:pathLst>
                <a:path h="298450" w="298450">
                  <a:moveTo>
                    <a:pt x="0" y="0"/>
                  </a:moveTo>
                  <a:lnTo>
                    <a:pt x="298450" y="0"/>
                  </a:lnTo>
                  <a:lnTo>
                    <a:pt x="298450" y="298450"/>
                  </a:lnTo>
                  <a:lnTo>
                    <a:pt x="0" y="2984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4" b="-4"/>
              </a:stretch>
            </a:blip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0904220" y="7488936"/>
            <a:ext cx="6309360" cy="548640"/>
            <a:chOff x="0" y="0"/>
            <a:chExt cx="8412480" cy="73152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8412480" cy="731520"/>
            </a:xfrm>
            <a:custGeom>
              <a:avLst/>
              <a:gdLst/>
              <a:ahLst/>
              <a:cxnLst/>
              <a:rect r="r" b="b" t="t" l="l"/>
              <a:pathLst>
                <a:path h="731520" w="8412480">
                  <a:moveTo>
                    <a:pt x="0" y="0"/>
                  </a:moveTo>
                  <a:lnTo>
                    <a:pt x="8412480" y="0"/>
                  </a:lnTo>
                  <a:lnTo>
                    <a:pt x="84124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4077" r="0" b="-174077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19050"/>
              <a:ext cx="841248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HTTP server started — device online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0287000" y="8133588"/>
            <a:ext cx="466344" cy="466344"/>
            <a:chOff x="0" y="0"/>
            <a:chExt cx="621792" cy="621792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621792" cy="621792"/>
            </a:xfrm>
            <a:custGeom>
              <a:avLst/>
              <a:gdLst/>
              <a:ahLst/>
              <a:cxnLst/>
              <a:rect r="r" b="b" t="t" l="l"/>
              <a:pathLst>
                <a:path h="621792" w="621792">
                  <a:moveTo>
                    <a:pt x="0" y="310896"/>
                  </a:moveTo>
                  <a:cubicBezTo>
                    <a:pt x="0" y="139192"/>
                    <a:pt x="139192" y="0"/>
                    <a:pt x="310896" y="0"/>
                  </a:cubicBezTo>
                  <a:cubicBezTo>
                    <a:pt x="482600" y="0"/>
                    <a:pt x="621792" y="139192"/>
                    <a:pt x="621792" y="310896"/>
                  </a:cubicBezTo>
                  <a:cubicBezTo>
                    <a:pt x="621792" y="482600"/>
                    <a:pt x="482600" y="621792"/>
                    <a:pt x="310896" y="621792"/>
                  </a:cubicBezTo>
                  <a:cubicBezTo>
                    <a:pt x="139192" y="621792"/>
                    <a:pt x="0" y="482600"/>
                    <a:pt x="0" y="310896"/>
                  </a:cubicBezTo>
                  <a:close/>
                </a:path>
              </a:pathLst>
            </a:custGeom>
            <a:solidFill>
              <a:srgbClr val="22C55E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0408253" y="8254841"/>
            <a:ext cx="223847" cy="223847"/>
            <a:chOff x="0" y="0"/>
            <a:chExt cx="298463" cy="298463"/>
          </a:xfrm>
        </p:grpSpPr>
        <p:sp>
          <p:nvSpPr>
            <p:cNvPr name="Freeform 46" id="46" descr="/home/claude/ppt/icons/check_navy.png"/>
            <p:cNvSpPr/>
            <p:nvPr/>
          </p:nvSpPr>
          <p:spPr>
            <a:xfrm flipH="false" flipV="false" rot="0">
              <a:off x="0" y="0"/>
              <a:ext cx="298450" cy="298450"/>
            </a:xfrm>
            <a:custGeom>
              <a:avLst/>
              <a:gdLst/>
              <a:ahLst/>
              <a:cxnLst/>
              <a:rect r="r" b="b" t="t" l="l"/>
              <a:pathLst>
                <a:path h="298450" w="298450">
                  <a:moveTo>
                    <a:pt x="0" y="0"/>
                  </a:moveTo>
                  <a:lnTo>
                    <a:pt x="298450" y="0"/>
                  </a:lnTo>
                  <a:lnTo>
                    <a:pt x="298450" y="298450"/>
                  </a:lnTo>
                  <a:lnTo>
                    <a:pt x="0" y="2984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4" b="-4"/>
              </a:stretch>
            </a:blip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0904220" y="8092440"/>
            <a:ext cx="6309360" cy="548640"/>
            <a:chOff x="0" y="0"/>
            <a:chExt cx="8412480" cy="73152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8412480" cy="731520"/>
            </a:xfrm>
            <a:custGeom>
              <a:avLst/>
              <a:gdLst/>
              <a:ahLst/>
              <a:cxnLst/>
              <a:rect r="r" b="b" t="t" l="l"/>
              <a:pathLst>
                <a:path h="731520" w="8412480">
                  <a:moveTo>
                    <a:pt x="0" y="0"/>
                  </a:moveTo>
                  <a:lnTo>
                    <a:pt x="8412480" y="0"/>
                  </a:lnTo>
                  <a:lnTo>
                    <a:pt x="84124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4077" r="0" b="-174077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19050"/>
              <a:ext cx="841248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Registered students recognized with confidence score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0287000" y="8737092"/>
            <a:ext cx="466344" cy="466344"/>
            <a:chOff x="0" y="0"/>
            <a:chExt cx="621792" cy="621792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621792" cy="621792"/>
            </a:xfrm>
            <a:custGeom>
              <a:avLst/>
              <a:gdLst/>
              <a:ahLst/>
              <a:cxnLst/>
              <a:rect r="r" b="b" t="t" l="l"/>
              <a:pathLst>
                <a:path h="621792" w="621792">
                  <a:moveTo>
                    <a:pt x="0" y="310896"/>
                  </a:moveTo>
                  <a:cubicBezTo>
                    <a:pt x="0" y="139192"/>
                    <a:pt x="139192" y="0"/>
                    <a:pt x="310896" y="0"/>
                  </a:cubicBezTo>
                  <a:cubicBezTo>
                    <a:pt x="482600" y="0"/>
                    <a:pt x="621792" y="139192"/>
                    <a:pt x="621792" y="310896"/>
                  </a:cubicBezTo>
                  <a:cubicBezTo>
                    <a:pt x="621792" y="482600"/>
                    <a:pt x="482600" y="621792"/>
                    <a:pt x="310896" y="621792"/>
                  </a:cubicBezTo>
                  <a:cubicBezTo>
                    <a:pt x="139192" y="621792"/>
                    <a:pt x="0" y="482600"/>
                    <a:pt x="0" y="310896"/>
                  </a:cubicBezTo>
                  <a:close/>
                </a:path>
              </a:pathLst>
            </a:custGeom>
            <a:solidFill>
              <a:srgbClr val="22C55E"/>
            </a:solid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10408253" y="8858345"/>
            <a:ext cx="223847" cy="223847"/>
            <a:chOff x="0" y="0"/>
            <a:chExt cx="298463" cy="298463"/>
          </a:xfrm>
        </p:grpSpPr>
        <p:sp>
          <p:nvSpPr>
            <p:cNvPr name="Freeform 53" id="53" descr="/home/claude/ppt/icons/check_navy.png"/>
            <p:cNvSpPr/>
            <p:nvPr/>
          </p:nvSpPr>
          <p:spPr>
            <a:xfrm flipH="false" flipV="false" rot="0">
              <a:off x="0" y="0"/>
              <a:ext cx="298450" cy="298450"/>
            </a:xfrm>
            <a:custGeom>
              <a:avLst/>
              <a:gdLst/>
              <a:ahLst/>
              <a:cxnLst/>
              <a:rect r="r" b="b" t="t" l="l"/>
              <a:pathLst>
                <a:path h="298450" w="298450">
                  <a:moveTo>
                    <a:pt x="0" y="0"/>
                  </a:moveTo>
                  <a:lnTo>
                    <a:pt x="298450" y="0"/>
                  </a:lnTo>
                  <a:lnTo>
                    <a:pt x="298450" y="298450"/>
                  </a:lnTo>
                  <a:lnTo>
                    <a:pt x="0" y="2984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4" b="-4"/>
              </a:stretch>
            </a:blip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10904220" y="8695944"/>
            <a:ext cx="6309360" cy="548640"/>
            <a:chOff x="0" y="0"/>
            <a:chExt cx="8412480" cy="73152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8412480" cy="731520"/>
            </a:xfrm>
            <a:custGeom>
              <a:avLst/>
              <a:gdLst/>
              <a:ahLst/>
              <a:cxnLst/>
              <a:rect r="r" b="b" t="t" l="l"/>
              <a:pathLst>
                <a:path h="731520" w="8412480">
                  <a:moveTo>
                    <a:pt x="0" y="0"/>
                  </a:moveTo>
                  <a:lnTo>
                    <a:pt x="8412480" y="0"/>
                  </a:lnTo>
                  <a:lnTo>
                    <a:pt x="84124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4077" r="0" b="-174077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19050"/>
              <a:ext cx="841248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Attendance recorded with date, time &amp; status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685800" y="9738360"/>
            <a:ext cx="9601200" cy="411480"/>
            <a:chOff x="0" y="0"/>
            <a:chExt cx="12801600" cy="54864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2801600" cy="548640"/>
            </a:xfrm>
            <a:custGeom>
              <a:avLst/>
              <a:gdLst/>
              <a:ahLst/>
              <a:cxnLst/>
              <a:rect r="r" b="b" t="t" l="l"/>
              <a:pathLst>
                <a:path h="548640" w="12801600">
                  <a:moveTo>
                    <a:pt x="0" y="0"/>
                  </a:moveTo>
                  <a:lnTo>
                    <a:pt x="12801600" y="0"/>
                  </a:lnTo>
                  <a:lnTo>
                    <a:pt x="128016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04650" r="0" b="-404650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19050"/>
              <a:ext cx="1280160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sz="1200" spc="150">
                  <a:solidFill>
                    <a:srgbClr val="9FB0C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SMART FACE ATTENDANCE &amp; ACCESS GATE SYSTEM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16915943" y="9738360"/>
            <a:ext cx="685800" cy="411480"/>
            <a:chOff x="0" y="0"/>
            <a:chExt cx="914400" cy="54864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9FB0C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12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85800"/>
            <a:ext cx="10972800" cy="480060"/>
            <a:chOff x="0" y="0"/>
            <a:chExt cx="146304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640080"/>
            </a:xfrm>
            <a:custGeom>
              <a:avLst/>
              <a:gdLst/>
              <a:ahLst/>
              <a:cxnLst/>
              <a:rect r="r" b="b" t="t" l="l"/>
              <a:pathLst>
                <a:path h="64008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95372" r="0" b="-39537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46304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300">
                  <a:solidFill>
                    <a:srgbClr val="22D3E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APPLICATIONS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1165860"/>
            <a:ext cx="15773400" cy="960120"/>
            <a:chOff x="0" y="0"/>
            <a:chExt cx="21031200" cy="12801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0312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0111" r="0" b="-270111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103120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0B1E3D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Applications &amp; Future Scope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2331720"/>
            <a:ext cx="8092440" cy="411480"/>
            <a:chOff x="0" y="0"/>
            <a:chExt cx="10789920" cy="5486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789920" cy="548640"/>
            </a:xfrm>
            <a:custGeom>
              <a:avLst/>
              <a:gdLst/>
              <a:ahLst/>
              <a:cxnLst/>
              <a:rect r="r" b="b" t="t" l="l"/>
              <a:pathLst>
                <a:path h="548640" w="10789920">
                  <a:moveTo>
                    <a:pt x="0" y="0"/>
                  </a:moveTo>
                  <a:lnTo>
                    <a:pt x="10789920" y="0"/>
                  </a:lnTo>
                  <a:lnTo>
                    <a:pt x="107899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3205" r="0" b="-333205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078992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225">
                  <a:solidFill>
                    <a:srgbClr val="0E749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APPLICATIONS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13435" y="2870835"/>
            <a:ext cx="4099560" cy="951738"/>
            <a:chOff x="0" y="0"/>
            <a:chExt cx="5466080" cy="126898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466080" cy="1268984"/>
            </a:xfrm>
            <a:custGeom>
              <a:avLst/>
              <a:gdLst/>
              <a:ahLst/>
              <a:cxnLst/>
              <a:rect r="r" b="b" t="t" l="l"/>
              <a:pathLst>
                <a:path h="1268984" w="5466080">
                  <a:moveTo>
                    <a:pt x="0" y="149352"/>
                  </a:moveTo>
                  <a:cubicBezTo>
                    <a:pt x="0" y="66802"/>
                    <a:pt x="66802" y="0"/>
                    <a:pt x="149352" y="0"/>
                  </a:cubicBezTo>
                  <a:lnTo>
                    <a:pt x="5316728" y="0"/>
                  </a:lnTo>
                  <a:cubicBezTo>
                    <a:pt x="5399151" y="0"/>
                    <a:pt x="5466080" y="66802"/>
                    <a:pt x="5466080" y="149352"/>
                  </a:cubicBezTo>
                  <a:lnTo>
                    <a:pt x="5466080" y="1119632"/>
                  </a:lnTo>
                  <a:cubicBezTo>
                    <a:pt x="5466080" y="1202055"/>
                    <a:pt x="5399278" y="1268984"/>
                    <a:pt x="5316728" y="1268984"/>
                  </a:cubicBezTo>
                  <a:lnTo>
                    <a:pt x="149352" y="1268984"/>
                  </a:lnTo>
                  <a:cubicBezTo>
                    <a:pt x="66802" y="1268984"/>
                    <a:pt x="0" y="1202182"/>
                    <a:pt x="0" y="1119632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CE5F0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987552" y="3044952"/>
            <a:ext cx="603504" cy="603504"/>
            <a:chOff x="0" y="0"/>
            <a:chExt cx="804672" cy="80467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04672" cy="804672"/>
            </a:xfrm>
            <a:custGeom>
              <a:avLst/>
              <a:gdLst/>
              <a:ahLst/>
              <a:cxnLst/>
              <a:rect r="r" b="b" t="t" l="l"/>
              <a:pathLst>
                <a:path h="804672" w="804672">
                  <a:moveTo>
                    <a:pt x="0" y="402336"/>
                  </a:moveTo>
                  <a:cubicBezTo>
                    <a:pt x="0" y="180086"/>
                    <a:pt x="180086" y="0"/>
                    <a:pt x="402336" y="0"/>
                  </a:cubicBezTo>
                  <a:cubicBezTo>
                    <a:pt x="624586" y="0"/>
                    <a:pt x="804672" y="180086"/>
                    <a:pt x="804672" y="402336"/>
                  </a:cubicBezTo>
                  <a:cubicBezTo>
                    <a:pt x="804672" y="624586"/>
                    <a:pt x="624586" y="804672"/>
                    <a:pt x="402336" y="804672"/>
                  </a:cubicBezTo>
                  <a:cubicBezTo>
                    <a:pt x="180086" y="804672"/>
                    <a:pt x="0" y="624586"/>
                    <a:pt x="0" y="402336"/>
                  </a:cubicBezTo>
                  <a:close/>
                </a:path>
              </a:pathLst>
            </a:custGeom>
            <a:solidFill>
              <a:srgbClr val="22D3EE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144467" y="3201867"/>
            <a:ext cx="289684" cy="289684"/>
            <a:chOff x="0" y="0"/>
            <a:chExt cx="386245" cy="386245"/>
          </a:xfrm>
        </p:grpSpPr>
        <p:sp>
          <p:nvSpPr>
            <p:cNvPr name="Freeform 16" id="16" descr="/home/claude/ppt/icons/school_white.png"/>
            <p:cNvSpPr/>
            <p:nvPr/>
          </p:nvSpPr>
          <p:spPr>
            <a:xfrm flipH="false" flipV="false" rot="0">
              <a:off x="0" y="0"/>
              <a:ext cx="386207" cy="386207"/>
            </a:xfrm>
            <a:custGeom>
              <a:avLst/>
              <a:gdLst/>
              <a:ahLst/>
              <a:cxnLst/>
              <a:rect r="r" b="b" t="t" l="l"/>
              <a:pathLst>
                <a:path h="386207" w="386207">
                  <a:moveTo>
                    <a:pt x="0" y="0"/>
                  </a:moveTo>
                  <a:lnTo>
                    <a:pt x="386207" y="0"/>
                  </a:lnTo>
                  <a:lnTo>
                    <a:pt x="386207" y="386207"/>
                  </a:lnTo>
                  <a:lnTo>
                    <a:pt x="0" y="3862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9" b="-9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714500" y="2880360"/>
            <a:ext cx="3051810" cy="932688"/>
            <a:chOff x="0" y="0"/>
            <a:chExt cx="4069080" cy="124358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069080" cy="1243584"/>
            </a:xfrm>
            <a:custGeom>
              <a:avLst/>
              <a:gdLst/>
              <a:ahLst/>
              <a:cxnLst/>
              <a:rect r="r" b="b" t="t" l="l"/>
              <a:pathLst>
                <a:path h="1243584" w="4069080">
                  <a:moveTo>
                    <a:pt x="0" y="0"/>
                  </a:moveTo>
                  <a:lnTo>
                    <a:pt x="4069080" y="0"/>
                  </a:lnTo>
                  <a:lnTo>
                    <a:pt x="4069080" y="1243584"/>
                  </a:lnTo>
                  <a:lnTo>
                    <a:pt x="0" y="124358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756" r="0" b="-13756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28575"/>
              <a:ext cx="4069080" cy="12721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0B1E3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Educational Institutions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5099685" y="2870835"/>
            <a:ext cx="4099560" cy="951738"/>
            <a:chOff x="0" y="0"/>
            <a:chExt cx="5466080" cy="126898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466080" cy="1268984"/>
            </a:xfrm>
            <a:custGeom>
              <a:avLst/>
              <a:gdLst/>
              <a:ahLst/>
              <a:cxnLst/>
              <a:rect r="r" b="b" t="t" l="l"/>
              <a:pathLst>
                <a:path h="1268984" w="5466080">
                  <a:moveTo>
                    <a:pt x="0" y="149352"/>
                  </a:moveTo>
                  <a:cubicBezTo>
                    <a:pt x="0" y="66802"/>
                    <a:pt x="66802" y="0"/>
                    <a:pt x="149352" y="0"/>
                  </a:cubicBezTo>
                  <a:lnTo>
                    <a:pt x="5316728" y="0"/>
                  </a:lnTo>
                  <a:cubicBezTo>
                    <a:pt x="5399151" y="0"/>
                    <a:pt x="5466080" y="66802"/>
                    <a:pt x="5466080" y="149352"/>
                  </a:cubicBezTo>
                  <a:lnTo>
                    <a:pt x="5466080" y="1119632"/>
                  </a:lnTo>
                  <a:cubicBezTo>
                    <a:pt x="5466080" y="1202055"/>
                    <a:pt x="5399278" y="1268984"/>
                    <a:pt x="5316728" y="1268984"/>
                  </a:cubicBezTo>
                  <a:lnTo>
                    <a:pt x="149352" y="1268984"/>
                  </a:lnTo>
                  <a:cubicBezTo>
                    <a:pt x="66802" y="1268984"/>
                    <a:pt x="0" y="1202182"/>
                    <a:pt x="0" y="1119632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CE5F0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5273802" y="3044952"/>
            <a:ext cx="603504" cy="603504"/>
            <a:chOff x="0" y="0"/>
            <a:chExt cx="804672" cy="80467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04672" cy="804672"/>
            </a:xfrm>
            <a:custGeom>
              <a:avLst/>
              <a:gdLst/>
              <a:ahLst/>
              <a:cxnLst/>
              <a:rect r="r" b="b" t="t" l="l"/>
              <a:pathLst>
                <a:path h="804672" w="804672">
                  <a:moveTo>
                    <a:pt x="0" y="402336"/>
                  </a:moveTo>
                  <a:cubicBezTo>
                    <a:pt x="0" y="180086"/>
                    <a:pt x="180086" y="0"/>
                    <a:pt x="402336" y="0"/>
                  </a:cubicBezTo>
                  <a:cubicBezTo>
                    <a:pt x="624586" y="0"/>
                    <a:pt x="804672" y="180086"/>
                    <a:pt x="804672" y="402336"/>
                  </a:cubicBezTo>
                  <a:cubicBezTo>
                    <a:pt x="804672" y="624586"/>
                    <a:pt x="624586" y="804672"/>
                    <a:pt x="402336" y="804672"/>
                  </a:cubicBezTo>
                  <a:cubicBezTo>
                    <a:pt x="180086" y="804672"/>
                    <a:pt x="0" y="624586"/>
                    <a:pt x="0" y="402336"/>
                  </a:cubicBezTo>
                  <a:close/>
                </a:path>
              </a:pathLst>
            </a:custGeom>
            <a:solidFill>
              <a:srgbClr val="22D3EE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5430717" y="3201867"/>
            <a:ext cx="289684" cy="289684"/>
            <a:chOff x="0" y="0"/>
            <a:chExt cx="386245" cy="386245"/>
          </a:xfrm>
        </p:grpSpPr>
        <p:sp>
          <p:nvSpPr>
            <p:cNvPr name="Freeform 25" id="25" descr="/home/claude/ppt/icons/building_white.png"/>
            <p:cNvSpPr/>
            <p:nvPr/>
          </p:nvSpPr>
          <p:spPr>
            <a:xfrm flipH="false" flipV="false" rot="0">
              <a:off x="0" y="0"/>
              <a:ext cx="386207" cy="386207"/>
            </a:xfrm>
            <a:custGeom>
              <a:avLst/>
              <a:gdLst/>
              <a:ahLst/>
              <a:cxnLst/>
              <a:rect r="r" b="b" t="t" l="l"/>
              <a:pathLst>
                <a:path h="386207" w="386207">
                  <a:moveTo>
                    <a:pt x="0" y="0"/>
                  </a:moveTo>
                  <a:lnTo>
                    <a:pt x="386207" y="0"/>
                  </a:lnTo>
                  <a:lnTo>
                    <a:pt x="386207" y="386207"/>
                  </a:lnTo>
                  <a:lnTo>
                    <a:pt x="0" y="3862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9" b="-9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6000750" y="2880360"/>
            <a:ext cx="3051810" cy="932688"/>
            <a:chOff x="0" y="0"/>
            <a:chExt cx="4069080" cy="124358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069080" cy="1243584"/>
            </a:xfrm>
            <a:custGeom>
              <a:avLst/>
              <a:gdLst/>
              <a:ahLst/>
              <a:cxnLst/>
              <a:rect r="r" b="b" t="t" l="l"/>
              <a:pathLst>
                <a:path h="1243584" w="4069080">
                  <a:moveTo>
                    <a:pt x="0" y="0"/>
                  </a:moveTo>
                  <a:lnTo>
                    <a:pt x="4069080" y="0"/>
                  </a:lnTo>
                  <a:lnTo>
                    <a:pt x="4069080" y="1243584"/>
                  </a:lnTo>
                  <a:lnTo>
                    <a:pt x="0" y="124358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756" r="0" b="-13756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28575"/>
              <a:ext cx="4069080" cy="12721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0B1E3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Offices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813435" y="4009263"/>
            <a:ext cx="4099560" cy="951738"/>
            <a:chOff x="0" y="0"/>
            <a:chExt cx="5466080" cy="1268984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466080" cy="1268984"/>
            </a:xfrm>
            <a:custGeom>
              <a:avLst/>
              <a:gdLst/>
              <a:ahLst/>
              <a:cxnLst/>
              <a:rect r="r" b="b" t="t" l="l"/>
              <a:pathLst>
                <a:path h="1268984" w="5466080">
                  <a:moveTo>
                    <a:pt x="0" y="149352"/>
                  </a:moveTo>
                  <a:cubicBezTo>
                    <a:pt x="0" y="66802"/>
                    <a:pt x="66802" y="0"/>
                    <a:pt x="149352" y="0"/>
                  </a:cubicBezTo>
                  <a:lnTo>
                    <a:pt x="5316728" y="0"/>
                  </a:lnTo>
                  <a:cubicBezTo>
                    <a:pt x="5399151" y="0"/>
                    <a:pt x="5466080" y="66802"/>
                    <a:pt x="5466080" y="149352"/>
                  </a:cubicBezTo>
                  <a:lnTo>
                    <a:pt x="5466080" y="1119632"/>
                  </a:lnTo>
                  <a:cubicBezTo>
                    <a:pt x="5466080" y="1202055"/>
                    <a:pt x="5399278" y="1268984"/>
                    <a:pt x="5316728" y="1268984"/>
                  </a:cubicBezTo>
                  <a:lnTo>
                    <a:pt x="149352" y="1268984"/>
                  </a:lnTo>
                  <a:cubicBezTo>
                    <a:pt x="66802" y="1268984"/>
                    <a:pt x="0" y="1202182"/>
                    <a:pt x="0" y="1119632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CE5F0"/>
              </a:solidFill>
              <a:prstDash val="solid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987552" y="4183380"/>
            <a:ext cx="603504" cy="603504"/>
            <a:chOff x="0" y="0"/>
            <a:chExt cx="804672" cy="804672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04672" cy="804672"/>
            </a:xfrm>
            <a:custGeom>
              <a:avLst/>
              <a:gdLst/>
              <a:ahLst/>
              <a:cxnLst/>
              <a:rect r="r" b="b" t="t" l="l"/>
              <a:pathLst>
                <a:path h="804672" w="804672">
                  <a:moveTo>
                    <a:pt x="0" y="402336"/>
                  </a:moveTo>
                  <a:cubicBezTo>
                    <a:pt x="0" y="180086"/>
                    <a:pt x="180086" y="0"/>
                    <a:pt x="402336" y="0"/>
                  </a:cubicBezTo>
                  <a:cubicBezTo>
                    <a:pt x="624586" y="0"/>
                    <a:pt x="804672" y="180086"/>
                    <a:pt x="804672" y="402336"/>
                  </a:cubicBezTo>
                  <a:cubicBezTo>
                    <a:pt x="804672" y="624586"/>
                    <a:pt x="624586" y="804672"/>
                    <a:pt x="402336" y="804672"/>
                  </a:cubicBezTo>
                  <a:cubicBezTo>
                    <a:pt x="180086" y="804672"/>
                    <a:pt x="0" y="624586"/>
                    <a:pt x="0" y="402336"/>
                  </a:cubicBezTo>
                  <a:close/>
                </a:path>
              </a:pathLst>
            </a:custGeom>
            <a:solidFill>
              <a:srgbClr val="22D3EE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144467" y="4340295"/>
            <a:ext cx="289684" cy="289684"/>
            <a:chOff x="0" y="0"/>
            <a:chExt cx="386245" cy="386245"/>
          </a:xfrm>
        </p:grpSpPr>
        <p:sp>
          <p:nvSpPr>
            <p:cNvPr name="Freeform 34" id="34" descr="/home/claude/ppt/icons/flask_white.png"/>
            <p:cNvSpPr/>
            <p:nvPr/>
          </p:nvSpPr>
          <p:spPr>
            <a:xfrm flipH="false" flipV="false" rot="0">
              <a:off x="0" y="0"/>
              <a:ext cx="386207" cy="386207"/>
            </a:xfrm>
            <a:custGeom>
              <a:avLst/>
              <a:gdLst/>
              <a:ahLst/>
              <a:cxnLst/>
              <a:rect r="r" b="b" t="t" l="l"/>
              <a:pathLst>
                <a:path h="386207" w="386207">
                  <a:moveTo>
                    <a:pt x="0" y="0"/>
                  </a:moveTo>
                  <a:lnTo>
                    <a:pt x="386207" y="0"/>
                  </a:lnTo>
                  <a:lnTo>
                    <a:pt x="386207" y="386207"/>
                  </a:lnTo>
                  <a:lnTo>
                    <a:pt x="0" y="3862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9" b="-9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714500" y="4018788"/>
            <a:ext cx="3051810" cy="932688"/>
            <a:chOff x="0" y="0"/>
            <a:chExt cx="4069080" cy="1243584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069080" cy="1243584"/>
            </a:xfrm>
            <a:custGeom>
              <a:avLst/>
              <a:gdLst/>
              <a:ahLst/>
              <a:cxnLst/>
              <a:rect r="r" b="b" t="t" l="l"/>
              <a:pathLst>
                <a:path h="1243584" w="4069080">
                  <a:moveTo>
                    <a:pt x="0" y="0"/>
                  </a:moveTo>
                  <a:lnTo>
                    <a:pt x="4069080" y="0"/>
                  </a:lnTo>
                  <a:lnTo>
                    <a:pt x="4069080" y="1243584"/>
                  </a:lnTo>
                  <a:lnTo>
                    <a:pt x="0" y="124358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756" r="0" b="-13756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28575"/>
              <a:ext cx="4069080" cy="12721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0B1E3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Laboratories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5099685" y="4009263"/>
            <a:ext cx="4099560" cy="951738"/>
            <a:chOff x="0" y="0"/>
            <a:chExt cx="5466080" cy="1268984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5466080" cy="1268984"/>
            </a:xfrm>
            <a:custGeom>
              <a:avLst/>
              <a:gdLst/>
              <a:ahLst/>
              <a:cxnLst/>
              <a:rect r="r" b="b" t="t" l="l"/>
              <a:pathLst>
                <a:path h="1268984" w="5466080">
                  <a:moveTo>
                    <a:pt x="0" y="149352"/>
                  </a:moveTo>
                  <a:cubicBezTo>
                    <a:pt x="0" y="66802"/>
                    <a:pt x="66802" y="0"/>
                    <a:pt x="149352" y="0"/>
                  </a:cubicBezTo>
                  <a:lnTo>
                    <a:pt x="5316728" y="0"/>
                  </a:lnTo>
                  <a:cubicBezTo>
                    <a:pt x="5399151" y="0"/>
                    <a:pt x="5466080" y="66802"/>
                    <a:pt x="5466080" y="149352"/>
                  </a:cubicBezTo>
                  <a:lnTo>
                    <a:pt x="5466080" y="1119632"/>
                  </a:lnTo>
                  <a:cubicBezTo>
                    <a:pt x="5466080" y="1202055"/>
                    <a:pt x="5399278" y="1268984"/>
                    <a:pt x="5316728" y="1268984"/>
                  </a:cubicBezTo>
                  <a:lnTo>
                    <a:pt x="149352" y="1268984"/>
                  </a:lnTo>
                  <a:cubicBezTo>
                    <a:pt x="66802" y="1268984"/>
                    <a:pt x="0" y="1202182"/>
                    <a:pt x="0" y="1119632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CE5F0"/>
              </a:solidFill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5273802" y="4183380"/>
            <a:ext cx="603504" cy="603504"/>
            <a:chOff x="0" y="0"/>
            <a:chExt cx="804672" cy="804672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804672" cy="804672"/>
            </a:xfrm>
            <a:custGeom>
              <a:avLst/>
              <a:gdLst/>
              <a:ahLst/>
              <a:cxnLst/>
              <a:rect r="r" b="b" t="t" l="l"/>
              <a:pathLst>
                <a:path h="804672" w="804672">
                  <a:moveTo>
                    <a:pt x="0" y="402336"/>
                  </a:moveTo>
                  <a:cubicBezTo>
                    <a:pt x="0" y="180086"/>
                    <a:pt x="180086" y="0"/>
                    <a:pt x="402336" y="0"/>
                  </a:cubicBezTo>
                  <a:cubicBezTo>
                    <a:pt x="624586" y="0"/>
                    <a:pt x="804672" y="180086"/>
                    <a:pt x="804672" y="402336"/>
                  </a:cubicBezTo>
                  <a:cubicBezTo>
                    <a:pt x="804672" y="624586"/>
                    <a:pt x="624586" y="804672"/>
                    <a:pt x="402336" y="804672"/>
                  </a:cubicBezTo>
                  <a:cubicBezTo>
                    <a:pt x="180086" y="804672"/>
                    <a:pt x="0" y="624586"/>
                    <a:pt x="0" y="402336"/>
                  </a:cubicBezTo>
                  <a:close/>
                </a:path>
              </a:pathLst>
            </a:custGeom>
            <a:solidFill>
              <a:srgbClr val="22D3EE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5430717" y="4340295"/>
            <a:ext cx="289684" cy="289684"/>
            <a:chOff x="0" y="0"/>
            <a:chExt cx="386245" cy="386245"/>
          </a:xfrm>
        </p:grpSpPr>
        <p:sp>
          <p:nvSpPr>
            <p:cNvPr name="Freeform 43" id="43" descr="/home/claude/ppt/icons/book_white.png"/>
            <p:cNvSpPr/>
            <p:nvPr/>
          </p:nvSpPr>
          <p:spPr>
            <a:xfrm flipH="false" flipV="false" rot="0">
              <a:off x="0" y="0"/>
              <a:ext cx="386207" cy="386207"/>
            </a:xfrm>
            <a:custGeom>
              <a:avLst/>
              <a:gdLst/>
              <a:ahLst/>
              <a:cxnLst/>
              <a:rect r="r" b="b" t="t" l="l"/>
              <a:pathLst>
                <a:path h="386207" w="386207">
                  <a:moveTo>
                    <a:pt x="0" y="0"/>
                  </a:moveTo>
                  <a:lnTo>
                    <a:pt x="386207" y="0"/>
                  </a:lnTo>
                  <a:lnTo>
                    <a:pt x="386207" y="386207"/>
                  </a:lnTo>
                  <a:lnTo>
                    <a:pt x="0" y="3862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-9" b="-9"/>
              </a:stretch>
            </a:blip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6000750" y="4018788"/>
            <a:ext cx="3051810" cy="932688"/>
            <a:chOff x="0" y="0"/>
            <a:chExt cx="4069080" cy="1243584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4069080" cy="1243584"/>
            </a:xfrm>
            <a:custGeom>
              <a:avLst/>
              <a:gdLst/>
              <a:ahLst/>
              <a:cxnLst/>
              <a:rect r="r" b="b" t="t" l="l"/>
              <a:pathLst>
                <a:path h="1243584" w="4069080">
                  <a:moveTo>
                    <a:pt x="0" y="0"/>
                  </a:moveTo>
                  <a:lnTo>
                    <a:pt x="4069080" y="0"/>
                  </a:lnTo>
                  <a:lnTo>
                    <a:pt x="4069080" y="1243584"/>
                  </a:lnTo>
                  <a:lnTo>
                    <a:pt x="0" y="124358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756" r="0" b="-13756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28575"/>
              <a:ext cx="4069080" cy="12721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0B1E3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Libraries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813435" y="5147691"/>
            <a:ext cx="4099560" cy="951738"/>
            <a:chOff x="0" y="0"/>
            <a:chExt cx="5466080" cy="1268984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5466080" cy="1268984"/>
            </a:xfrm>
            <a:custGeom>
              <a:avLst/>
              <a:gdLst/>
              <a:ahLst/>
              <a:cxnLst/>
              <a:rect r="r" b="b" t="t" l="l"/>
              <a:pathLst>
                <a:path h="1268984" w="5466080">
                  <a:moveTo>
                    <a:pt x="0" y="149352"/>
                  </a:moveTo>
                  <a:cubicBezTo>
                    <a:pt x="0" y="66802"/>
                    <a:pt x="66802" y="0"/>
                    <a:pt x="149352" y="0"/>
                  </a:cubicBezTo>
                  <a:lnTo>
                    <a:pt x="5316728" y="0"/>
                  </a:lnTo>
                  <a:cubicBezTo>
                    <a:pt x="5399151" y="0"/>
                    <a:pt x="5466080" y="66802"/>
                    <a:pt x="5466080" y="149352"/>
                  </a:cubicBezTo>
                  <a:lnTo>
                    <a:pt x="5466080" y="1119632"/>
                  </a:lnTo>
                  <a:cubicBezTo>
                    <a:pt x="5466080" y="1202055"/>
                    <a:pt x="5399278" y="1268984"/>
                    <a:pt x="5316728" y="1268984"/>
                  </a:cubicBezTo>
                  <a:lnTo>
                    <a:pt x="149352" y="1268984"/>
                  </a:lnTo>
                  <a:cubicBezTo>
                    <a:pt x="66802" y="1268984"/>
                    <a:pt x="0" y="1202182"/>
                    <a:pt x="0" y="1119632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CE5F0"/>
              </a:solidFill>
              <a:prstDash val="solid"/>
              <a:miter/>
            </a:ln>
          </p:spPr>
        </p:sp>
      </p:grpSp>
      <p:grpSp>
        <p:nvGrpSpPr>
          <p:cNvPr name="Group 49" id="49"/>
          <p:cNvGrpSpPr/>
          <p:nvPr/>
        </p:nvGrpSpPr>
        <p:grpSpPr>
          <a:xfrm rot="0">
            <a:off x="987552" y="5321808"/>
            <a:ext cx="603504" cy="603504"/>
            <a:chOff x="0" y="0"/>
            <a:chExt cx="804672" cy="804672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804672" cy="804672"/>
            </a:xfrm>
            <a:custGeom>
              <a:avLst/>
              <a:gdLst/>
              <a:ahLst/>
              <a:cxnLst/>
              <a:rect r="r" b="b" t="t" l="l"/>
              <a:pathLst>
                <a:path h="804672" w="804672">
                  <a:moveTo>
                    <a:pt x="0" y="402336"/>
                  </a:moveTo>
                  <a:cubicBezTo>
                    <a:pt x="0" y="180086"/>
                    <a:pt x="180086" y="0"/>
                    <a:pt x="402336" y="0"/>
                  </a:cubicBezTo>
                  <a:cubicBezTo>
                    <a:pt x="624586" y="0"/>
                    <a:pt x="804672" y="180086"/>
                    <a:pt x="804672" y="402336"/>
                  </a:cubicBezTo>
                  <a:cubicBezTo>
                    <a:pt x="804672" y="624586"/>
                    <a:pt x="624586" y="804672"/>
                    <a:pt x="402336" y="804672"/>
                  </a:cubicBezTo>
                  <a:cubicBezTo>
                    <a:pt x="180086" y="804672"/>
                    <a:pt x="0" y="624586"/>
                    <a:pt x="0" y="402336"/>
                  </a:cubicBezTo>
                  <a:close/>
                </a:path>
              </a:pathLst>
            </a:custGeom>
            <a:solidFill>
              <a:srgbClr val="22D3EE"/>
            </a:solid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1144467" y="5478723"/>
            <a:ext cx="289684" cy="289684"/>
            <a:chOff x="0" y="0"/>
            <a:chExt cx="386245" cy="386245"/>
          </a:xfrm>
        </p:grpSpPr>
        <p:sp>
          <p:nvSpPr>
            <p:cNvPr name="Freeform 52" id="52" descr="/home/claude/ppt/icons/idbadge_white.png"/>
            <p:cNvSpPr/>
            <p:nvPr/>
          </p:nvSpPr>
          <p:spPr>
            <a:xfrm flipH="false" flipV="false" rot="0">
              <a:off x="0" y="0"/>
              <a:ext cx="386207" cy="386207"/>
            </a:xfrm>
            <a:custGeom>
              <a:avLst/>
              <a:gdLst/>
              <a:ahLst/>
              <a:cxnLst/>
              <a:rect r="r" b="b" t="t" l="l"/>
              <a:pathLst>
                <a:path h="386207" w="386207">
                  <a:moveTo>
                    <a:pt x="0" y="0"/>
                  </a:moveTo>
                  <a:lnTo>
                    <a:pt x="386207" y="0"/>
                  </a:lnTo>
                  <a:lnTo>
                    <a:pt x="386207" y="386207"/>
                  </a:lnTo>
                  <a:lnTo>
                    <a:pt x="0" y="3862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-9" b="-9"/>
              </a:stretch>
            </a:blip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1714500" y="5157216"/>
            <a:ext cx="3051810" cy="932688"/>
            <a:chOff x="0" y="0"/>
            <a:chExt cx="4069080" cy="1243584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4069080" cy="1243584"/>
            </a:xfrm>
            <a:custGeom>
              <a:avLst/>
              <a:gdLst/>
              <a:ahLst/>
              <a:cxnLst/>
              <a:rect r="r" b="b" t="t" l="l"/>
              <a:pathLst>
                <a:path h="1243584" w="4069080">
                  <a:moveTo>
                    <a:pt x="0" y="0"/>
                  </a:moveTo>
                  <a:lnTo>
                    <a:pt x="4069080" y="0"/>
                  </a:lnTo>
                  <a:lnTo>
                    <a:pt x="4069080" y="1243584"/>
                  </a:lnTo>
                  <a:lnTo>
                    <a:pt x="0" y="124358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756" r="0" b="-13756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28575"/>
              <a:ext cx="4069080" cy="12721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0B1E3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Examination Centres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5099685" y="5147691"/>
            <a:ext cx="4099560" cy="951738"/>
            <a:chOff x="0" y="0"/>
            <a:chExt cx="5466080" cy="1268984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5466080" cy="1268984"/>
            </a:xfrm>
            <a:custGeom>
              <a:avLst/>
              <a:gdLst/>
              <a:ahLst/>
              <a:cxnLst/>
              <a:rect r="r" b="b" t="t" l="l"/>
              <a:pathLst>
                <a:path h="1268984" w="5466080">
                  <a:moveTo>
                    <a:pt x="0" y="149352"/>
                  </a:moveTo>
                  <a:cubicBezTo>
                    <a:pt x="0" y="66802"/>
                    <a:pt x="66802" y="0"/>
                    <a:pt x="149352" y="0"/>
                  </a:cubicBezTo>
                  <a:lnTo>
                    <a:pt x="5316728" y="0"/>
                  </a:lnTo>
                  <a:cubicBezTo>
                    <a:pt x="5399151" y="0"/>
                    <a:pt x="5466080" y="66802"/>
                    <a:pt x="5466080" y="149352"/>
                  </a:cubicBezTo>
                  <a:lnTo>
                    <a:pt x="5466080" y="1119632"/>
                  </a:lnTo>
                  <a:cubicBezTo>
                    <a:pt x="5466080" y="1202055"/>
                    <a:pt x="5399278" y="1268984"/>
                    <a:pt x="5316728" y="1268984"/>
                  </a:cubicBezTo>
                  <a:lnTo>
                    <a:pt x="149352" y="1268984"/>
                  </a:lnTo>
                  <a:cubicBezTo>
                    <a:pt x="66802" y="1268984"/>
                    <a:pt x="0" y="1202182"/>
                    <a:pt x="0" y="1119632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CE5F0"/>
              </a:solidFill>
              <a:prstDash val="solid"/>
              <a:miter/>
            </a:ln>
          </p:spPr>
        </p:sp>
      </p:grpSp>
      <p:grpSp>
        <p:nvGrpSpPr>
          <p:cNvPr name="Group 58" id="58"/>
          <p:cNvGrpSpPr/>
          <p:nvPr/>
        </p:nvGrpSpPr>
        <p:grpSpPr>
          <a:xfrm rot="0">
            <a:off x="5273802" y="5321808"/>
            <a:ext cx="603504" cy="603504"/>
            <a:chOff x="0" y="0"/>
            <a:chExt cx="804672" cy="804672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804672" cy="804672"/>
            </a:xfrm>
            <a:custGeom>
              <a:avLst/>
              <a:gdLst/>
              <a:ahLst/>
              <a:cxnLst/>
              <a:rect r="r" b="b" t="t" l="l"/>
              <a:pathLst>
                <a:path h="804672" w="804672">
                  <a:moveTo>
                    <a:pt x="0" y="402336"/>
                  </a:moveTo>
                  <a:cubicBezTo>
                    <a:pt x="0" y="180086"/>
                    <a:pt x="180086" y="0"/>
                    <a:pt x="402336" y="0"/>
                  </a:cubicBezTo>
                  <a:cubicBezTo>
                    <a:pt x="624586" y="0"/>
                    <a:pt x="804672" y="180086"/>
                    <a:pt x="804672" y="402336"/>
                  </a:cubicBezTo>
                  <a:cubicBezTo>
                    <a:pt x="804672" y="624586"/>
                    <a:pt x="624586" y="804672"/>
                    <a:pt x="402336" y="804672"/>
                  </a:cubicBezTo>
                  <a:cubicBezTo>
                    <a:pt x="180086" y="804672"/>
                    <a:pt x="0" y="624586"/>
                    <a:pt x="0" y="402336"/>
                  </a:cubicBezTo>
                  <a:close/>
                </a:path>
              </a:pathLst>
            </a:custGeom>
            <a:solidFill>
              <a:srgbClr val="22D3EE"/>
            </a:solid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5430717" y="5478723"/>
            <a:ext cx="289684" cy="289684"/>
            <a:chOff x="0" y="0"/>
            <a:chExt cx="386245" cy="386245"/>
          </a:xfrm>
        </p:grpSpPr>
        <p:sp>
          <p:nvSpPr>
            <p:cNvPr name="Freeform 61" id="61" descr="/home/claude/ppt/icons/bed_white.png"/>
            <p:cNvSpPr/>
            <p:nvPr/>
          </p:nvSpPr>
          <p:spPr>
            <a:xfrm flipH="false" flipV="false" rot="0">
              <a:off x="0" y="0"/>
              <a:ext cx="386207" cy="386207"/>
            </a:xfrm>
            <a:custGeom>
              <a:avLst/>
              <a:gdLst/>
              <a:ahLst/>
              <a:cxnLst/>
              <a:rect r="r" b="b" t="t" l="l"/>
              <a:pathLst>
                <a:path h="386207" w="386207">
                  <a:moveTo>
                    <a:pt x="0" y="0"/>
                  </a:moveTo>
                  <a:lnTo>
                    <a:pt x="386207" y="0"/>
                  </a:lnTo>
                  <a:lnTo>
                    <a:pt x="386207" y="386207"/>
                  </a:lnTo>
                  <a:lnTo>
                    <a:pt x="0" y="3862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-9" b="-9"/>
              </a:stretch>
            </a:blip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6000750" y="5157216"/>
            <a:ext cx="3051810" cy="932688"/>
            <a:chOff x="0" y="0"/>
            <a:chExt cx="4069080" cy="1243584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4069080" cy="1243584"/>
            </a:xfrm>
            <a:custGeom>
              <a:avLst/>
              <a:gdLst/>
              <a:ahLst/>
              <a:cxnLst/>
              <a:rect r="r" b="b" t="t" l="l"/>
              <a:pathLst>
                <a:path h="1243584" w="4069080">
                  <a:moveTo>
                    <a:pt x="0" y="0"/>
                  </a:moveTo>
                  <a:lnTo>
                    <a:pt x="4069080" y="0"/>
                  </a:lnTo>
                  <a:lnTo>
                    <a:pt x="4069080" y="1243584"/>
                  </a:lnTo>
                  <a:lnTo>
                    <a:pt x="0" y="124358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756" r="0" b="-13756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28575"/>
              <a:ext cx="4069080" cy="12721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0B1E3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Hostels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813435" y="6286119"/>
            <a:ext cx="4099560" cy="951738"/>
            <a:chOff x="0" y="0"/>
            <a:chExt cx="5466080" cy="1268984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5466080" cy="1268984"/>
            </a:xfrm>
            <a:custGeom>
              <a:avLst/>
              <a:gdLst/>
              <a:ahLst/>
              <a:cxnLst/>
              <a:rect r="r" b="b" t="t" l="l"/>
              <a:pathLst>
                <a:path h="1268984" w="5466080">
                  <a:moveTo>
                    <a:pt x="0" y="149352"/>
                  </a:moveTo>
                  <a:cubicBezTo>
                    <a:pt x="0" y="66802"/>
                    <a:pt x="66802" y="0"/>
                    <a:pt x="149352" y="0"/>
                  </a:cubicBezTo>
                  <a:lnTo>
                    <a:pt x="5316728" y="0"/>
                  </a:lnTo>
                  <a:cubicBezTo>
                    <a:pt x="5399151" y="0"/>
                    <a:pt x="5466080" y="66802"/>
                    <a:pt x="5466080" y="149352"/>
                  </a:cubicBezTo>
                  <a:lnTo>
                    <a:pt x="5466080" y="1119632"/>
                  </a:lnTo>
                  <a:cubicBezTo>
                    <a:pt x="5466080" y="1202055"/>
                    <a:pt x="5399278" y="1268984"/>
                    <a:pt x="5316728" y="1268984"/>
                  </a:cubicBezTo>
                  <a:lnTo>
                    <a:pt x="149352" y="1268984"/>
                  </a:lnTo>
                  <a:cubicBezTo>
                    <a:pt x="66802" y="1268984"/>
                    <a:pt x="0" y="1202182"/>
                    <a:pt x="0" y="1119632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CE5F0"/>
              </a:solidFill>
              <a:prstDash val="solid"/>
              <a:miter/>
            </a:ln>
          </p:spPr>
        </p:sp>
      </p:grpSp>
      <p:grpSp>
        <p:nvGrpSpPr>
          <p:cNvPr name="Group 67" id="67"/>
          <p:cNvGrpSpPr/>
          <p:nvPr/>
        </p:nvGrpSpPr>
        <p:grpSpPr>
          <a:xfrm rot="0">
            <a:off x="987552" y="6460236"/>
            <a:ext cx="603504" cy="603504"/>
            <a:chOff x="0" y="0"/>
            <a:chExt cx="804672" cy="804672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804672" cy="804672"/>
            </a:xfrm>
            <a:custGeom>
              <a:avLst/>
              <a:gdLst/>
              <a:ahLst/>
              <a:cxnLst/>
              <a:rect r="r" b="b" t="t" l="l"/>
              <a:pathLst>
                <a:path h="804672" w="804672">
                  <a:moveTo>
                    <a:pt x="0" y="402336"/>
                  </a:moveTo>
                  <a:cubicBezTo>
                    <a:pt x="0" y="180086"/>
                    <a:pt x="180086" y="0"/>
                    <a:pt x="402336" y="0"/>
                  </a:cubicBezTo>
                  <a:cubicBezTo>
                    <a:pt x="624586" y="0"/>
                    <a:pt x="804672" y="180086"/>
                    <a:pt x="804672" y="402336"/>
                  </a:cubicBezTo>
                  <a:cubicBezTo>
                    <a:pt x="804672" y="624586"/>
                    <a:pt x="624586" y="804672"/>
                    <a:pt x="402336" y="804672"/>
                  </a:cubicBezTo>
                  <a:cubicBezTo>
                    <a:pt x="180086" y="804672"/>
                    <a:pt x="0" y="624586"/>
                    <a:pt x="0" y="402336"/>
                  </a:cubicBezTo>
                  <a:close/>
                </a:path>
              </a:pathLst>
            </a:custGeom>
            <a:solidFill>
              <a:srgbClr val="22D3EE"/>
            </a:solidFill>
          </p:spPr>
        </p:sp>
      </p:grpSp>
      <p:grpSp>
        <p:nvGrpSpPr>
          <p:cNvPr name="Group 69" id="69"/>
          <p:cNvGrpSpPr/>
          <p:nvPr/>
        </p:nvGrpSpPr>
        <p:grpSpPr>
          <a:xfrm rot="0">
            <a:off x="1144467" y="6617151"/>
            <a:ext cx="289684" cy="289684"/>
            <a:chOff x="0" y="0"/>
            <a:chExt cx="386245" cy="386245"/>
          </a:xfrm>
        </p:grpSpPr>
        <p:sp>
          <p:nvSpPr>
            <p:cNvPr name="Freeform 70" id="70" descr="/home/claude/ppt/icons/shield_white.png"/>
            <p:cNvSpPr/>
            <p:nvPr/>
          </p:nvSpPr>
          <p:spPr>
            <a:xfrm flipH="false" flipV="false" rot="0">
              <a:off x="0" y="0"/>
              <a:ext cx="386207" cy="386207"/>
            </a:xfrm>
            <a:custGeom>
              <a:avLst/>
              <a:gdLst/>
              <a:ahLst/>
              <a:cxnLst/>
              <a:rect r="r" b="b" t="t" l="l"/>
              <a:pathLst>
                <a:path h="386207" w="386207">
                  <a:moveTo>
                    <a:pt x="0" y="0"/>
                  </a:moveTo>
                  <a:lnTo>
                    <a:pt x="386207" y="0"/>
                  </a:lnTo>
                  <a:lnTo>
                    <a:pt x="386207" y="386207"/>
                  </a:lnTo>
                  <a:lnTo>
                    <a:pt x="0" y="3862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-9" b="-9"/>
              </a:stretch>
            </a:blip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1714500" y="6295644"/>
            <a:ext cx="3051810" cy="932688"/>
            <a:chOff x="0" y="0"/>
            <a:chExt cx="4069080" cy="1243584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4069080" cy="1243584"/>
            </a:xfrm>
            <a:custGeom>
              <a:avLst/>
              <a:gdLst/>
              <a:ahLst/>
              <a:cxnLst/>
              <a:rect r="r" b="b" t="t" l="l"/>
              <a:pathLst>
                <a:path h="1243584" w="4069080">
                  <a:moveTo>
                    <a:pt x="0" y="0"/>
                  </a:moveTo>
                  <a:lnTo>
                    <a:pt x="4069080" y="0"/>
                  </a:lnTo>
                  <a:lnTo>
                    <a:pt x="4069080" y="1243584"/>
                  </a:lnTo>
                  <a:lnTo>
                    <a:pt x="0" y="124358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756" r="0" b="-13756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28575"/>
              <a:ext cx="4069080" cy="12721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0B1E3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Smart Access-Control Systems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5099685" y="6286119"/>
            <a:ext cx="4099560" cy="951738"/>
            <a:chOff x="0" y="0"/>
            <a:chExt cx="5466080" cy="1268984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5466080" cy="1268984"/>
            </a:xfrm>
            <a:custGeom>
              <a:avLst/>
              <a:gdLst/>
              <a:ahLst/>
              <a:cxnLst/>
              <a:rect r="r" b="b" t="t" l="l"/>
              <a:pathLst>
                <a:path h="1268984" w="5466080">
                  <a:moveTo>
                    <a:pt x="0" y="149352"/>
                  </a:moveTo>
                  <a:cubicBezTo>
                    <a:pt x="0" y="66802"/>
                    <a:pt x="66802" y="0"/>
                    <a:pt x="149352" y="0"/>
                  </a:cubicBezTo>
                  <a:lnTo>
                    <a:pt x="5316728" y="0"/>
                  </a:lnTo>
                  <a:cubicBezTo>
                    <a:pt x="5399151" y="0"/>
                    <a:pt x="5466080" y="66802"/>
                    <a:pt x="5466080" y="149352"/>
                  </a:cubicBezTo>
                  <a:lnTo>
                    <a:pt x="5466080" y="1119632"/>
                  </a:lnTo>
                  <a:cubicBezTo>
                    <a:pt x="5466080" y="1202055"/>
                    <a:pt x="5399278" y="1268984"/>
                    <a:pt x="5316728" y="1268984"/>
                  </a:cubicBezTo>
                  <a:lnTo>
                    <a:pt x="149352" y="1268984"/>
                  </a:lnTo>
                  <a:cubicBezTo>
                    <a:pt x="66802" y="1268984"/>
                    <a:pt x="0" y="1202182"/>
                    <a:pt x="0" y="1119632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CE5F0"/>
              </a:solidFill>
              <a:prstDash val="solid"/>
              <a:miter/>
            </a:ln>
          </p:spPr>
        </p:sp>
      </p:grpSp>
      <p:grpSp>
        <p:nvGrpSpPr>
          <p:cNvPr name="Group 76" id="76"/>
          <p:cNvGrpSpPr/>
          <p:nvPr/>
        </p:nvGrpSpPr>
        <p:grpSpPr>
          <a:xfrm rot="0">
            <a:off x="5273802" y="6460236"/>
            <a:ext cx="603504" cy="603504"/>
            <a:chOff x="0" y="0"/>
            <a:chExt cx="804672" cy="804672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804672" cy="804672"/>
            </a:xfrm>
            <a:custGeom>
              <a:avLst/>
              <a:gdLst/>
              <a:ahLst/>
              <a:cxnLst/>
              <a:rect r="r" b="b" t="t" l="l"/>
              <a:pathLst>
                <a:path h="804672" w="804672">
                  <a:moveTo>
                    <a:pt x="0" y="402336"/>
                  </a:moveTo>
                  <a:cubicBezTo>
                    <a:pt x="0" y="180086"/>
                    <a:pt x="180086" y="0"/>
                    <a:pt x="402336" y="0"/>
                  </a:cubicBezTo>
                  <a:cubicBezTo>
                    <a:pt x="624586" y="0"/>
                    <a:pt x="804672" y="180086"/>
                    <a:pt x="804672" y="402336"/>
                  </a:cubicBezTo>
                  <a:cubicBezTo>
                    <a:pt x="804672" y="624586"/>
                    <a:pt x="624586" y="804672"/>
                    <a:pt x="402336" y="804672"/>
                  </a:cubicBezTo>
                  <a:cubicBezTo>
                    <a:pt x="180086" y="804672"/>
                    <a:pt x="0" y="624586"/>
                    <a:pt x="0" y="402336"/>
                  </a:cubicBezTo>
                  <a:close/>
                </a:path>
              </a:pathLst>
            </a:custGeom>
            <a:solidFill>
              <a:srgbClr val="22D3EE"/>
            </a:solidFill>
          </p:spPr>
        </p:sp>
      </p:grpSp>
      <p:grpSp>
        <p:nvGrpSpPr>
          <p:cNvPr name="Group 78" id="78"/>
          <p:cNvGrpSpPr/>
          <p:nvPr/>
        </p:nvGrpSpPr>
        <p:grpSpPr>
          <a:xfrm rot="0">
            <a:off x="5430717" y="6617151"/>
            <a:ext cx="289684" cy="289684"/>
            <a:chOff x="0" y="0"/>
            <a:chExt cx="386245" cy="386245"/>
          </a:xfrm>
        </p:grpSpPr>
        <p:sp>
          <p:nvSpPr>
            <p:cNvPr name="Freeform 79" id="79" descr="/home/claude/ppt/icons/globe_white.png"/>
            <p:cNvSpPr/>
            <p:nvPr/>
          </p:nvSpPr>
          <p:spPr>
            <a:xfrm flipH="false" flipV="false" rot="0">
              <a:off x="0" y="0"/>
              <a:ext cx="386207" cy="386207"/>
            </a:xfrm>
            <a:custGeom>
              <a:avLst/>
              <a:gdLst/>
              <a:ahLst/>
              <a:cxnLst/>
              <a:rect r="r" b="b" t="t" l="l"/>
              <a:pathLst>
                <a:path h="386207" w="386207">
                  <a:moveTo>
                    <a:pt x="0" y="0"/>
                  </a:moveTo>
                  <a:lnTo>
                    <a:pt x="386207" y="0"/>
                  </a:lnTo>
                  <a:lnTo>
                    <a:pt x="386207" y="386207"/>
                  </a:lnTo>
                  <a:lnTo>
                    <a:pt x="0" y="3862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-9" b="-9"/>
              </a:stretch>
            </a:blip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6000750" y="6295644"/>
            <a:ext cx="3051810" cy="932688"/>
            <a:chOff x="0" y="0"/>
            <a:chExt cx="4069080" cy="1243584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4069080" cy="1243584"/>
            </a:xfrm>
            <a:custGeom>
              <a:avLst/>
              <a:gdLst/>
              <a:ahLst/>
              <a:cxnLst/>
              <a:rect r="r" b="b" t="t" l="l"/>
              <a:pathLst>
                <a:path h="1243584" w="4069080">
                  <a:moveTo>
                    <a:pt x="0" y="0"/>
                  </a:moveTo>
                  <a:lnTo>
                    <a:pt x="4069080" y="0"/>
                  </a:lnTo>
                  <a:lnTo>
                    <a:pt x="4069080" y="1243584"/>
                  </a:lnTo>
                  <a:lnTo>
                    <a:pt x="0" y="124358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756" r="0" b="-13756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28575"/>
              <a:ext cx="4069080" cy="12721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0B1E3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Smart Campus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9601200" y="2331720"/>
            <a:ext cx="7886700" cy="6995160"/>
            <a:chOff x="0" y="0"/>
            <a:chExt cx="10515600" cy="932688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10515600" cy="9326880"/>
            </a:xfrm>
            <a:custGeom>
              <a:avLst/>
              <a:gdLst/>
              <a:ahLst/>
              <a:cxnLst/>
              <a:rect r="r" b="b" t="t" l="l"/>
              <a:pathLst>
                <a:path h="9326880" w="1051560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10296144" y="0"/>
                  </a:lnTo>
                  <a:cubicBezTo>
                    <a:pt x="10417302" y="0"/>
                    <a:pt x="10515600" y="98298"/>
                    <a:pt x="10515600" y="219456"/>
                  </a:cubicBezTo>
                  <a:lnTo>
                    <a:pt x="10515600" y="9107424"/>
                  </a:lnTo>
                  <a:cubicBezTo>
                    <a:pt x="10515600" y="9228582"/>
                    <a:pt x="10417302" y="9326880"/>
                    <a:pt x="10296144" y="9326880"/>
                  </a:cubicBezTo>
                  <a:lnTo>
                    <a:pt x="219456" y="9326880"/>
                  </a:lnTo>
                  <a:cubicBezTo>
                    <a:pt x="98298" y="9326880"/>
                    <a:pt x="0" y="9228582"/>
                    <a:pt x="0" y="9107424"/>
                  </a:cubicBezTo>
                  <a:close/>
                </a:path>
              </a:pathLst>
            </a:custGeom>
            <a:solidFill>
              <a:srgbClr val="223A5E"/>
            </a:solidFill>
          </p:spPr>
        </p:sp>
      </p:grpSp>
      <p:grpSp>
        <p:nvGrpSpPr>
          <p:cNvPr name="Group 85" id="85"/>
          <p:cNvGrpSpPr/>
          <p:nvPr/>
        </p:nvGrpSpPr>
        <p:grpSpPr>
          <a:xfrm rot="0">
            <a:off x="10081260" y="2674620"/>
            <a:ext cx="6858000" cy="411480"/>
            <a:chOff x="0" y="0"/>
            <a:chExt cx="9144000" cy="54864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91440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-38100"/>
              <a:ext cx="91440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225">
                  <a:solidFill>
                    <a:srgbClr val="22D3E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FUTURE SCOPE</a:t>
              </a: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10081260" y="3127248"/>
            <a:ext cx="6995160" cy="685800"/>
            <a:chOff x="0" y="0"/>
            <a:chExt cx="9326880" cy="914400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9326880" cy="914400"/>
            </a:xfrm>
            <a:custGeom>
              <a:avLst/>
              <a:gdLst/>
              <a:ahLst/>
              <a:cxnLst/>
              <a:rect r="r" b="b" t="t" l="l"/>
              <a:pathLst>
                <a:path h="914400" w="9326880">
                  <a:moveTo>
                    <a:pt x="0" y="0"/>
                  </a:moveTo>
                  <a:lnTo>
                    <a:pt x="9326880" y="0"/>
                  </a:lnTo>
                  <a:lnTo>
                    <a:pt x="932688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8747" r="0" b="-148747"/>
              </a:stretch>
            </a:blipFill>
          </p:spPr>
        </p:sp>
        <p:sp>
          <p:nvSpPr>
            <p:cNvPr name="TextBox 90" id="90"/>
            <p:cNvSpPr txBox="true"/>
            <p:nvPr/>
          </p:nvSpPr>
          <p:spPr>
            <a:xfrm>
              <a:off x="0" y="-57150"/>
              <a:ext cx="9326880" cy="971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8"/>
                </a:lnSpc>
              </a:pPr>
              <a:r>
                <a:rPr lang="en-US" sz="1575" i="true">
                  <a:solidFill>
                    <a:srgbClr val="A9BBD1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The architecture can be expanded from an RGB indicator toward physical access control:</a:t>
              </a:r>
            </a:p>
          </p:txBody>
        </p:sp>
      </p:grpSp>
      <p:grpSp>
        <p:nvGrpSpPr>
          <p:cNvPr name="Group 91" id="91"/>
          <p:cNvGrpSpPr/>
          <p:nvPr/>
        </p:nvGrpSpPr>
        <p:grpSpPr>
          <a:xfrm rot="0">
            <a:off x="10081260" y="3977640"/>
            <a:ext cx="685800" cy="685800"/>
            <a:chOff x="0" y="0"/>
            <a:chExt cx="914400" cy="914400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22D3EE"/>
            </a:solidFill>
          </p:spPr>
        </p:sp>
      </p:grpSp>
      <p:grpSp>
        <p:nvGrpSpPr>
          <p:cNvPr name="Group 93" id="93"/>
          <p:cNvGrpSpPr/>
          <p:nvPr/>
        </p:nvGrpSpPr>
        <p:grpSpPr>
          <a:xfrm rot="0">
            <a:off x="10259568" y="4155948"/>
            <a:ext cx="329184" cy="329184"/>
            <a:chOff x="0" y="0"/>
            <a:chExt cx="438912" cy="438912"/>
          </a:xfrm>
        </p:grpSpPr>
        <p:sp>
          <p:nvSpPr>
            <p:cNvPr name="Freeform 94" id="94" descr="/home/claude/ppt/icons/door_navy.png"/>
            <p:cNvSpPr/>
            <p:nvPr/>
          </p:nvSpPr>
          <p:spPr>
            <a:xfrm flipH="false" flipV="false" rot="0">
              <a:off x="0" y="0"/>
              <a:ext cx="438912" cy="438912"/>
            </a:xfrm>
            <a:custGeom>
              <a:avLst/>
              <a:gdLst/>
              <a:ahLst/>
              <a:cxnLst/>
              <a:rect r="r" b="b" t="t" l="l"/>
              <a:pathLst>
                <a:path h="438912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438912"/>
                  </a:lnTo>
                  <a:lnTo>
                    <a:pt x="0" y="4389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grpSp>
        <p:nvGrpSpPr>
          <p:cNvPr name="Group 95" id="95"/>
          <p:cNvGrpSpPr/>
          <p:nvPr/>
        </p:nvGrpSpPr>
        <p:grpSpPr>
          <a:xfrm rot="0">
            <a:off x="10972800" y="4018788"/>
            <a:ext cx="6172200" cy="603504"/>
            <a:chOff x="0" y="0"/>
            <a:chExt cx="8229600" cy="804672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8229600" cy="804672"/>
            </a:xfrm>
            <a:custGeom>
              <a:avLst/>
              <a:gdLst/>
              <a:ahLst/>
              <a:cxnLst/>
              <a:rect r="r" b="b" t="t" l="l"/>
              <a:pathLst>
                <a:path h="804672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9278" r="0" b="-149278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38100"/>
              <a:ext cx="8229600" cy="8427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Electronic Door / Gate Control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10081260" y="4828032"/>
            <a:ext cx="685800" cy="685800"/>
            <a:chOff x="0" y="0"/>
            <a:chExt cx="914400" cy="914400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22D3EE"/>
            </a:solidFill>
          </p:spPr>
        </p:sp>
      </p:grpSp>
      <p:grpSp>
        <p:nvGrpSpPr>
          <p:cNvPr name="Group 100" id="100"/>
          <p:cNvGrpSpPr/>
          <p:nvPr/>
        </p:nvGrpSpPr>
        <p:grpSpPr>
          <a:xfrm rot="0">
            <a:off x="10259568" y="5006340"/>
            <a:ext cx="329184" cy="329184"/>
            <a:chOff x="0" y="0"/>
            <a:chExt cx="438912" cy="438912"/>
          </a:xfrm>
        </p:grpSpPr>
        <p:sp>
          <p:nvSpPr>
            <p:cNvPr name="Freeform 101" id="101" descr="/home/claude/ppt/icons/plug_navy.png"/>
            <p:cNvSpPr/>
            <p:nvPr/>
          </p:nvSpPr>
          <p:spPr>
            <a:xfrm flipH="false" flipV="false" rot="0">
              <a:off x="0" y="0"/>
              <a:ext cx="438912" cy="438912"/>
            </a:xfrm>
            <a:custGeom>
              <a:avLst/>
              <a:gdLst/>
              <a:ahLst/>
              <a:cxnLst/>
              <a:rect r="r" b="b" t="t" l="l"/>
              <a:pathLst>
                <a:path h="438912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438912"/>
                  </a:lnTo>
                  <a:lnTo>
                    <a:pt x="0" y="4389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</p:grpSp>
      <p:grpSp>
        <p:nvGrpSpPr>
          <p:cNvPr name="Group 102" id="102"/>
          <p:cNvGrpSpPr/>
          <p:nvPr/>
        </p:nvGrpSpPr>
        <p:grpSpPr>
          <a:xfrm rot="0">
            <a:off x="10972800" y="4869180"/>
            <a:ext cx="6172200" cy="603504"/>
            <a:chOff x="0" y="0"/>
            <a:chExt cx="8229600" cy="804672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8229600" cy="804672"/>
            </a:xfrm>
            <a:custGeom>
              <a:avLst/>
              <a:gdLst/>
              <a:ahLst/>
              <a:cxnLst/>
              <a:rect r="r" b="b" t="t" l="l"/>
              <a:pathLst>
                <a:path h="804672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9278" r="0" b="-149278"/>
              </a:stretch>
            </a:blipFill>
          </p:spPr>
        </p:sp>
        <p:sp>
          <p:nvSpPr>
            <p:cNvPr name="TextBox 104" id="104"/>
            <p:cNvSpPr txBox="true"/>
            <p:nvPr/>
          </p:nvSpPr>
          <p:spPr>
            <a:xfrm>
              <a:off x="0" y="-38100"/>
              <a:ext cx="8229600" cy="8427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Relay Modules</a:t>
              </a:r>
            </a:p>
          </p:txBody>
        </p:sp>
      </p:grpSp>
      <p:grpSp>
        <p:nvGrpSpPr>
          <p:cNvPr name="Group 105" id="105"/>
          <p:cNvGrpSpPr/>
          <p:nvPr/>
        </p:nvGrpSpPr>
        <p:grpSpPr>
          <a:xfrm rot="0">
            <a:off x="10081260" y="5678424"/>
            <a:ext cx="685800" cy="685800"/>
            <a:chOff x="0" y="0"/>
            <a:chExt cx="914400" cy="914400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22D3EE"/>
            </a:solidFill>
          </p:spPr>
        </p:sp>
      </p:grpSp>
      <p:grpSp>
        <p:nvGrpSpPr>
          <p:cNvPr name="Group 107" id="107"/>
          <p:cNvGrpSpPr/>
          <p:nvPr/>
        </p:nvGrpSpPr>
        <p:grpSpPr>
          <a:xfrm rot="0">
            <a:off x="10259568" y="5856732"/>
            <a:ext cx="329184" cy="329184"/>
            <a:chOff x="0" y="0"/>
            <a:chExt cx="438912" cy="438912"/>
          </a:xfrm>
        </p:grpSpPr>
        <p:sp>
          <p:nvSpPr>
            <p:cNvPr name="Freeform 108" id="108" descr="/home/claude/ppt/icons/cog_navy.png"/>
            <p:cNvSpPr/>
            <p:nvPr/>
          </p:nvSpPr>
          <p:spPr>
            <a:xfrm flipH="false" flipV="false" rot="0">
              <a:off x="0" y="0"/>
              <a:ext cx="438912" cy="438912"/>
            </a:xfrm>
            <a:custGeom>
              <a:avLst/>
              <a:gdLst/>
              <a:ahLst/>
              <a:cxnLst/>
              <a:rect r="r" b="b" t="t" l="l"/>
              <a:pathLst>
                <a:path h="438912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438912"/>
                  </a:lnTo>
                  <a:lnTo>
                    <a:pt x="0" y="4389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0" b="0"/>
              </a:stretch>
            </a:blipFill>
          </p:spPr>
        </p:sp>
      </p:grpSp>
      <p:grpSp>
        <p:nvGrpSpPr>
          <p:cNvPr name="Group 109" id="109"/>
          <p:cNvGrpSpPr/>
          <p:nvPr/>
        </p:nvGrpSpPr>
        <p:grpSpPr>
          <a:xfrm rot="0">
            <a:off x="10972800" y="5719572"/>
            <a:ext cx="6172200" cy="603504"/>
            <a:chOff x="0" y="0"/>
            <a:chExt cx="8229600" cy="804672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8229600" cy="804672"/>
            </a:xfrm>
            <a:custGeom>
              <a:avLst/>
              <a:gdLst/>
              <a:ahLst/>
              <a:cxnLst/>
              <a:rect r="r" b="b" t="t" l="l"/>
              <a:pathLst>
                <a:path h="804672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9278" r="0" b="-149278"/>
              </a:stretch>
            </a:blipFill>
          </p:spPr>
        </p:sp>
        <p:sp>
          <p:nvSpPr>
            <p:cNvPr name="TextBox 111" id="111"/>
            <p:cNvSpPr txBox="true"/>
            <p:nvPr/>
          </p:nvSpPr>
          <p:spPr>
            <a:xfrm>
              <a:off x="0" y="-38100"/>
              <a:ext cx="8229600" cy="8427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Servo Motors</a:t>
              </a:r>
            </a:p>
          </p:txBody>
        </p:sp>
      </p:grpSp>
      <p:grpSp>
        <p:nvGrpSpPr>
          <p:cNvPr name="Group 112" id="112"/>
          <p:cNvGrpSpPr/>
          <p:nvPr/>
        </p:nvGrpSpPr>
        <p:grpSpPr>
          <a:xfrm rot="0">
            <a:off x="10081260" y="6528816"/>
            <a:ext cx="685800" cy="685800"/>
            <a:chOff x="0" y="0"/>
            <a:chExt cx="914400" cy="914400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22D3EE"/>
            </a:solidFill>
          </p:spPr>
        </p:sp>
      </p:grpSp>
      <p:grpSp>
        <p:nvGrpSpPr>
          <p:cNvPr name="Group 114" id="114"/>
          <p:cNvGrpSpPr/>
          <p:nvPr/>
        </p:nvGrpSpPr>
        <p:grpSpPr>
          <a:xfrm rot="0">
            <a:off x="10259568" y="6707124"/>
            <a:ext cx="329184" cy="329184"/>
            <a:chOff x="0" y="0"/>
            <a:chExt cx="438912" cy="438912"/>
          </a:xfrm>
        </p:grpSpPr>
        <p:sp>
          <p:nvSpPr>
            <p:cNvPr name="Freeform 115" id="115" descr="/home/claude/ppt/icons/gate_navy.png"/>
            <p:cNvSpPr/>
            <p:nvPr/>
          </p:nvSpPr>
          <p:spPr>
            <a:xfrm flipH="false" flipV="false" rot="0">
              <a:off x="0" y="0"/>
              <a:ext cx="438912" cy="438912"/>
            </a:xfrm>
            <a:custGeom>
              <a:avLst/>
              <a:gdLst/>
              <a:ahLst/>
              <a:cxnLst/>
              <a:rect r="r" b="b" t="t" l="l"/>
              <a:pathLst>
                <a:path h="438912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438912"/>
                  </a:lnTo>
                  <a:lnTo>
                    <a:pt x="0" y="4389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0" b="0"/>
              </a:stretch>
            </a:blipFill>
          </p:spPr>
        </p:sp>
      </p:grpSp>
      <p:grpSp>
        <p:nvGrpSpPr>
          <p:cNvPr name="Group 116" id="116"/>
          <p:cNvGrpSpPr/>
          <p:nvPr/>
        </p:nvGrpSpPr>
        <p:grpSpPr>
          <a:xfrm rot="0">
            <a:off x="10972800" y="6569964"/>
            <a:ext cx="6172200" cy="603504"/>
            <a:chOff x="0" y="0"/>
            <a:chExt cx="8229600" cy="804672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8229600" cy="804672"/>
            </a:xfrm>
            <a:custGeom>
              <a:avLst/>
              <a:gdLst/>
              <a:ahLst/>
              <a:cxnLst/>
              <a:rect r="r" b="b" t="t" l="l"/>
              <a:pathLst>
                <a:path h="804672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9278" r="0" b="-149278"/>
              </a:stretch>
            </a:blipFill>
          </p:spPr>
        </p:sp>
        <p:sp>
          <p:nvSpPr>
            <p:cNvPr name="TextBox 118" id="118"/>
            <p:cNvSpPr txBox="true"/>
            <p:nvPr/>
          </p:nvSpPr>
          <p:spPr>
            <a:xfrm>
              <a:off x="0" y="-38100"/>
              <a:ext cx="8229600" cy="8427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Automatic Doors</a:t>
              </a:r>
            </a:p>
          </p:txBody>
        </p:sp>
      </p:grpSp>
      <p:grpSp>
        <p:nvGrpSpPr>
          <p:cNvPr name="Group 119" id="119"/>
          <p:cNvGrpSpPr/>
          <p:nvPr/>
        </p:nvGrpSpPr>
        <p:grpSpPr>
          <a:xfrm rot="0">
            <a:off x="10081260" y="7379208"/>
            <a:ext cx="685800" cy="685800"/>
            <a:chOff x="0" y="0"/>
            <a:chExt cx="914400" cy="914400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22D3EE"/>
            </a:solidFill>
          </p:spPr>
        </p:sp>
      </p:grpSp>
      <p:grpSp>
        <p:nvGrpSpPr>
          <p:cNvPr name="Group 121" id="121"/>
          <p:cNvGrpSpPr/>
          <p:nvPr/>
        </p:nvGrpSpPr>
        <p:grpSpPr>
          <a:xfrm rot="0">
            <a:off x="10259568" y="7557516"/>
            <a:ext cx="329184" cy="329184"/>
            <a:chOff x="0" y="0"/>
            <a:chExt cx="438912" cy="438912"/>
          </a:xfrm>
        </p:grpSpPr>
        <p:sp>
          <p:nvSpPr>
            <p:cNvPr name="Freeform 122" id="122" descr="/home/claude/ppt/icons/camera_navy.png"/>
            <p:cNvSpPr/>
            <p:nvPr/>
          </p:nvSpPr>
          <p:spPr>
            <a:xfrm flipH="false" flipV="false" rot="0">
              <a:off x="0" y="0"/>
              <a:ext cx="438912" cy="438912"/>
            </a:xfrm>
            <a:custGeom>
              <a:avLst/>
              <a:gdLst/>
              <a:ahLst/>
              <a:cxnLst/>
              <a:rect r="r" b="b" t="t" l="l"/>
              <a:pathLst>
                <a:path h="438912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438912"/>
                  </a:lnTo>
                  <a:lnTo>
                    <a:pt x="0" y="4389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0" r="0" b="0"/>
              </a:stretch>
            </a:blipFill>
          </p:spPr>
        </p:sp>
      </p:grpSp>
      <p:grpSp>
        <p:nvGrpSpPr>
          <p:cNvPr name="Group 123" id="123"/>
          <p:cNvGrpSpPr/>
          <p:nvPr/>
        </p:nvGrpSpPr>
        <p:grpSpPr>
          <a:xfrm rot="0">
            <a:off x="10972800" y="7420356"/>
            <a:ext cx="6172200" cy="603504"/>
            <a:chOff x="0" y="0"/>
            <a:chExt cx="8229600" cy="804672"/>
          </a:xfrm>
        </p:grpSpPr>
        <p:sp>
          <p:nvSpPr>
            <p:cNvPr name="Freeform 124" id="124"/>
            <p:cNvSpPr/>
            <p:nvPr/>
          </p:nvSpPr>
          <p:spPr>
            <a:xfrm flipH="false" flipV="false" rot="0">
              <a:off x="0" y="0"/>
              <a:ext cx="8229600" cy="804672"/>
            </a:xfrm>
            <a:custGeom>
              <a:avLst/>
              <a:gdLst/>
              <a:ahLst/>
              <a:cxnLst/>
              <a:rect r="r" b="b" t="t" l="l"/>
              <a:pathLst>
                <a:path h="804672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9278" r="0" b="-149278"/>
              </a:stretch>
            </a:blipFill>
          </p:spPr>
        </p:sp>
        <p:sp>
          <p:nvSpPr>
            <p:cNvPr name="TextBox 125" id="125"/>
            <p:cNvSpPr txBox="true"/>
            <p:nvPr/>
          </p:nvSpPr>
          <p:spPr>
            <a:xfrm>
              <a:off x="0" y="-38100"/>
              <a:ext cx="8229600" cy="8427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Multiple Cameras</a:t>
              </a:r>
            </a:p>
          </p:txBody>
        </p:sp>
      </p:grpSp>
      <p:grpSp>
        <p:nvGrpSpPr>
          <p:cNvPr name="Group 126" id="126"/>
          <p:cNvGrpSpPr/>
          <p:nvPr/>
        </p:nvGrpSpPr>
        <p:grpSpPr>
          <a:xfrm rot="0">
            <a:off x="10081260" y="8229600"/>
            <a:ext cx="685800" cy="685800"/>
            <a:chOff x="0" y="0"/>
            <a:chExt cx="914400" cy="914400"/>
          </a:xfrm>
        </p:grpSpPr>
        <p:sp>
          <p:nvSpPr>
            <p:cNvPr name="Freeform 127" id="127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22D3EE"/>
            </a:solidFill>
          </p:spPr>
        </p:sp>
      </p:grpSp>
      <p:grpSp>
        <p:nvGrpSpPr>
          <p:cNvPr name="Group 128" id="128"/>
          <p:cNvGrpSpPr/>
          <p:nvPr/>
        </p:nvGrpSpPr>
        <p:grpSpPr>
          <a:xfrm rot="0">
            <a:off x="10259568" y="8407908"/>
            <a:ext cx="329184" cy="329184"/>
            <a:chOff x="0" y="0"/>
            <a:chExt cx="438912" cy="438912"/>
          </a:xfrm>
        </p:grpSpPr>
        <p:sp>
          <p:nvSpPr>
            <p:cNvPr name="Freeform 129" id="129" descr="/home/claude/ppt/icons/network_navy.png"/>
            <p:cNvSpPr/>
            <p:nvPr/>
          </p:nvSpPr>
          <p:spPr>
            <a:xfrm flipH="false" flipV="false" rot="0">
              <a:off x="0" y="0"/>
              <a:ext cx="438912" cy="438912"/>
            </a:xfrm>
            <a:custGeom>
              <a:avLst/>
              <a:gdLst/>
              <a:ahLst/>
              <a:cxnLst/>
              <a:rect r="r" b="b" t="t" l="l"/>
              <a:pathLst>
                <a:path h="438912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438912"/>
                  </a:lnTo>
                  <a:lnTo>
                    <a:pt x="0" y="4389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0" r="0" b="0"/>
              </a:stretch>
            </a:blipFill>
          </p:spPr>
        </p:sp>
      </p:grpSp>
      <p:grpSp>
        <p:nvGrpSpPr>
          <p:cNvPr name="Group 130" id="130"/>
          <p:cNvGrpSpPr/>
          <p:nvPr/>
        </p:nvGrpSpPr>
        <p:grpSpPr>
          <a:xfrm rot="0">
            <a:off x="10972800" y="8270748"/>
            <a:ext cx="6172200" cy="603504"/>
            <a:chOff x="0" y="0"/>
            <a:chExt cx="8229600" cy="804672"/>
          </a:xfrm>
        </p:grpSpPr>
        <p:sp>
          <p:nvSpPr>
            <p:cNvPr name="Freeform 131" id="131"/>
            <p:cNvSpPr/>
            <p:nvPr/>
          </p:nvSpPr>
          <p:spPr>
            <a:xfrm flipH="false" flipV="false" rot="0">
              <a:off x="0" y="0"/>
              <a:ext cx="8229600" cy="804672"/>
            </a:xfrm>
            <a:custGeom>
              <a:avLst/>
              <a:gdLst/>
              <a:ahLst/>
              <a:cxnLst/>
              <a:rect r="r" b="b" t="t" l="l"/>
              <a:pathLst>
                <a:path h="804672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9278" r="0" b="-149278"/>
              </a:stretch>
            </a:blipFill>
          </p:spPr>
        </p:sp>
        <p:sp>
          <p:nvSpPr>
            <p:cNvPr name="TextBox 132" id="132"/>
            <p:cNvSpPr txBox="true"/>
            <p:nvPr/>
          </p:nvSpPr>
          <p:spPr>
            <a:xfrm>
              <a:off x="0" y="-38100"/>
              <a:ext cx="8229600" cy="8427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Centralized Attendance Management</a:t>
              </a:r>
            </a:p>
          </p:txBody>
        </p:sp>
      </p:grpSp>
      <p:grpSp>
        <p:nvGrpSpPr>
          <p:cNvPr name="Group 133" id="133"/>
          <p:cNvGrpSpPr/>
          <p:nvPr/>
        </p:nvGrpSpPr>
        <p:grpSpPr>
          <a:xfrm rot="0">
            <a:off x="685800" y="9738360"/>
            <a:ext cx="9601200" cy="411480"/>
            <a:chOff x="0" y="0"/>
            <a:chExt cx="12801600" cy="548640"/>
          </a:xfrm>
        </p:grpSpPr>
        <p:sp>
          <p:nvSpPr>
            <p:cNvPr name="Freeform 134" id="134"/>
            <p:cNvSpPr/>
            <p:nvPr/>
          </p:nvSpPr>
          <p:spPr>
            <a:xfrm flipH="false" flipV="false" rot="0">
              <a:off x="0" y="0"/>
              <a:ext cx="12801600" cy="548640"/>
            </a:xfrm>
            <a:custGeom>
              <a:avLst/>
              <a:gdLst/>
              <a:ahLst/>
              <a:cxnLst/>
              <a:rect r="r" b="b" t="t" l="l"/>
              <a:pathLst>
                <a:path h="548640" w="12801600">
                  <a:moveTo>
                    <a:pt x="0" y="0"/>
                  </a:moveTo>
                  <a:lnTo>
                    <a:pt x="12801600" y="0"/>
                  </a:lnTo>
                  <a:lnTo>
                    <a:pt x="128016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04650" r="0" b="-404650"/>
              </a:stretch>
            </a:blipFill>
          </p:spPr>
        </p:sp>
        <p:sp>
          <p:nvSpPr>
            <p:cNvPr name="TextBox 135" id="135"/>
            <p:cNvSpPr txBox="true"/>
            <p:nvPr/>
          </p:nvSpPr>
          <p:spPr>
            <a:xfrm>
              <a:off x="0" y="-19050"/>
              <a:ext cx="1280160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sz="1200" spc="150">
                  <a:solidFill>
                    <a:srgbClr val="9FB0C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SMART FACE ATTENDANCE &amp; ACCESS GATE SYSTEM</a:t>
              </a:r>
            </a:p>
          </p:txBody>
        </p:sp>
      </p:grpSp>
      <p:grpSp>
        <p:nvGrpSpPr>
          <p:cNvPr name="Group 136" id="136"/>
          <p:cNvGrpSpPr/>
          <p:nvPr/>
        </p:nvGrpSpPr>
        <p:grpSpPr>
          <a:xfrm rot="0">
            <a:off x="16915943" y="9738360"/>
            <a:ext cx="685800" cy="411480"/>
            <a:chOff x="0" y="0"/>
            <a:chExt cx="914400" cy="548640"/>
          </a:xfrm>
        </p:grpSpPr>
        <p:sp>
          <p:nvSpPr>
            <p:cNvPr name="Freeform 137" id="137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38" id="138"/>
            <p:cNvSpPr txBox="true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9FB0C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13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429000" y="4800600"/>
            <a:ext cx="8229600" cy="8229600"/>
            <a:chOff x="0" y="0"/>
            <a:chExt cx="10972800" cy="1097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10972800"/>
            </a:xfrm>
            <a:custGeom>
              <a:avLst/>
              <a:gdLst/>
              <a:ahLst/>
              <a:cxnLst/>
              <a:rect r="r" b="b" t="t" l="l"/>
              <a:pathLst>
                <a:path h="10972800" w="10972800">
                  <a:moveTo>
                    <a:pt x="0" y="5486400"/>
                  </a:moveTo>
                  <a:cubicBezTo>
                    <a:pt x="0" y="2456307"/>
                    <a:pt x="2456307" y="0"/>
                    <a:pt x="5486400" y="0"/>
                  </a:cubicBezTo>
                  <a:cubicBezTo>
                    <a:pt x="8516493" y="0"/>
                    <a:pt x="10972800" y="2456307"/>
                    <a:pt x="10972800" y="5486400"/>
                  </a:cubicBezTo>
                  <a:cubicBezTo>
                    <a:pt x="10972800" y="8516493"/>
                    <a:pt x="8516493" y="10972800"/>
                    <a:pt x="5486400" y="10972800"/>
                  </a:cubicBezTo>
                  <a:cubicBezTo>
                    <a:pt x="2456307" y="10972800"/>
                    <a:pt x="0" y="8516493"/>
                    <a:pt x="0" y="5486400"/>
                  </a:cubicBezTo>
                  <a:close/>
                </a:path>
              </a:pathLst>
            </a:custGeom>
            <a:solidFill>
              <a:srgbClr val="16325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822960" y="754380"/>
            <a:ext cx="10972800" cy="480060"/>
            <a:chOff x="0" y="0"/>
            <a:chExt cx="14630400" cy="6400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630400" cy="640080"/>
            </a:xfrm>
            <a:custGeom>
              <a:avLst/>
              <a:gdLst/>
              <a:ahLst/>
              <a:cxnLst/>
              <a:rect r="r" b="b" t="t" l="l"/>
              <a:pathLst>
                <a:path h="64008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95372" r="0" b="-395372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46304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300">
                  <a:solidFill>
                    <a:srgbClr val="22D3E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CONCLUSION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22960" y="1234440"/>
            <a:ext cx="15773400" cy="960120"/>
            <a:chOff x="0" y="0"/>
            <a:chExt cx="21031200" cy="12801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0312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0111" r="0" b="-270111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2103120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Bringing AI and IoT Together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22960" y="2743200"/>
            <a:ext cx="822960" cy="822960"/>
            <a:chOff x="0" y="0"/>
            <a:chExt cx="1097280" cy="109728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22D3EE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036930" y="2957170"/>
            <a:ext cx="395021" cy="395021"/>
            <a:chOff x="0" y="0"/>
            <a:chExt cx="526694" cy="526694"/>
          </a:xfrm>
        </p:grpSpPr>
        <p:sp>
          <p:nvSpPr>
            <p:cNvPr name="Freeform 13" id="13" descr="/home/claude/ppt/icons/brain_navy.png"/>
            <p:cNvSpPr/>
            <p:nvPr/>
          </p:nvSpPr>
          <p:spPr>
            <a:xfrm flipH="false" flipV="false" rot="0">
              <a:off x="0" y="0"/>
              <a:ext cx="526669" cy="526669"/>
            </a:xfrm>
            <a:custGeom>
              <a:avLst/>
              <a:gdLst/>
              <a:ahLst/>
              <a:cxnLst/>
              <a:rect r="r" b="b" t="t" l="l"/>
              <a:pathLst>
                <a:path h="526669" w="526669">
                  <a:moveTo>
                    <a:pt x="0" y="0"/>
                  </a:moveTo>
                  <a:lnTo>
                    <a:pt x="526669" y="0"/>
                  </a:lnTo>
                  <a:lnTo>
                    <a:pt x="526669" y="526669"/>
                  </a:lnTo>
                  <a:lnTo>
                    <a:pt x="0" y="5266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4" b="-4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851660" y="2674620"/>
            <a:ext cx="6892290" cy="1028700"/>
            <a:chOff x="0" y="0"/>
            <a:chExt cx="9189720" cy="13716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189720" cy="1371600"/>
            </a:xfrm>
            <a:custGeom>
              <a:avLst/>
              <a:gdLst/>
              <a:ahLst/>
              <a:cxnLst/>
              <a:rect r="r" b="b" t="t" l="l"/>
              <a:pathLst>
                <a:path h="1371600" w="9189720">
                  <a:moveTo>
                    <a:pt x="0" y="0"/>
                  </a:moveTo>
                  <a:lnTo>
                    <a:pt x="9189720" y="0"/>
                  </a:lnTo>
                  <a:lnTo>
                    <a:pt x="918972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0549" r="0" b="-80549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66675"/>
              <a:ext cx="9189720" cy="14382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80"/>
                </a:lnSpc>
              </a:pPr>
              <a:r>
                <a:rPr lang="en-US" sz="1725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AI-based facial identification for accurate, automated attendance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155430" y="2743200"/>
            <a:ext cx="822960" cy="822960"/>
            <a:chOff x="0" y="0"/>
            <a:chExt cx="1097280" cy="109728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22D3EE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9369400" y="2957170"/>
            <a:ext cx="395021" cy="395021"/>
            <a:chOff x="0" y="0"/>
            <a:chExt cx="526694" cy="526694"/>
          </a:xfrm>
        </p:grpSpPr>
        <p:sp>
          <p:nvSpPr>
            <p:cNvPr name="Freeform 20" id="20" descr="/home/claude/ppt/icons/database_navy.png"/>
            <p:cNvSpPr/>
            <p:nvPr/>
          </p:nvSpPr>
          <p:spPr>
            <a:xfrm flipH="false" flipV="false" rot="0">
              <a:off x="0" y="0"/>
              <a:ext cx="526669" cy="526669"/>
            </a:xfrm>
            <a:custGeom>
              <a:avLst/>
              <a:gdLst/>
              <a:ahLst/>
              <a:cxnLst/>
              <a:rect r="r" b="b" t="t" l="l"/>
              <a:pathLst>
                <a:path h="526669" w="526669">
                  <a:moveTo>
                    <a:pt x="0" y="0"/>
                  </a:moveTo>
                  <a:lnTo>
                    <a:pt x="526669" y="0"/>
                  </a:lnTo>
                  <a:lnTo>
                    <a:pt x="526669" y="526669"/>
                  </a:lnTo>
                  <a:lnTo>
                    <a:pt x="0" y="5266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4" b="-4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0184130" y="2674620"/>
            <a:ext cx="6892290" cy="1028700"/>
            <a:chOff x="0" y="0"/>
            <a:chExt cx="9189720" cy="13716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9189720" cy="1371600"/>
            </a:xfrm>
            <a:custGeom>
              <a:avLst/>
              <a:gdLst/>
              <a:ahLst/>
              <a:cxnLst/>
              <a:rect r="r" b="b" t="t" l="l"/>
              <a:pathLst>
                <a:path h="1371600" w="9189720">
                  <a:moveTo>
                    <a:pt x="0" y="0"/>
                  </a:moveTo>
                  <a:lnTo>
                    <a:pt x="9189720" y="0"/>
                  </a:lnTo>
                  <a:lnTo>
                    <a:pt x="918972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0549" r="0" b="-80549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66675"/>
              <a:ext cx="9189720" cy="14382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80"/>
                </a:lnSpc>
              </a:pPr>
              <a:r>
                <a:rPr lang="en-US" sz="1725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Student details and facial embeddings maintained in SQLite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822960" y="4320540"/>
            <a:ext cx="822960" cy="822960"/>
            <a:chOff x="0" y="0"/>
            <a:chExt cx="1097280" cy="109728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22D3EE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036930" y="4534510"/>
            <a:ext cx="395021" cy="395021"/>
            <a:chOff x="0" y="0"/>
            <a:chExt cx="526694" cy="526694"/>
          </a:xfrm>
        </p:grpSpPr>
        <p:sp>
          <p:nvSpPr>
            <p:cNvPr name="Freeform 27" id="27" descr="/home/claude/ppt/icons/microchip_navy.png"/>
            <p:cNvSpPr/>
            <p:nvPr/>
          </p:nvSpPr>
          <p:spPr>
            <a:xfrm flipH="false" flipV="false" rot="0">
              <a:off x="0" y="0"/>
              <a:ext cx="526669" cy="526669"/>
            </a:xfrm>
            <a:custGeom>
              <a:avLst/>
              <a:gdLst/>
              <a:ahLst/>
              <a:cxnLst/>
              <a:rect r="r" b="b" t="t" l="l"/>
              <a:pathLst>
                <a:path h="526669" w="526669">
                  <a:moveTo>
                    <a:pt x="0" y="0"/>
                  </a:moveTo>
                  <a:lnTo>
                    <a:pt x="526669" y="0"/>
                  </a:lnTo>
                  <a:lnTo>
                    <a:pt x="526669" y="526669"/>
                  </a:lnTo>
                  <a:lnTo>
                    <a:pt x="0" y="5266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4" b="-4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851660" y="4251960"/>
            <a:ext cx="6892290" cy="1028700"/>
            <a:chOff x="0" y="0"/>
            <a:chExt cx="9189720" cy="13716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9189720" cy="1371600"/>
            </a:xfrm>
            <a:custGeom>
              <a:avLst/>
              <a:gdLst/>
              <a:ahLst/>
              <a:cxnLst/>
              <a:rect r="r" b="b" t="t" l="l"/>
              <a:pathLst>
                <a:path h="1371600" w="9189720">
                  <a:moveTo>
                    <a:pt x="0" y="0"/>
                  </a:moveTo>
                  <a:lnTo>
                    <a:pt x="9189720" y="0"/>
                  </a:lnTo>
                  <a:lnTo>
                    <a:pt x="918972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0549" r="0" b="-80549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66675"/>
              <a:ext cx="9189720" cy="14382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80"/>
                </a:lnSpc>
              </a:pPr>
              <a:r>
                <a:rPr lang="en-US" sz="1725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IoT hardware integration via Silicon Labs SiWG917 / BRD2605A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9155430" y="4320540"/>
            <a:ext cx="822960" cy="822960"/>
            <a:chOff x="0" y="0"/>
            <a:chExt cx="1097280" cy="109728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22D3EE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9369400" y="4534510"/>
            <a:ext cx="395021" cy="395021"/>
            <a:chOff x="0" y="0"/>
            <a:chExt cx="526694" cy="526694"/>
          </a:xfrm>
        </p:grpSpPr>
        <p:sp>
          <p:nvSpPr>
            <p:cNvPr name="Freeform 34" id="34" descr="/home/claude/ppt/icons/wifi_navy.png"/>
            <p:cNvSpPr/>
            <p:nvPr/>
          </p:nvSpPr>
          <p:spPr>
            <a:xfrm flipH="false" flipV="false" rot="0">
              <a:off x="0" y="0"/>
              <a:ext cx="526669" cy="526669"/>
            </a:xfrm>
            <a:custGeom>
              <a:avLst/>
              <a:gdLst/>
              <a:ahLst/>
              <a:cxnLst/>
              <a:rect r="r" b="b" t="t" l="l"/>
              <a:pathLst>
                <a:path h="526669" w="526669">
                  <a:moveTo>
                    <a:pt x="0" y="0"/>
                  </a:moveTo>
                  <a:lnTo>
                    <a:pt x="526669" y="0"/>
                  </a:lnTo>
                  <a:lnTo>
                    <a:pt x="526669" y="526669"/>
                  </a:lnTo>
                  <a:lnTo>
                    <a:pt x="0" y="5266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-4" b="-4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0184130" y="4251960"/>
            <a:ext cx="6892290" cy="1028700"/>
            <a:chOff x="0" y="0"/>
            <a:chExt cx="9189720" cy="13716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9189720" cy="1371600"/>
            </a:xfrm>
            <a:custGeom>
              <a:avLst/>
              <a:gdLst/>
              <a:ahLst/>
              <a:cxnLst/>
              <a:rect r="r" b="b" t="t" l="l"/>
              <a:pathLst>
                <a:path h="1371600" w="9189720">
                  <a:moveTo>
                    <a:pt x="0" y="0"/>
                  </a:moveTo>
                  <a:lnTo>
                    <a:pt x="9189720" y="0"/>
                  </a:lnTo>
                  <a:lnTo>
                    <a:pt x="918972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0549" r="0" b="-80549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66675"/>
              <a:ext cx="9189720" cy="14382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80"/>
                </a:lnSpc>
              </a:pPr>
              <a:r>
                <a:rPr lang="en-US" sz="1725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Reliable Wi-Fi communication between software and board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822960" y="5897880"/>
            <a:ext cx="822960" cy="822960"/>
            <a:chOff x="0" y="0"/>
            <a:chExt cx="1097280" cy="109728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22D3EE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036930" y="6111850"/>
            <a:ext cx="395021" cy="395021"/>
            <a:chOff x="0" y="0"/>
            <a:chExt cx="526694" cy="526694"/>
          </a:xfrm>
        </p:grpSpPr>
        <p:sp>
          <p:nvSpPr>
            <p:cNvPr name="Freeform 41" id="41" descr="/home/claude/ppt/icons/led_navy.png"/>
            <p:cNvSpPr/>
            <p:nvPr/>
          </p:nvSpPr>
          <p:spPr>
            <a:xfrm flipH="false" flipV="false" rot="0">
              <a:off x="0" y="0"/>
              <a:ext cx="526669" cy="526669"/>
            </a:xfrm>
            <a:custGeom>
              <a:avLst/>
              <a:gdLst/>
              <a:ahLst/>
              <a:cxnLst/>
              <a:rect r="r" b="b" t="t" l="l"/>
              <a:pathLst>
                <a:path h="526669" w="526669">
                  <a:moveTo>
                    <a:pt x="0" y="0"/>
                  </a:moveTo>
                  <a:lnTo>
                    <a:pt x="526669" y="0"/>
                  </a:lnTo>
                  <a:lnTo>
                    <a:pt x="526669" y="526669"/>
                  </a:lnTo>
                  <a:lnTo>
                    <a:pt x="0" y="5266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-4" b="-4"/>
              </a:stretch>
            </a:blip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851660" y="5829300"/>
            <a:ext cx="6892290" cy="1028700"/>
            <a:chOff x="0" y="0"/>
            <a:chExt cx="9189720" cy="13716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9189720" cy="1371600"/>
            </a:xfrm>
            <a:custGeom>
              <a:avLst/>
              <a:gdLst/>
              <a:ahLst/>
              <a:cxnLst/>
              <a:rect r="r" b="b" t="t" l="l"/>
              <a:pathLst>
                <a:path h="1371600" w="9189720">
                  <a:moveTo>
                    <a:pt x="0" y="0"/>
                  </a:moveTo>
                  <a:lnTo>
                    <a:pt x="9189720" y="0"/>
                  </a:lnTo>
                  <a:lnTo>
                    <a:pt x="918972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0549" r="0" b="-80549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66675"/>
              <a:ext cx="9189720" cy="14382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80"/>
                </a:lnSpc>
              </a:pPr>
              <a:r>
                <a:rPr lang="en-US" sz="1725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RGB LED status feedback for instant visual confirmation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9155430" y="5897880"/>
            <a:ext cx="822960" cy="822960"/>
            <a:chOff x="0" y="0"/>
            <a:chExt cx="1097280" cy="109728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22D3EE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9369400" y="6111850"/>
            <a:ext cx="395021" cy="395021"/>
            <a:chOff x="0" y="0"/>
            <a:chExt cx="526694" cy="526694"/>
          </a:xfrm>
        </p:grpSpPr>
        <p:sp>
          <p:nvSpPr>
            <p:cNvPr name="Freeform 48" id="48" descr="/home/claude/ppt/icons/gauge_navy.png"/>
            <p:cNvSpPr/>
            <p:nvPr/>
          </p:nvSpPr>
          <p:spPr>
            <a:xfrm flipH="false" flipV="false" rot="0">
              <a:off x="0" y="0"/>
              <a:ext cx="526669" cy="526669"/>
            </a:xfrm>
            <a:custGeom>
              <a:avLst/>
              <a:gdLst/>
              <a:ahLst/>
              <a:cxnLst/>
              <a:rect r="r" b="b" t="t" l="l"/>
              <a:pathLst>
                <a:path h="526669" w="526669">
                  <a:moveTo>
                    <a:pt x="0" y="0"/>
                  </a:moveTo>
                  <a:lnTo>
                    <a:pt x="526669" y="0"/>
                  </a:lnTo>
                  <a:lnTo>
                    <a:pt x="526669" y="526669"/>
                  </a:lnTo>
                  <a:lnTo>
                    <a:pt x="0" y="5266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-4" b="-4"/>
              </a:stretch>
            </a:blip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10184130" y="5829300"/>
            <a:ext cx="6892290" cy="1028700"/>
            <a:chOff x="0" y="0"/>
            <a:chExt cx="9189720" cy="137160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9189720" cy="1371600"/>
            </a:xfrm>
            <a:custGeom>
              <a:avLst/>
              <a:gdLst/>
              <a:ahLst/>
              <a:cxnLst/>
              <a:rect r="r" b="b" t="t" l="l"/>
              <a:pathLst>
                <a:path h="1371600" w="9189720">
                  <a:moveTo>
                    <a:pt x="0" y="0"/>
                  </a:moveTo>
                  <a:lnTo>
                    <a:pt x="9189720" y="0"/>
                  </a:lnTo>
                  <a:lnTo>
                    <a:pt x="918972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0549" r="0" b="-80549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66675"/>
              <a:ext cx="9189720" cy="14382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80"/>
                </a:lnSpc>
              </a:pPr>
              <a:r>
                <a:rPr lang="en-US" sz="1725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 scalable concept for access-control automation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0" y="7886700"/>
            <a:ext cx="18287543" cy="13716"/>
            <a:chOff x="0" y="0"/>
            <a:chExt cx="24383390" cy="18288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24383364" cy="18288"/>
            </a:xfrm>
            <a:custGeom>
              <a:avLst/>
              <a:gdLst/>
              <a:ahLst/>
              <a:cxnLst/>
              <a:rect r="r" b="b" t="t" l="l"/>
              <a:pathLst>
                <a:path h="18288" w="24383364">
                  <a:moveTo>
                    <a:pt x="0" y="3048"/>
                  </a:moveTo>
                  <a:cubicBezTo>
                    <a:pt x="0" y="1397"/>
                    <a:pt x="1397" y="0"/>
                    <a:pt x="3048" y="0"/>
                  </a:cubicBezTo>
                  <a:lnTo>
                    <a:pt x="24380317" y="0"/>
                  </a:lnTo>
                  <a:cubicBezTo>
                    <a:pt x="24381968" y="0"/>
                    <a:pt x="24383364" y="1397"/>
                    <a:pt x="24383364" y="3048"/>
                  </a:cubicBezTo>
                  <a:lnTo>
                    <a:pt x="24383364" y="15240"/>
                  </a:lnTo>
                  <a:cubicBezTo>
                    <a:pt x="24383364" y="16891"/>
                    <a:pt x="24381968" y="18288"/>
                    <a:pt x="24380317" y="18288"/>
                  </a:cubicBezTo>
                  <a:lnTo>
                    <a:pt x="3048" y="18288"/>
                  </a:lnTo>
                  <a:cubicBezTo>
                    <a:pt x="1397" y="18288"/>
                    <a:pt x="0" y="16891"/>
                    <a:pt x="0" y="15240"/>
                  </a:cubicBezTo>
                  <a:close/>
                </a:path>
              </a:pathLst>
            </a:custGeom>
            <a:solidFill>
              <a:srgbClr val="27436E"/>
            </a:solid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0" y="8229600"/>
            <a:ext cx="18287543" cy="1371600"/>
            <a:chOff x="0" y="0"/>
            <a:chExt cx="24383390" cy="182880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24383391" cy="1828800"/>
            </a:xfrm>
            <a:custGeom>
              <a:avLst/>
              <a:gdLst/>
              <a:ahLst/>
              <a:cxnLst/>
              <a:rect r="r" b="b" t="t" l="l"/>
              <a:pathLst>
                <a:path h="1828800" w="24383391">
                  <a:moveTo>
                    <a:pt x="0" y="0"/>
                  </a:moveTo>
                  <a:lnTo>
                    <a:pt x="24383391" y="0"/>
                  </a:lnTo>
                  <a:lnTo>
                    <a:pt x="24383391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9794" r="0" b="-209794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9525"/>
              <a:ext cx="24383390" cy="18383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200"/>
                </a:lnSpc>
              </a:pPr>
              <a:r>
                <a:rPr lang="en-US" sz="60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Thank You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685800" y="9738360"/>
            <a:ext cx="9601200" cy="411480"/>
            <a:chOff x="0" y="0"/>
            <a:chExt cx="12801600" cy="54864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2801600" cy="548640"/>
            </a:xfrm>
            <a:custGeom>
              <a:avLst/>
              <a:gdLst/>
              <a:ahLst/>
              <a:cxnLst/>
              <a:rect r="r" b="b" t="t" l="l"/>
              <a:pathLst>
                <a:path h="548640" w="12801600">
                  <a:moveTo>
                    <a:pt x="0" y="0"/>
                  </a:moveTo>
                  <a:lnTo>
                    <a:pt x="12801600" y="0"/>
                  </a:lnTo>
                  <a:lnTo>
                    <a:pt x="128016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04650" r="0" b="-404650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19050"/>
              <a:ext cx="1280160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sz="1200" spc="150">
                  <a:solidFill>
                    <a:srgbClr val="5B739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SMART FACE ATTENDANCE &amp; ACCESS GATE SYSTEM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16915943" y="9738360"/>
            <a:ext cx="685800" cy="411480"/>
            <a:chOff x="0" y="0"/>
            <a:chExt cx="914400" cy="54864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5B739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14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DAHWRGnMS6M</dc:identifier>
  <dcterms:modified xsi:type="dcterms:W3CDTF">2011-08-01T06:04:30Z</dcterms:modified>
  <cp:revision>1</cp:revision>
</cp:coreProperties>
</file>